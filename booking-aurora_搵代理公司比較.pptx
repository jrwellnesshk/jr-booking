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408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euk951211@gmail.com" userId="a5da67ef301a9997" providerId="LiveId" clId="{CDEAE2D2-8664-4EF7-8507-5F5EB2725EA6}"/>
    <pc:docChg chg="modSld">
      <pc:chgData name="cheuk951211@gmail.com" userId="a5da67ef301a9997" providerId="LiveId" clId="{CDEAE2D2-8664-4EF7-8507-5F5EB2725EA6}" dt="2026-08-29T11:49:34.987" v="1" actId="1076"/>
      <pc:docMkLst>
        <pc:docMk/>
      </pc:docMkLst>
      <pc:sldChg chg="modSp mod">
        <pc:chgData name="cheuk951211@gmail.com" userId="a5da67ef301a9997" providerId="LiveId" clId="{CDEAE2D2-8664-4EF7-8507-5F5EB2725EA6}" dt="2026-08-29T11:47:27.695" v="0" actId="1076"/>
        <pc:sldMkLst>
          <pc:docMk/>
          <pc:sldMk cId="0" sldId="258"/>
        </pc:sldMkLst>
        <pc:graphicFrameChg chg="mod">
          <ac:chgData name="cheuk951211@gmail.com" userId="a5da67ef301a9997" providerId="LiveId" clId="{CDEAE2D2-8664-4EF7-8507-5F5EB2725EA6}" dt="2026-08-29T11:47:27.695" v="0" actId="1076"/>
          <ac:graphicFrameMkLst>
            <pc:docMk/>
            <pc:sldMk cId="0" sldId="258"/>
            <ac:graphicFrameMk id="5" creationId="{00000000-0000-0000-0000-000000000000}"/>
          </ac:graphicFrameMkLst>
        </pc:graphicFrameChg>
      </pc:sldChg>
      <pc:sldChg chg="modSp mod">
        <pc:chgData name="cheuk951211@gmail.com" userId="a5da67ef301a9997" providerId="LiveId" clId="{CDEAE2D2-8664-4EF7-8507-5F5EB2725EA6}" dt="2026-08-29T11:49:34.987" v="1" actId="1076"/>
        <pc:sldMkLst>
          <pc:docMk/>
          <pc:sldMk cId="0" sldId="265"/>
        </pc:sldMkLst>
        <pc:graphicFrameChg chg="mod">
          <ac:chgData name="cheuk951211@gmail.com" userId="a5da67ef301a9997" providerId="LiveId" clId="{CDEAE2D2-8664-4EF7-8507-5F5EB2725EA6}" dt="2026-08-29T11:49:34.987" v="1" actId="1076"/>
          <ac:graphicFrameMkLst>
            <pc:docMk/>
            <pc:sldMk cId="0" sldId="265"/>
            <ac:graphicFrameMk id="5" creationId="{00000000-0000-0000-0000-000000000000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788920"/>
            <a:ext cx="12191695" cy="8229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  <a:latin typeface="Microsoft JhengHei"/>
                <a:ea typeface="Microsoft JhengHei"/>
              </a:rPr>
              <a:t>幫 booking-aurora 搵代理公司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063240"/>
            <a:ext cx="106984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0">
                <a:solidFill>
                  <a:srgbClr val="BFE3DF"/>
                </a:solidFill>
                <a:latin typeface="Microsoft JhengHei"/>
                <a:ea typeface="Microsoft JhengHei"/>
              </a:rPr>
              <a:t>做「伺服器安裝」＋「網頁功能測試」
邊間公司？幾錢？優點定缺點？一次過比較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8FB8B4"/>
                </a:solidFill>
                <a:latin typeface="Microsoft JhengHei"/>
                <a:ea typeface="Microsoft JhengHei"/>
              </a:rPr>
              <a:t>booking-aurora（診所預約系統）· 委外方案評估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4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Microsoft JhengHei"/>
                <a:ea typeface="Microsoft JhengHei"/>
              </a:rPr>
              <a:t>你嘅項目係咩？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555F5E"/>
                </a:solidFill>
                <a:latin typeface="Microsoft JhengHei"/>
                <a:ea typeface="Microsoft JhengHei"/>
              </a:rPr>
              <a:t>先搞清楚要搵咩類型嘅公司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88136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104B4A"/>
                </a:solidFill>
                <a:latin typeface="Microsoft JhengHei"/>
                <a:ea typeface="Microsoft JhengHei"/>
              </a:rPr>
              <a:t>項目：booking-aurora — 診所預約網站（Node.js + SQLite + Caddy 反向代理）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2B2A"/>
                </a:solidFill>
                <a:latin typeface="Microsoft JhengHei"/>
                <a:ea typeface="Microsoft JhengHei"/>
              </a:rPr>
              <a:t>▸ 已有 Docker / docker-compose / Caddyfile，基本上可以一鍵部署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2B2A"/>
                </a:solidFill>
                <a:latin typeface="Microsoft JhengHei"/>
                <a:ea typeface="Microsoft JhengHei"/>
              </a:rPr>
              <a:t>▸ 你需要代理公司幫手兩件事：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8A4E"/>
                </a:solidFill>
                <a:latin typeface="Microsoft JhengHei"/>
                <a:ea typeface="Microsoft JhengHei"/>
              </a:rPr>
              <a:t>▸ ① 安裝伺服器：買 VPS / 雲端主機、裝 Docker、跑起個網站、綁網域 + HTTPS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8A4E"/>
                </a:solidFill>
                <a:latin typeface="Microsoft JhengHei"/>
                <a:ea typeface="Microsoft JhengHei"/>
              </a:rPr>
              <a:t>▸ ② 網頁功能測試：登入、預約、後台、WhatsApp/Email 通知等是否正常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2B2A"/>
                </a:solidFill>
                <a:latin typeface="Microsoft JhengHei"/>
                <a:ea typeface="Microsoft JhengHei"/>
              </a:rPr>
              <a:t>▸ 結論：最啱你嘅係「香港 IT 外判公司」或「雲端平台 + 測試雲」組合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JhengHei"/>
                <a:ea typeface="Microsoft JhengHei"/>
              </a:rPr>
              <a:t>4 大方案總覽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555F5E"/>
                </a:solidFill>
                <a:latin typeface="Microsoft JhengHei"/>
                <a:ea typeface="Microsoft JhengHei"/>
              </a:rPr>
              <a:t>按「交畀人做」到「自己落手」排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8322792"/>
              </p:ext>
            </p:extLst>
          </p:nvPr>
        </p:nvGraphicFramePr>
        <p:xfrm>
          <a:off x="0" y="1828800"/>
          <a:ext cx="1225296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方案</a:t>
                      </a:r>
                    </a:p>
                  </a:txBody>
                  <a:tcPr anchor="ctr">
                    <a:solidFill>
                      <a:srgbClr val="104B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即係咩</a:t>
                      </a:r>
                    </a:p>
                  </a:txBody>
                  <a:tcPr anchor="ctr">
                    <a:solidFill>
                      <a:srgbClr val="104B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大概費用</a:t>
                      </a:r>
                    </a:p>
                  </a:txBody>
                  <a:tcPr anchor="ctr">
                    <a:solidFill>
                      <a:srgbClr val="104B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最啱邊種人</a:t>
                      </a:r>
                    </a:p>
                  </a:txBody>
                  <a:tcPr anchor="ctr">
                    <a:solidFill>
                      <a:srgbClr val="104B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A. 香港 IT 外判公司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一條龍：裝伺服器 + 維護 + 幫手測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dirty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HK$2,000–12,000/</a:t>
                      </a:r>
                      <a:r>
                        <a:rPr sz="1250" b="0" dirty="0" err="1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月（或</a:t>
                      </a:r>
                      <a:r>
                        <a:rPr sz="1250" b="0" dirty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 $5k–50k </a:t>
                      </a:r>
                      <a:r>
                        <a:rPr sz="1250" b="0" dirty="0" err="1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一次過</a:t>
                      </a:r>
                      <a:r>
                        <a:rPr sz="1250" b="0" dirty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想慳煩、唔識技術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B. 雲端 PaaS 自動部署</a:t>
                      </a:r>
                    </a:p>
                  </a:txBody>
                  <a:tcPr anchor="ctr"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Render / Railway / Fly.io 自己部署</a:t>
                      </a:r>
                    </a:p>
                  </a:txBody>
                  <a:tcPr anchor="ctr"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US$0–25/月（約 HK$0–200）</a:t>
                      </a:r>
                    </a:p>
                  </a:txBody>
                  <a:tcPr anchor="ctr"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有少少技術、想平</a:t>
                      </a:r>
                    </a:p>
                  </a:txBody>
                  <a:tcPr anchor="ctr">
                    <a:solidFill>
                      <a:srgbClr val="F2F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C. 大廠雲 IaaS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AWS / GCP / Azure 自己架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US$10–50/月（約 HK$80–400）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想完全控制、會 DevOps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D. 測試雲平台</a:t>
                      </a:r>
                    </a:p>
                  </a:txBody>
                  <a:tcPr anchor="ctr"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BrowserStack / LambdaTest / Sauce Labs</a:t>
                      </a:r>
                    </a:p>
                  </a:txBody>
                  <a:tcPr anchor="ctr"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US$15–299/月（約 HK$120–2,400）</a:t>
                      </a:r>
                    </a:p>
                  </a:txBody>
                  <a:tcPr anchor="ctr"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dirty="0" err="1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想認真做功能</a:t>
                      </a:r>
                      <a:r>
                        <a:rPr sz="1250" b="0" dirty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/</a:t>
                      </a:r>
                      <a:r>
                        <a:rPr sz="1250" b="0" dirty="0" err="1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跨瀏覽器測試</a:t>
                      </a:r>
                      <a:endParaRPr sz="1250" b="0" dirty="0">
                        <a:solidFill>
                          <a:srgbClr val="1A2B2A"/>
                        </a:solidFill>
                        <a:latin typeface="Microsoft JhengHei"/>
                        <a:ea typeface="Microsoft JhengHei"/>
                      </a:endParaRPr>
                    </a:p>
                  </a:txBody>
                  <a:tcPr anchor="ctr">
                    <a:solidFill>
                      <a:srgbClr val="F2F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JhengHei"/>
                <a:ea typeface="Microsoft JhengHei"/>
              </a:rPr>
              <a:t>方案 A：香港 IT 外判公司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555F5E"/>
                </a:solidFill>
                <a:latin typeface="Microsoft JhengHei"/>
                <a:ea typeface="Microsoft JhengHei"/>
              </a:rPr>
              <a:t>代表：YSK、HKINT、Foundry、LoftyGroup、Visible One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539496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8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87452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1">
                <a:solidFill>
                  <a:srgbClr val="1E8A4E"/>
                </a:solidFill>
                <a:latin typeface="Microsoft JhengHei"/>
                <a:ea typeface="Microsoft JhengHei"/>
              </a:rPr>
              <a:t>優點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377440"/>
            <a:ext cx="493776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</a:pPr>
            <a:r>
              <a:rPr sz="1450" b="0">
                <a:solidFill>
                  <a:srgbClr val="1A2B2A"/>
                </a:solidFill>
                <a:latin typeface="Microsoft JhengHei"/>
                <a:ea typeface="Microsoft JhengHei"/>
              </a:rPr>
              <a:t>• 一條龍：裝機 + 綁網域 + HTTPS + 備份全包</a:t>
            </a:r>
          </a:p>
          <a:p>
            <a:pPr>
              <a:spcAft>
                <a:spcPts val="700"/>
              </a:spcAft>
            </a:pPr>
            <a:r>
              <a:rPr sz="1450" b="0">
                <a:solidFill>
                  <a:srgbClr val="1A2B2A"/>
                </a:solidFill>
                <a:latin typeface="Microsoft JhengHei"/>
                <a:ea typeface="Microsoft JhengHei"/>
              </a:rPr>
              <a:t>• 月費制有 24/7 支援，出事有人救</a:t>
            </a:r>
          </a:p>
          <a:p>
            <a:pPr>
              <a:spcAft>
                <a:spcPts val="700"/>
              </a:spcAft>
            </a:pPr>
            <a:r>
              <a:rPr sz="1450" b="0">
                <a:solidFill>
                  <a:srgbClr val="1A2B2A"/>
                </a:solidFill>
                <a:latin typeface="Microsoft JhengHei"/>
                <a:ea typeface="Microsoft JhengHei"/>
              </a:rPr>
              <a:t>• 唔使自己學 Docker / Linux</a:t>
            </a:r>
          </a:p>
          <a:p>
            <a:pPr>
              <a:spcAft>
                <a:spcPts val="700"/>
              </a:spcAft>
            </a:pPr>
            <a:r>
              <a:rPr sz="1450" b="0">
                <a:solidFill>
                  <a:srgbClr val="1A2B2A"/>
                </a:solidFill>
                <a:latin typeface="Microsoft JhengHei"/>
                <a:ea typeface="Microsoft JhengHei"/>
              </a:rPr>
              <a:t>• YSK 月費 HK$2,000 起已包 1 部美國 VPS</a:t>
            </a:r>
          </a:p>
          <a:p>
            <a:pPr>
              <a:spcAft>
                <a:spcPts val="700"/>
              </a:spcAft>
            </a:pPr>
            <a:r>
              <a:rPr sz="1450" b="0">
                <a:solidFill>
                  <a:srgbClr val="1A2B2A"/>
                </a:solidFill>
                <a:latin typeface="Microsoft JhengHei"/>
                <a:ea typeface="Microsoft JhengHei"/>
              </a:rPr>
              <a:t>• 本地溝通、廣東話、明白香港 PDPO 私隱要求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737360"/>
            <a:ext cx="539496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0" y="187452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1">
                <a:solidFill>
                  <a:srgbClr val="C0392B"/>
                </a:solidFill>
                <a:latin typeface="Microsoft JhengHei"/>
                <a:ea typeface="Microsoft JhengHei"/>
              </a:rPr>
              <a:t>缺點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377440"/>
            <a:ext cx="493776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</a:pPr>
            <a:r>
              <a:rPr sz="1450" b="0">
                <a:solidFill>
                  <a:srgbClr val="1A2B2A"/>
                </a:solidFill>
                <a:latin typeface="Microsoft JhengHei"/>
                <a:ea typeface="Microsoft JhengHei"/>
              </a:rPr>
              <a:t>• 長遠月費係持續開支（合約常一年起）</a:t>
            </a:r>
          </a:p>
          <a:p>
            <a:pPr>
              <a:spcAft>
                <a:spcPts val="700"/>
              </a:spcAft>
            </a:pPr>
            <a:r>
              <a:rPr sz="1450" b="0">
                <a:solidFill>
                  <a:srgbClr val="1A2B2A"/>
                </a:solidFill>
                <a:latin typeface="Microsoft JhengHei"/>
                <a:ea typeface="Microsoft JhengHei"/>
              </a:rPr>
              <a:t>• 技術透明度低，源碼/伺服器可能綁死間公司</a:t>
            </a:r>
          </a:p>
          <a:p>
            <a:pPr>
              <a:spcAft>
                <a:spcPts val="700"/>
              </a:spcAft>
            </a:pPr>
            <a:r>
              <a:rPr sz="1450" b="0">
                <a:solidFill>
                  <a:srgbClr val="1A2B2A"/>
                </a:solidFill>
                <a:latin typeface="Microsoft JhengHei"/>
                <a:ea typeface="Microsoft JhengHei"/>
              </a:rPr>
              <a:t>• 質素參差，要揀有口碑嘅</a:t>
            </a:r>
          </a:p>
          <a:p>
            <a:pPr>
              <a:spcAft>
                <a:spcPts val="700"/>
              </a:spcAft>
            </a:pPr>
            <a:r>
              <a:rPr sz="1450" b="0">
                <a:solidFill>
                  <a:srgbClr val="1A2B2A"/>
                </a:solidFill>
                <a:latin typeface="Microsoft JhengHei"/>
                <a:ea typeface="Microsoft JhengHei"/>
              </a:rPr>
              <a:t>• 功能改動多數要額外收費</a:t>
            </a:r>
          </a:p>
          <a:p>
            <a:pPr>
              <a:spcAft>
                <a:spcPts val="700"/>
              </a:spcAft>
            </a:pPr>
            <a:r>
              <a:rPr sz="1450" b="0">
                <a:solidFill>
                  <a:srgbClr val="1A2B2A"/>
                </a:solidFill>
                <a:latin typeface="Microsoft JhengHei"/>
                <a:ea typeface="Microsoft JhengHei"/>
              </a:rPr>
              <a:t>• 診所資料喺第三方手，要簽好保密/存取協議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1737360"/>
            <a:ext cx="1088136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104B4A"/>
                </a:solidFill>
                <a:latin typeface="Microsoft JhengHei"/>
                <a:ea typeface="Microsoft JhengHei"/>
              </a:rPr>
              <a:t>方案 A 參考價錢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8A4E"/>
                </a:solidFill>
                <a:latin typeface="Microsoft JhengHei"/>
                <a:ea typeface="Microsoft JhengHei"/>
              </a:rPr>
              <a:t>▸ YSK：基本 HK$2,000/月（包 VPS + 5 條技術支援）、標準 $6,000、尊貴 $12,000；企業 AI 全託管 $88,000/年起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8A4E"/>
                </a:solidFill>
                <a:latin typeface="Microsoft JhengHei"/>
                <a:ea typeface="Microsoft JhengHei"/>
              </a:rPr>
              <a:t>▸ HKINT：網頁設計一次過 $4,800–$9,800（包域名+寄存+SSL），客製功能/預約系統另報價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8A4E"/>
                </a:solidFill>
                <a:latin typeface="Microsoft JhengHei"/>
                <a:ea typeface="Microsoft JhengHei"/>
              </a:rPr>
              <a:t>▸ Foundry：標準型 $6,000–15,000、電商 $8,000–20,000、進階客製 $50,000 起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C0392B"/>
                </a:solidFill>
                <a:latin typeface="Microsoft JhengHei"/>
                <a:ea typeface="Microsoft JhengHei"/>
              </a:rPr>
              <a:t>▸ LoftyGroup / Visible One：IT 外判月費制，價錢要 quote，無公開牌價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04B4A"/>
                </a:solidFill>
                <a:latin typeface="Consolas"/>
                <a:ea typeface="Consolas"/>
              </a:rPr>
              <a:t>小貼士：問清楚包含「部署 + 測試」，定係只包做網頁、伺服器另計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JhengHei"/>
                <a:ea typeface="Microsoft JhengHei"/>
              </a:rPr>
              <a:t>方案 B：雲端 PaaS 自動部署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555F5E"/>
                </a:solidFill>
                <a:latin typeface="Microsoft JhengHei"/>
                <a:ea typeface="Microsoft JhengHei"/>
              </a:rPr>
              <a:t>Render / Railway / Fly.io — 自己部署，平到近乎免費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539496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8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87452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1">
                <a:solidFill>
                  <a:srgbClr val="1E8A4E"/>
                </a:solidFill>
                <a:latin typeface="Microsoft JhengHei"/>
                <a:ea typeface="Microsoft JhengHei"/>
              </a:rPr>
              <a:t>優點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377440"/>
            <a:ext cx="493776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</a:pPr>
            <a:r>
              <a:rPr sz="1450" b="0">
                <a:solidFill>
                  <a:srgbClr val="1A2B2A"/>
                </a:solidFill>
                <a:latin typeface="Microsoft JhengHei"/>
                <a:ea typeface="Microsoft JhengHei"/>
              </a:rPr>
              <a:t>• 超平：有 Free Tier，正式用 US$5–25/月</a:t>
            </a:r>
          </a:p>
          <a:p>
            <a:pPr>
              <a:spcAft>
                <a:spcPts val="700"/>
              </a:spcAft>
            </a:pPr>
            <a:r>
              <a:rPr sz="1450" b="0">
                <a:solidFill>
                  <a:srgbClr val="1A2B2A"/>
                </a:solidFill>
                <a:latin typeface="Microsoft JhengHei"/>
                <a:ea typeface="Microsoft JhengHei"/>
              </a:rPr>
              <a:t>• Git push 就自動部署，唔使管 Linux</a:t>
            </a:r>
          </a:p>
          <a:p>
            <a:pPr>
              <a:spcAft>
                <a:spcPts val="700"/>
              </a:spcAft>
            </a:pPr>
            <a:r>
              <a:rPr sz="1450" b="0">
                <a:solidFill>
                  <a:srgbClr val="1A2B2A"/>
                </a:solidFill>
                <a:latin typeface="Microsoft JhengHei"/>
                <a:ea typeface="Microsoft JhengHei"/>
              </a:rPr>
              <a:t>• 自動 HTTPS、自動重啟、scaling 簡單</a:t>
            </a:r>
          </a:p>
          <a:p>
            <a:pPr>
              <a:spcAft>
                <a:spcPts val="700"/>
              </a:spcAft>
            </a:pPr>
            <a:r>
              <a:rPr sz="1450" b="0">
                <a:solidFill>
                  <a:srgbClr val="1A2B2A"/>
                </a:solidFill>
                <a:latin typeface="Microsoft JhengHei"/>
                <a:ea typeface="Microsoft JhengHei"/>
              </a:rPr>
              <a:t>• 自己攞晒源碼同控制權</a:t>
            </a:r>
          </a:p>
          <a:p>
            <a:pPr>
              <a:spcAft>
                <a:spcPts val="700"/>
              </a:spcAft>
            </a:pPr>
            <a:r>
              <a:rPr sz="1450" b="0">
                <a:solidFill>
                  <a:srgbClr val="1A2B2A"/>
                </a:solidFill>
                <a:latin typeface="Microsoft JhengHei"/>
                <a:ea typeface="Microsoft JhengHei"/>
              </a:rPr>
              <a:t>• Railway / Fly.io 亞洲有節點，香港訪客快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737360"/>
            <a:ext cx="539496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0" y="187452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1">
                <a:solidFill>
                  <a:srgbClr val="C0392B"/>
                </a:solidFill>
                <a:latin typeface="Microsoft JhengHei"/>
                <a:ea typeface="Microsoft JhengHei"/>
              </a:rPr>
              <a:t>缺點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377440"/>
            <a:ext cx="493776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</a:pPr>
            <a:r>
              <a:rPr sz="1450" b="0">
                <a:solidFill>
                  <a:srgbClr val="1A2B2A"/>
                </a:solidFill>
                <a:latin typeface="Microsoft JhengHei"/>
                <a:ea typeface="Microsoft JhengHei"/>
              </a:rPr>
              <a:t>• 要識少少 Docker / 命令行</a:t>
            </a:r>
          </a:p>
          <a:p>
            <a:pPr>
              <a:spcAft>
                <a:spcPts val="700"/>
              </a:spcAft>
            </a:pPr>
            <a:r>
              <a:rPr sz="1450" b="0">
                <a:solidFill>
                  <a:srgbClr val="1A2B2A"/>
                </a:solidFill>
                <a:latin typeface="Microsoft JhengHei"/>
                <a:ea typeface="Microsoft JhengHei"/>
              </a:rPr>
              <a:t>• 免費版有休眠/限時，正式要畄錢</a:t>
            </a:r>
          </a:p>
          <a:p>
            <a:pPr>
              <a:spcAft>
                <a:spcPts val="700"/>
              </a:spcAft>
            </a:pPr>
            <a:r>
              <a:rPr sz="1450" b="0">
                <a:solidFill>
                  <a:srgbClr val="1A2B2A"/>
                </a:solidFill>
                <a:latin typeface="Microsoft JhengHei"/>
                <a:ea typeface="Microsoft JhengHei"/>
              </a:rPr>
              <a:t>• DB（SQLite）要掛 volume，否則重啟冇晒資料</a:t>
            </a:r>
          </a:p>
          <a:p>
            <a:pPr>
              <a:spcAft>
                <a:spcPts val="700"/>
              </a:spcAft>
            </a:pPr>
            <a:r>
              <a:rPr sz="1450" b="0">
                <a:solidFill>
                  <a:srgbClr val="1A2B2A"/>
                </a:solidFill>
                <a:latin typeface="Microsoft JhengHei"/>
                <a:ea typeface="Microsoft JhengHei"/>
              </a:rPr>
              <a:t>• 出事要自己 Google 排錯，無人 call</a:t>
            </a:r>
          </a:p>
          <a:p>
            <a:pPr>
              <a:spcAft>
                <a:spcPts val="700"/>
              </a:spcAft>
            </a:pPr>
            <a:r>
              <a:rPr sz="1450" b="0">
                <a:solidFill>
                  <a:srgbClr val="1A2B2A"/>
                </a:solidFill>
                <a:latin typeface="Microsoft JhengHei"/>
                <a:ea typeface="Microsoft JhengHei"/>
              </a:rPr>
              <a:t>• WhatsApp/Email 測試仍要自己郁手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1737360"/>
            <a:ext cx="1088136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104B4A"/>
                </a:solidFill>
                <a:latin typeface="Microsoft JhengHei"/>
                <a:ea typeface="Microsoft JhengHei"/>
              </a:rPr>
              <a:t>方案 B 參考價錢（2026）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8A4E"/>
                </a:solidFill>
                <a:latin typeface="Microsoft JhengHei"/>
                <a:ea typeface="Microsoft JhengHei"/>
              </a:rPr>
              <a:t>▸ Render：個人免費；Web 服務正式 US$7–25/月；Postgres 另計 US$7 起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8A4E"/>
                </a:solidFill>
                <a:latin typeface="Microsoft JhengHei"/>
                <a:ea typeface="Microsoft JhengHei"/>
              </a:rPr>
              <a:t>▸ Railway：HK$0 試用額，之後 US$5/月基礎 + 按用量；小站約 HK$40–160/月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8A4E"/>
                </a:solidFill>
                <a:latin typeface="Microsoft JhengHei"/>
                <a:ea typeface="Microsoft JhengHei"/>
              </a:rPr>
              <a:t>▸ Fly.io：按用量，輕量小站約 US$2–10/月（約 HK$16–80）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C0392B"/>
                </a:solidFill>
                <a:latin typeface="Microsoft JhengHei"/>
                <a:ea typeface="Microsoft JhengHei"/>
              </a:rPr>
              <a:t>▸ 合計：伺服器 + DB 大概 HK$60–300/月，遠平過外判月費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04B4A"/>
                </a:solidFill>
                <a:latin typeface="Consolas"/>
                <a:ea typeface="Consolas"/>
              </a:rPr>
              <a:t>你個 project 已經有 docker-compose.yml → 基本上直接 upload 就得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JhengHei"/>
                <a:ea typeface="Microsoft JhengHei"/>
              </a:rPr>
              <a:t>方案 C：大廠雲端 IaaS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555F5E"/>
                </a:solidFill>
                <a:latin typeface="Microsoft JhengHei"/>
                <a:ea typeface="Microsoft JhengHei"/>
              </a:rPr>
              <a:t>AWS / GCP / Azure — 完全自己架，最自由最穩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539496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8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87452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1">
                <a:solidFill>
                  <a:srgbClr val="1E8A4E"/>
                </a:solidFill>
                <a:latin typeface="Microsoft JhengHei"/>
                <a:ea typeface="Microsoft JhengHei"/>
              </a:rPr>
              <a:t>優點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377440"/>
            <a:ext cx="493776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</a:pPr>
            <a:r>
              <a:rPr sz="1450" b="0">
                <a:solidFill>
                  <a:srgbClr val="1A2B2A"/>
                </a:solidFill>
                <a:latin typeface="Microsoft JhengHei"/>
                <a:ea typeface="Microsoft JhengHei"/>
              </a:rPr>
              <a:t>• 最穩定、最 scalable，醫療級可用</a:t>
            </a:r>
          </a:p>
          <a:p>
            <a:pPr>
              <a:spcAft>
                <a:spcPts val="700"/>
              </a:spcAft>
            </a:pPr>
            <a:r>
              <a:rPr sz="1450" b="0">
                <a:solidFill>
                  <a:srgbClr val="1A2B2A"/>
                </a:solidFill>
                <a:latin typeface="Microsoft JhengHei"/>
                <a:ea typeface="Microsoft JhengHei"/>
              </a:rPr>
              <a:t>• 香港/新加坡有 region，速度快、合規好</a:t>
            </a:r>
          </a:p>
          <a:p>
            <a:pPr>
              <a:spcAft>
                <a:spcPts val="700"/>
              </a:spcAft>
            </a:pPr>
            <a:r>
              <a:rPr sz="1450" b="0">
                <a:solidFill>
                  <a:srgbClr val="1A2B2A"/>
                </a:solidFill>
                <a:latin typeface="Microsoft JhengHei"/>
                <a:ea typeface="Microsoft JhengHei"/>
              </a:rPr>
              <a:t>• 計費透明，用幾多畀幾多</a:t>
            </a:r>
          </a:p>
          <a:p>
            <a:pPr>
              <a:spcAft>
                <a:spcPts val="700"/>
              </a:spcAft>
            </a:pPr>
            <a:r>
              <a:rPr sz="1450" b="0">
                <a:solidFill>
                  <a:srgbClr val="1A2B2A"/>
                </a:solidFill>
                <a:latin typeface="Microsoft JhengHei"/>
                <a:ea typeface="Microsoft JhengHei"/>
              </a:rPr>
              <a:t>• CI/CD、監控、備份工具齊全</a:t>
            </a:r>
          </a:p>
          <a:p>
            <a:pPr>
              <a:spcAft>
                <a:spcPts val="700"/>
              </a:spcAft>
            </a:pPr>
            <a:r>
              <a:rPr sz="1450" b="0">
                <a:solidFill>
                  <a:srgbClr val="1A2B2A"/>
                </a:solidFill>
                <a:latin typeface="Microsoft JhengHei"/>
                <a:ea typeface="Microsoft JhengHei"/>
              </a:rPr>
              <a:t>• 源碼/資料 100% 自己掌控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737360"/>
            <a:ext cx="539496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0" y="187452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1">
                <a:solidFill>
                  <a:srgbClr val="C0392B"/>
                </a:solidFill>
                <a:latin typeface="Microsoft JhengHei"/>
                <a:ea typeface="Microsoft JhengHei"/>
              </a:rPr>
              <a:t>缺點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377440"/>
            <a:ext cx="493776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</a:pPr>
            <a:r>
              <a:rPr sz="1450" b="0">
                <a:solidFill>
                  <a:srgbClr val="1A2B2A"/>
                </a:solidFill>
                <a:latin typeface="Microsoft JhengHei"/>
                <a:ea typeface="Microsoft JhengHei"/>
              </a:rPr>
              <a:t>• 設定最複雜，要識 DevOps</a:t>
            </a:r>
          </a:p>
          <a:p>
            <a:pPr>
              <a:spcAft>
                <a:spcPts val="700"/>
              </a:spcAft>
            </a:pPr>
            <a:r>
              <a:rPr sz="1450" b="0">
                <a:solidFill>
                  <a:srgbClr val="1A2B2A"/>
                </a:solidFill>
                <a:latin typeface="Microsoft JhengHei"/>
                <a:ea typeface="Microsoft JhengHei"/>
              </a:rPr>
              <a:t>• 一唔覺開錯 service 會貴（要Set budget alert）</a:t>
            </a:r>
          </a:p>
          <a:p>
            <a:pPr>
              <a:spcAft>
                <a:spcPts val="700"/>
              </a:spcAft>
            </a:pPr>
            <a:r>
              <a:rPr sz="1450" b="0">
                <a:solidFill>
                  <a:srgbClr val="1A2B2A"/>
                </a:solidFill>
                <a:latin typeface="Microsoft JhengHei"/>
                <a:ea typeface="Microsoft JhengHei"/>
              </a:rPr>
              <a:t>• 無人幫手測試，要自己寫/跑 test</a:t>
            </a:r>
          </a:p>
          <a:p>
            <a:pPr>
              <a:spcAft>
                <a:spcPts val="700"/>
              </a:spcAft>
            </a:pPr>
            <a:r>
              <a:rPr sz="1450" b="0">
                <a:solidFill>
                  <a:srgbClr val="1A2B2A"/>
                </a:solidFill>
                <a:latin typeface="Microsoft JhengHei"/>
                <a:ea typeface="Microsoft JhengHei"/>
              </a:rPr>
              <a:t>• 學習曲線高，新手易跌坑</a:t>
            </a:r>
          </a:p>
          <a:p>
            <a:pPr>
              <a:spcAft>
                <a:spcPts val="700"/>
              </a:spcAft>
            </a:pPr>
            <a:r>
              <a:rPr sz="1450" b="0">
                <a:solidFill>
                  <a:srgbClr val="1A2B2A"/>
                </a:solidFill>
                <a:latin typeface="Microsoft JhengHei"/>
                <a:ea typeface="Microsoft JhengHei"/>
              </a:rPr>
              <a:t>• IP/防火牆/HTTPS 全部自己搞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1737360"/>
            <a:ext cx="1088136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104B4A"/>
                </a:solidFill>
                <a:latin typeface="Microsoft JhengHei"/>
                <a:ea typeface="Microsoft JhengHei"/>
              </a:rPr>
              <a:t>方案 C 參考價錢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8A4E"/>
                </a:solidFill>
                <a:latin typeface="Microsoft JhengHei"/>
                <a:ea typeface="Microsoft JhengHei"/>
              </a:rPr>
              <a:t>▸ AWS Lightsail（最易落手）：HK$40–80/月包 VPS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8A4E"/>
                </a:solidFill>
                <a:latin typeface="Microsoft JhengHei"/>
                <a:ea typeface="Microsoft JhengHei"/>
              </a:rPr>
              <a:t>▸ GCP / Azure：基本 VM 約 US$15–50/月（約 HK$120–400）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C0392B"/>
                </a:solidFill>
                <a:latin typeface="Microsoft JhengHei"/>
                <a:ea typeface="Microsoft JhengHei"/>
              </a:rPr>
              <a:t>▸ 新手唔建議直接上 AWS EC2，先用 Lightsail 或 PaaS（方案 B）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JhengHei"/>
                <a:ea typeface="Microsoft JhengHei"/>
              </a:rPr>
              <a:t>方案 D：網頁功能測試雲平台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555F5E"/>
                </a:solidFill>
                <a:latin typeface="Microsoft JhengHei"/>
                <a:ea typeface="Microsoft JhengHei"/>
              </a:rPr>
              <a:t>專做「網頁功能測試」的三大選擇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0546209"/>
              </p:ext>
            </p:extLst>
          </p:nvPr>
        </p:nvGraphicFramePr>
        <p:xfrm>
          <a:off x="71887" y="1697391"/>
          <a:ext cx="1225296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平台</a:t>
                      </a:r>
                    </a:p>
                  </a:txBody>
                  <a:tcPr anchor="ctr">
                    <a:solidFill>
                      <a:srgbClr val="104B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 dirty="0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月費（2026）</a:t>
                      </a:r>
                    </a:p>
                  </a:txBody>
                  <a:tcPr anchor="ctr">
                    <a:solidFill>
                      <a:srgbClr val="104B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強項</a:t>
                      </a:r>
                    </a:p>
                  </a:txBody>
                  <a:tcPr anchor="ctr">
                    <a:solidFill>
                      <a:srgbClr val="104B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適合</a:t>
                      </a:r>
                    </a:p>
                  </a:txBody>
                  <a:tcPr anchor="ctr">
                    <a:solidFill>
                      <a:srgbClr val="104B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LambdaTest（TestMu AI）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US$15–299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最平、並行跑得快、AI 排錯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細 team / 慳錢首選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BrowserStack</a:t>
                      </a:r>
                    </a:p>
                  </a:txBody>
                  <a:tcPr anchor="ctr"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US$19–449</a:t>
                      </a:r>
                    </a:p>
                  </a:txBody>
                  <a:tcPr anchor="ctr"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真機最多、手動測試最順</a:t>
                      </a:r>
                    </a:p>
                  </a:txBody>
                  <a:tcPr anchor="ctr"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要廣覆蓋 + 手測</a:t>
                      </a:r>
                    </a:p>
                  </a:txBody>
                  <a:tcPr anchor="ctr">
                    <a:solidFill>
                      <a:srgbClr val="F2F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Sauce Labs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US$39–199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企業級、CI/合規強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dirty="0" err="1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大公司</a:t>
                      </a:r>
                      <a:r>
                        <a:rPr sz="1250" b="0" dirty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/</a:t>
                      </a:r>
                      <a:r>
                        <a:rPr sz="1250" b="0" dirty="0" err="1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受規管</a:t>
                      </a:r>
                      <a:endParaRPr sz="1250" b="0" dirty="0">
                        <a:solidFill>
                          <a:srgbClr val="1A2B2A"/>
                        </a:solidFill>
                        <a:latin typeface="Microsoft JhengHei"/>
                        <a:ea typeface="Microsoft JhengHei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1737360"/>
            <a:ext cx="1088136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104B4A"/>
                </a:solidFill>
                <a:latin typeface="Microsoft JhengHei"/>
                <a:ea typeface="Microsoft JhengHei"/>
              </a:rPr>
              <a:t>測試雲平台點計錢？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8A4E"/>
                </a:solidFill>
                <a:latin typeface="Microsoft JhengHei"/>
                <a:ea typeface="Microsoft JhengHei"/>
              </a:rPr>
              <a:t>▸ 主要按「並行 session 數」收，唔係按分鐘：你要幾多條線同時跑測試就幾錢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8A4E"/>
                </a:solidFill>
                <a:latin typeface="Microsoft JhengHei"/>
                <a:ea typeface="Microsoft JhengHei"/>
              </a:rPr>
              <a:t>▸ 細 team（~100 測試/週）用 LambdaTest 約 US$175/年（~HK$1,400/年）最抵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8A4E"/>
                </a:solidFill>
                <a:latin typeface="Microsoft JhengHei"/>
                <a:ea typeface="Microsoft JhengHei"/>
              </a:rPr>
              <a:t>▸ SMB 實際年均：LambdaTest ~US$3,264、BrowserStack ~US$5,671、Sauce Labs ~US$11,031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C0392B"/>
                </a:solidFill>
                <a:latin typeface="Microsoft JhengHei"/>
                <a:ea typeface="Microsoft JhengHei"/>
              </a:rPr>
              <a:t>▸ 如果你的項目係手動點擊測試為主，BrowserStack Live $39/月（~HK$305）就夠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04B4A"/>
                </a:solidFill>
                <a:latin typeface="Consolas"/>
                <a:ea typeface="Consolas"/>
              </a:rPr>
              <a:t>你個 project 已經有 _qa_cross_test.js / Playwright → 可直接接 LambdaTest 跑雲端測試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JhengHei"/>
                <a:ea typeface="Microsoft JhengHei"/>
              </a:rPr>
              <a:t>費用對比總表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555F5E"/>
                </a:solidFill>
                <a:latin typeface="Microsoft JhengHei"/>
                <a:ea typeface="Microsoft JhengHei"/>
              </a:rPr>
              <a:t>一次過 + 每月開支（HK$ 估算）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828800"/>
          <a:ext cx="1188720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方案</a:t>
                      </a:r>
                    </a:p>
                  </a:txBody>
                  <a:tcPr anchor="ctr">
                    <a:solidFill>
                      <a:srgbClr val="104B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前期/一次過</a:t>
                      </a:r>
                    </a:p>
                  </a:txBody>
                  <a:tcPr anchor="ctr">
                    <a:solidFill>
                      <a:srgbClr val="104B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每月經常性</a:t>
                      </a:r>
                    </a:p>
                  </a:txBody>
                  <a:tcPr anchor="ctr">
                    <a:solidFill>
                      <a:srgbClr val="104B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年支出約</a:t>
                      </a:r>
                    </a:p>
                  </a:txBody>
                  <a:tcPr anchor="ctr">
                    <a:solidFill>
                      <a:srgbClr val="104B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A. 香港 IT 外判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HK$0–50,000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HK$2,000–12,000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HK$24,000–144,000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B. PaaS 自部署</a:t>
                      </a:r>
                    </a:p>
                  </a:txBody>
                  <a:tcPr anchor="ctr"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HK$0</a:t>
                      </a:r>
                    </a:p>
                  </a:txBody>
                  <a:tcPr anchor="ctr"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HK$60–300</a:t>
                      </a:r>
                    </a:p>
                  </a:txBody>
                  <a:tcPr anchor="ctr"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HK$720–3,600</a:t>
                      </a:r>
                    </a:p>
                  </a:txBody>
                  <a:tcPr anchor="ctr">
                    <a:solidFill>
                      <a:srgbClr val="F2F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C. 大廠雲 IaaS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HK$0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HK$120–400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HK$1,440–4,800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D. 測試雲平台</a:t>
                      </a:r>
                    </a:p>
                  </a:txBody>
                  <a:tcPr anchor="ctr"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HK$0</a:t>
                      </a:r>
                    </a:p>
                  </a:txBody>
                  <a:tcPr anchor="ctr"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HK$120–2,400</a:t>
                      </a:r>
                    </a:p>
                  </a:txBody>
                  <a:tcPr anchor="ctr"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HK$1,400–28,800</a:t>
                      </a:r>
                    </a:p>
                  </a:txBody>
                  <a:tcPr anchor="ctr">
                    <a:solidFill>
                      <a:srgbClr val="F2F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最佳組合 B+D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HK$0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HK$180–2,700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2B2A"/>
                          </a:solidFill>
                          <a:latin typeface="Microsoft JhengHei"/>
                          <a:ea typeface="Microsoft JhengHei"/>
                        </a:rPr>
                        <a:t>HK$2,160–32,400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JhengHei"/>
                <a:ea typeface="Microsoft JhengHei"/>
              </a:rPr>
              <a:t>優點 / 缺點 一句總結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555F5E"/>
                </a:solidFill>
                <a:latin typeface="Microsoft JhengHei"/>
                <a:ea typeface="Microsoft JhengHei"/>
              </a:rPr>
              <a:t>幫你快啲決定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539496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8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87452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1">
                <a:solidFill>
                  <a:srgbClr val="1E8A4E"/>
                </a:solidFill>
                <a:latin typeface="Microsoft JhengHei"/>
                <a:ea typeface="Microsoft JhengHei"/>
              </a:rPr>
              <a:t>最啱你嘅做法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377440"/>
            <a:ext cx="493776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</a:pPr>
            <a:r>
              <a:rPr sz="1450" b="0">
                <a:solidFill>
                  <a:srgbClr val="1A2B2A"/>
                </a:solidFill>
                <a:latin typeface="Microsoft JhengHei"/>
                <a:ea typeface="Microsoft JhengHei"/>
              </a:rPr>
              <a:t>• 想完全唔郁手 → 搵 A（外判），但貴 + 綁死</a:t>
            </a:r>
          </a:p>
          <a:p>
            <a:pPr>
              <a:spcAft>
                <a:spcPts val="700"/>
              </a:spcAft>
            </a:pPr>
            <a:r>
              <a:rPr sz="1450" b="0">
                <a:solidFill>
                  <a:srgbClr val="1A2B2A"/>
                </a:solidFill>
                <a:latin typeface="Microsoft JhengHei"/>
                <a:ea typeface="Microsoft JhengHei"/>
              </a:rPr>
              <a:t>• 想平 + 有控制權 → B（PaaS）自己部署</a:t>
            </a:r>
          </a:p>
          <a:p>
            <a:pPr>
              <a:spcAft>
                <a:spcPts val="700"/>
              </a:spcAft>
            </a:pPr>
            <a:r>
              <a:rPr sz="1450" b="0">
                <a:solidFill>
                  <a:srgbClr val="1A2B2A"/>
                </a:solidFill>
                <a:latin typeface="Microsoft JhengHei"/>
                <a:ea typeface="Microsoft JhengHei"/>
              </a:rPr>
              <a:t>• 認真做功能測試 → 加 D（LambdaTest）</a:t>
            </a:r>
          </a:p>
          <a:p>
            <a:pPr>
              <a:spcAft>
                <a:spcPts val="700"/>
              </a:spcAft>
            </a:pPr>
            <a:r>
              <a:rPr sz="1450" b="0">
                <a:solidFill>
                  <a:srgbClr val="1A2B2A"/>
                </a:solidFill>
                <a:latin typeface="Microsoft JhengHei"/>
                <a:ea typeface="Microsoft JhengHei"/>
              </a:rPr>
              <a:t>• 醫療資料敏感 → 揀香港公司/本地雲，簽 NDA</a:t>
            </a:r>
          </a:p>
          <a:p>
            <a:pPr>
              <a:spcAft>
                <a:spcPts val="700"/>
              </a:spcAft>
            </a:pPr>
            <a:r>
              <a:rPr sz="1450" b="0">
                <a:solidFill>
                  <a:srgbClr val="1A2B2A"/>
                </a:solidFill>
                <a:latin typeface="Microsoft JhengHei"/>
                <a:ea typeface="Microsoft JhengHei"/>
              </a:rPr>
              <a:t>• 已有 Playwright 測試 → 直接上雲端跑最慳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737360"/>
            <a:ext cx="539496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0" y="187452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1">
                <a:solidFill>
                  <a:srgbClr val="C0392B"/>
                </a:solidFill>
                <a:latin typeface="Microsoft JhengHei"/>
                <a:ea typeface="Microsoft JhengHei"/>
              </a:rPr>
              <a:t>要避嘅坑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377440"/>
            <a:ext cx="493776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</a:pPr>
            <a:r>
              <a:rPr sz="1450" b="0">
                <a:solidFill>
                  <a:srgbClr val="1A2B2A"/>
                </a:solidFill>
                <a:latin typeface="Microsoft JhengHei"/>
                <a:ea typeface="Microsoft JhengHei"/>
              </a:rPr>
              <a:t>• 外判合約冇寫明「交源碼 + 伺服器權限」</a:t>
            </a:r>
          </a:p>
          <a:p>
            <a:pPr>
              <a:spcAft>
                <a:spcPts val="700"/>
              </a:spcAft>
            </a:pPr>
            <a:r>
              <a:rPr sz="1450" b="0">
                <a:solidFill>
                  <a:srgbClr val="1A2B2A"/>
                </a:solidFill>
                <a:latin typeface="Microsoft JhengHei"/>
                <a:ea typeface="Microsoft JhengHei"/>
              </a:rPr>
              <a:t>• PaaS 免費版 SQLite 無掛 volume 會冇資料</a:t>
            </a:r>
          </a:p>
          <a:p>
            <a:pPr>
              <a:spcAft>
                <a:spcPts val="700"/>
              </a:spcAft>
            </a:pPr>
            <a:r>
              <a:rPr sz="1450" b="0">
                <a:solidFill>
                  <a:srgbClr val="1A2B2A"/>
                </a:solidFill>
                <a:latin typeface="Microsoft JhengHei"/>
                <a:ea typeface="Microsoft JhengHei"/>
              </a:rPr>
              <a:t>• 測試雲買太多 parallel session 白畀錢</a:t>
            </a:r>
          </a:p>
          <a:p>
            <a:pPr>
              <a:spcAft>
                <a:spcPts val="700"/>
              </a:spcAft>
            </a:pPr>
            <a:r>
              <a:rPr sz="1450" b="0">
                <a:solidFill>
                  <a:srgbClr val="1A2B2A"/>
                </a:solidFill>
                <a:latin typeface="Microsoft JhengHei"/>
                <a:ea typeface="Microsoft JhengHei"/>
              </a:rPr>
              <a:t>• AWS 無set budget alert 會爆錶</a:t>
            </a:r>
          </a:p>
          <a:p>
            <a:pPr>
              <a:spcAft>
                <a:spcPts val="700"/>
              </a:spcAft>
            </a:pPr>
            <a:r>
              <a:rPr sz="1450" b="0">
                <a:solidFill>
                  <a:srgbClr val="1A2B2A"/>
                </a:solidFill>
                <a:latin typeface="Microsoft JhengHei"/>
                <a:ea typeface="Microsoft JhengHei"/>
              </a:rPr>
              <a:t>• 唔好將 .env / 病人 DB 落 Git 或交畀人亂擺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JhengHei"/>
                <a:ea typeface="Microsoft JhengHei"/>
              </a:rPr>
              <a:t>我嘅建議（最啱 booking-aurora）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555F5E"/>
                </a:solidFill>
                <a:latin typeface="Microsoft JhengHei"/>
                <a:ea typeface="Microsoft JhengHei"/>
              </a:rPr>
              <a:t>按你嘅情況落藥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10881360" cy="4800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104B4A"/>
                </a:solidFill>
                <a:latin typeface="Microsoft JhengHei"/>
                <a:ea typeface="Microsoft JhengHei"/>
              </a:rPr>
              <a:t>推薦組合：方案 B（PaaS）+ 方案 D（LambdaTest）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8A4E"/>
                </a:solidFill>
                <a:latin typeface="Microsoft JhengHei"/>
                <a:ea typeface="Microsoft JhengHei"/>
              </a:rPr>
              <a:t>▸ 伺服器：用 Railway 或 Render 部署（你已有 docker-compose，半日搞掂）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8A4E"/>
                </a:solidFill>
                <a:latin typeface="Microsoft JhengHei"/>
                <a:ea typeface="Microsoft JhengHei"/>
              </a:rPr>
              <a:t>▸ 測試：用 LambdaTest 跑你現有 Playwright 跨瀏覽器測試，年費約 HK$1,400 起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8A4E"/>
                </a:solidFill>
                <a:latin typeface="Microsoft JhengHei"/>
                <a:ea typeface="Microsoft JhengHei"/>
              </a:rPr>
              <a:t>▸ 總開支：約 HK$180–500/月，遠平過外判，控制權又喺手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C0392B"/>
                </a:solidFill>
                <a:latin typeface="Microsoft JhengHei"/>
                <a:ea typeface="Microsoft JhengHei"/>
              </a:rPr>
              <a:t>▸ 如果你完全唔想郁手 → 搵 YSK / LoftyGroup 做外判，記得合約寫明交源碼 + 權限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C0392B"/>
                </a:solidFill>
                <a:latin typeface="Microsoft JhengHei"/>
                <a:ea typeface="Microsoft JhengHei"/>
              </a:rPr>
              <a:t>▸ 診所病人資料敏感：無論搵邊間，都要簽保密協議 + 確認備份/加密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04B4A"/>
                </a:solidFill>
                <a:latin typeface="Consolas"/>
                <a:ea typeface="Consolas"/>
              </a:rPr>
              <a:t>下一步：開 Railway 帳號 → import repo → 填 .env → 用 LambdaTest 跑 _qa_cross_test.js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1126</Words>
  <Application>Microsoft Office PowerPoint</Application>
  <PresentationFormat>寬螢幕</PresentationFormat>
  <Paragraphs>164</Paragraphs>
  <Slides>14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14</vt:i4>
      </vt:variant>
    </vt:vector>
  </HeadingPairs>
  <TitlesOfParts>
    <vt:vector size="19" baseType="lpstr">
      <vt:lpstr>Microsoft JhengHei</vt:lpstr>
      <vt:lpstr>Arial</vt:lpstr>
      <vt:lpstr>Calibri</vt:lpstr>
      <vt:lpstr>Consolas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cheuk951211@gmail.com</cp:lastModifiedBy>
  <cp:revision>1</cp:revision>
  <dcterms:created xsi:type="dcterms:W3CDTF">2013-01-27T09:14:16Z</dcterms:created>
  <dcterms:modified xsi:type="dcterms:W3CDTF">2026-08-29T11:49:40Z</dcterms:modified>
  <cp:category/>
</cp:coreProperties>
</file>