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3.svg" /><Relationship Id="rId1" Type="http://schemas.openxmlformats.org/officeDocument/2006/relationships/image" Target="media/image1.svg" /><Relationship Id="rId2" Type="http://schemas.openxmlformats.org/officeDocument/2006/relationships/image" Target="media/image2.svg" /><Relationship Id="rId4" Type="http://schemas.openxmlformats.org/officeDocument/2006/relationships/image" Target="media/image4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linear-gradient(135deg,#7E9476 0%,#5D4037 100%)' }}&gt;&#10;  &lt;Box style={{ height: '100%', padding: '0 80px', flexDirection: 'column', justifyContent: 'center' }}&gt;&#10;    &lt;Text style={{ fontSize: 64, fontWeight: 'bold', color: '#FFFFFF' }}&gt;寶天醫館預約系統&lt;/Text&gt;&#10;    &lt;Text style={{ fontSize: 40, fontWeight: 'bold', color: '#F0E4D2', marginTop: 10 }}&gt;AWS 雲端上線 · 手把手教學&lt;/Text&gt;&#10;    &lt;Box style={{ width: 120, height: 6, background: '#F0E4D2', borderRadius: 3, marginTop: 24 }} /&gt;&#10;    &lt;Text style={{ fontSize: 22, color: '#F0E4D2', marginTop: 28, lineHeight: 1.6 }}&gt;由零開始 · 新手適用 · 100% 完整步驟 · 安全與預警齊備&lt;/Text&gt;&#10;    &lt;Text style={{ fontSize: 18, color: '#F0E4D2', marginTop: 36, opacity: 0.9 }}&gt;跟住呢份教學，你自己都可以將個網站安全放上雲端，唔使搵人幫手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E9476"/>
              </a:gs>
              <a:gs pos="100000">
                <a:srgbClr val="5D403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762000" y="2028825"/>
            <a:ext cx="10668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寶天醫館預約系統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0E4D2"/>
                </a:solidFill>
                <a:latin typeface="Microsoft YaHei"/>
                <a:ea typeface="Microsoft YaHei"/>
              </a:rPr>
              <a:t>AWS </a:t>
            </a:r>
            <a:r>
              <a:rPr lang="zh-CN" sz="3000" b="1">
                <a:solidFill>
                  <a:srgbClr val="F0E4D2"/>
                </a:solidFill>
                <a:latin typeface="Microsoft YaHei"/>
                <a:ea typeface="Microsoft YaHei"/>
              </a:rPr>
              <a:t>雲端上線</a:t>
            </a:r>
            <a:r>
              <a:rPr lang="en-US" sz="3000" b="1">
                <a:solidFill>
                  <a:srgbClr val="F0E4D2"/>
                </a:solidFill>
                <a:latin typeface="Microsoft YaHei"/>
                <a:ea typeface="Microsoft YaHei"/>
              </a:rPr>
              <a:t> · </a:t>
            </a:r>
            <a:r>
              <a:rPr lang="zh-CN" sz="3000" b="1">
                <a:solidFill>
                  <a:srgbClr val="F0E4D2"/>
                </a:solidFill>
                <a:latin typeface="Microsoft YaHei"/>
                <a:ea typeface="Microsoft YaHei"/>
              </a:rPr>
              <a:t>手把手教學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762000" y="35433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F0E4D2"/>
                </a:solidFill>
                <a:latin typeface="Microsoft YaHei"/>
                <a:ea typeface="Microsoft YaHei"/>
              </a:rPr>
              <a:t>由零開始</a:t>
            </a:r>
            <a:r>
              <a:rPr lang="en-US" sz="1650">
                <a:solidFill>
                  <a:srgbClr val="F0E4D2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0E4D2"/>
                </a:solidFill>
                <a:latin typeface="Microsoft YaHei"/>
                <a:ea typeface="Microsoft YaHei"/>
              </a:rPr>
              <a:t>新手適用</a:t>
            </a:r>
            <a:r>
              <a:rPr lang="en-US" sz="1650">
                <a:solidFill>
                  <a:srgbClr val="F0E4D2"/>
                </a:solidFill>
                <a:latin typeface="Microsoft YaHei"/>
                <a:ea typeface="Microsoft YaHei"/>
              </a:rPr>
              <a:t> · 100% </a:t>
            </a:r>
            <a:r>
              <a:rPr lang="zh-CN" sz="1650">
                <a:solidFill>
                  <a:srgbClr val="F0E4D2"/>
                </a:solidFill>
                <a:latin typeface="Microsoft YaHei"/>
                <a:ea typeface="Microsoft YaHei"/>
              </a:rPr>
              <a:t>完整步驟</a:t>
            </a:r>
            <a:r>
              <a:rPr lang="en-US" sz="1650">
                <a:solidFill>
                  <a:srgbClr val="F0E4D2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F0E4D2"/>
                </a:solidFill>
                <a:latin typeface="Microsoft YaHei"/>
                <a:ea typeface="Microsoft YaHei"/>
              </a:rPr>
              <a:t>安全與預警齊備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4619625"/>
            <a:ext cx="1066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0E4D2">
                    <a:alpha val="90000"/>
                  </a:srgbClr>
                </a:solidFill>
                <a:latin typeface="Microsoft YaHei"/>
                <a:ea typeface="Microsoft YaHei"/>
              </a:rPr>
              <a:t>跟住呢份教學，你自己都可以將個網站安全放上雲端，唔使搵人幫手。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目錄&lt;/Text&gt;&#10;  &lt;/Box&gt;&#10;  &lt;Box style={{ height: 540, paddingLeft: 64, paddingRight: 64, paddingTop: 8, flexDirection: 'row', gap: 40 }}&gt;&#10;    &lt;Box style={{ width: '40%', justifyContent: 'center' }}&gt;&#10;      &lt;Text style={{ fontSize: 20, color: '#3E2A1E', lineHeight: 1.7 }}&gt;整份教學分為 &lt;span style={{ fontWeight: 'bold', color: '#5D4037' }}&gt;兩大階段&lt;/span&gt;：先學識開 AWS 帳號同建立伺服器，再學點樣裝環境同正式上線。中間仲有架構圖、費用預警、安全同備份，確保你做得穩陣。&lt;/Text&gt;&#10;    &lt;/Box&gt;&#10;    &lt;Box style={{ flex: 1, gap: 22, justifyContent: 'center' }}&gt;&#10;      &lt;Box style={{ background: '#FFFFFF', borderRadius: 14, padding: '20px 24px', flexDirection: 'row', alignItems: 'center', gap: 18, boxShadow: '0 4px 20px rgba(62,42,30,.08)' }}&gt;&#10;        &lt;Box style={{ width: 56, height: 56, borderRadius: 14, background: '#7E9476', justifyContent: 'center', alignItems: 'center' }}&gt;&#10;          &lt;Text style={{ fontSize: 24, fontWeight: 'bold', color: '#FFFFFF' }}&gt;1&lt;/Text&gt;&#10;        &lt;/Box&gt;&#10;        &lt;Box&gt;&#10;          &lt;Text style={{ fontSize: 22, fontWeight: 'bold', color: '#3E2A1E' }}&gt;第 1 章　開帳號與建立伺服器&lt;/Text&gt;&#10;          &lt;Text style={{ fontSize: 16, color: '#7c6f63' }}&gt;開 AWS 帳號 → 建立 EC2 → 瀏覽器連接&lt;/Text&gt;&#10;        &lt;/Box&gt;&#10;      &lt;/Box&gt;&#10;      &lt;Box style={{ background: '#FFFFFF', borderRadius: 14, padding: '20px 24px', flexDirection: 'row', alignItems: 'center', gap: 18, boxShadow: '0 4px 20px rgba(62,42,30,.08)' }}&gt;&#10;        &lt;Box style={{ width: 56, height: 56, borderRadius: 14, background: '#5D4037', justifyContent: 'center', alignItems: 'center' }}&gt;&#10;          &lt;Text style={{ fontSize: 24, fontWeight: 'bold', color: '#FFFFFF' }}&gt;2&lt;/Text&gt;&#10;        &lt;/Box&gt;&#10;        &lt;Box&gt;&#10;          &lt;Text style={{ fontSize: 22, fontWeight: 'bold', color: '#3E2A1E' }}&gt;第 2 章　安裝環境與正式上線&lt;/Text&gt;&#10;          &lt;Text style={{ fontSize: 16, color: '#7c6f63' }}&gt;裝 Node → 上傳代碼 → PM2 → Nginx/HTTPS → 安全備份&lt;/Text&gt;&#10;        &lt;/Box&gt;&#10;      &lt;/Box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目錄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4391025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3E2A1E"/>
                </a:solidFill>
                <a:latin typeface="Microsoft YaHei"/>
                <a:ea typeface="Microsoft YaHei"/>
              </a:rPr>
              <a:t>整份教學分為</a:t>
            </a:r>
            <a:r>
              <a:rPr lang="en-US" sz="1500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zh-CN" sz="1500" b="1">
                <a:solidFill>
                  <a:srgbClr val="5D4037"/>
                </a:solidFill>
                <a:latin typeface="Microsoft YaHei"/>
                <a:ea typeface="Microsoft YaHei"/>
              </a:rPr>
              <a:t>兩大階段</a:t>
            </a:r>
            <a:r>
              <a:rPr lang="zh-CN" sz="1500">
                <a:solidFill>
                  <a:srgbClr val="3E2A1E"/>
                </a:solidFill>
                <a:latin typeface="Microsoft YaHei"/>
                <a:ea typeface="Microsoft YaHei"/>
              </a:rPr>
              <a:t>：先學識開</a:t>
            </a:r>
            <a:r>
              <a:rPr lang="en-US" sz="1500">
                <a:solidFill>
                  <a:srgbClr val="3E2A1E"/>
                </a:solidFill>
                <a:latin typeface="Microsoft YaHei"/>
                <a:ea typeface="Microsoft YaHei"/>
              </a:rPr>
              <a:t> AWS </a:t>
            </a:r>
            <a:r>
              <a:rPr lang="zh-CN" sz="1500">
                <a:solidFill>
                  <a:srgbClr val="3E2A1E"/>
                </a:solidFill>
                <a:latin typeface="Microsoft YaHei"/>
                <a:ea typeface="Microsoft YaHei"/>
              </a:rPr>
              <a:t>帳號同建立伺服器，再學點樣裝環境同正式上線。中間仲有架構圖、費用預警、安全同備份，確保你做得穩陣。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381625" y="2733675"/>
            <a:ext cx="620077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3E2A1E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5610225" y="29241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810250" y="30575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315075" y="2971800"/>
            <a:ext cx="2771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3E2A1E"/>
                </a:solidFill>
                <a:latin typeface="Microsoft YaHei"/>
                <a:ea typeface="Microsoft YaHei"/>
              </a:rPr>
              <a:t> 1 </a:t>
            </a:r>
            <a:r>
              <a:rPr lang="zh-CN" sz="1650" b="1">
                <a:solidFill>
                  <a:srgbClr val="3E2A1E"/>
                </a:solidFill>
                <a:latin typeface="Microsoft YaHei"/>
                <a:ea typeface="Microsoft YaHei"/>
              </a:rPr>
              <a:t>章　開帳號與建立伺服器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315075" y="3228975"/>
            <a:ext cx="277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開</a:t>
            </a:r>
            <a:r>
              <a:rPr lang="en-US" sz="1200">
                <a:solidFill>
                  <a:srgbClr val="7C6F63"/>
                </a:solidFill>
                <a:latin typeface="Microsoft YaHei"/>
                <a:ea typeface="Microsoft YaHei"/>
              </a:rPr>
              <a:t> AWS </a:t>
            </a: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帳號</a:t>
            </a:r>
            <a:r>
              <a:rPr lang="en-US" sz="1200">
                <a:solidFill>
                  <a:srgbClr val="7C6F63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建立</a:t>
            </a:r>
            <a:r>
              <a:rPr lang="en-US" sz="1200">
                <a:solidFill>
                  <a:srgbClr val="7C6F63"/>
                </a:solidFill>
                <a:latin typeface="Microsoft YaHei"/>
                <a:ea typeface="Microsoft YaHei"/>
              </a:rPr>
              <a:t> EC2 → </a:t>
            </a: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瀏覽器連接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381625" y="3857625"/>
            <a:ext cx="620077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3E2A1E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610225" y="40481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5D4037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810250" y="41814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315075" y="4095750"/>
            <a:ext cx="410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3E2A1E"/>
                </a:solidFill>
                <a:latin typeface="Microsoft YaHei"/>
                <a:ea typeface="Microsoft YaHei"/>
              </a:rPr>
              <a:t> 2 </a:t>
            </a:r>
            <a:r>
              <a:rPr lang="zh-CN" sz="1650" b="1">
                <a:solidFill>
                  <a:srgbClr val="3E2A1E"/>
                </a:solidFill>
                <a:latin typeface="Microsoft YaHei"/>
                <a:ea typeface="Microsoft YaHei"/>
              </a:rPr>
              <a:t>章　安裝環境與正式上線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315075" y="4352925"/>
            <a:ext cx="4105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裝</a:t>
            </a:r>
            <a:r>
              <a:rPr lang="en-US" sz="1200">
                <a:solidFill>
                  <a:srgbClr val="7C6F63"/>
                </a:solidFill>
                <a:latin typeface="Microsoft YaHei"/>
                <a:ea typeface="Microsoft YaHei"/>
              </a:rPr>
              <a:t> Node → </a:t>
            </a: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上傳代碼</a:t>
            </a:r>
            <a:r>
              <a:rPr lang="en-US" sz="1200">
                <a:solidFill>
                  <a:srgbClr val="7C6F63"/>
                </a:solidFill>
                <a:latin typeface="Microsoft YaHei"/>
                <a:ea typeface="Microsoft YaHei"/>
              </a:rPr>
              <a:t> → PM2 → Nginx/HTTPS → </a:t>
            </a:r>
            <a:r>
              <a:rPr lang="zh-CN" sz="1200">
                <a:solidFill>
                  <a:srgbClr val="7C6F63"/>
                </a:solidFill>
                <a:latin typeface="Microsoft YaHei"/>
                <a:ea typeface="Microsoft YaHei"/>
              </a:rPr>
              <a:t>安全備份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4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你需要準備嘅嘢（先決條件）&lt;/Text&gt;&#10;  &lt;/Box&gt;&#10;  &lt;Box style={{ height: 540, paddingLeft: 64, paddingRight: 64, paddingTop: 6, flexDirection: 'row', gap: 24 }}&gt;&#10;    &lt;Box style={{ flex: 1.3, gap: 14, justifyContent: 'center' }}&gt;&#10;      &lt;Box style={{ flexDirection: 'row', alignItems: 'center', gap: 14 }}&gt;&#10;        &lt;Box style={{ width: 38, height: 38, borderRadius: 19, background: '#7E9476', justifyContent: 'center', alignItems: 'center' }}&gt;&#10;          &lt;svg width={20} height={20} viewBox='0 0 24 24' fill='none' stroke='#fff' strokeWidth='2' strokeLinecap='round' strokeLinejoin='round'&gt;&lt;circle cx='12' cy='8' r='4'/&gt;&lt;path d='M4 21c0-4 3.5-6 8-6s8 2 8 6'/&gt;&lt;/svg&gt;&#10;        &lt;/Box&gt;&#10;        &lt;Text style={{ fontSize: 19, color: '#3E2A1E' }}&gt;&lt;span style={{ fontWeight: 'bold' }}&gt;AWS 帳號&lt;/span&gt;：去 aws.amazon.com 免費開（需要 email 同電話）&lt;/Text&gt;&#10;      &lt;/Box&gt;&#10;      &lt;Box style={{ flexDirection: 'row', alignItems: 'center', gap: 14 }}&gt;&#10;        &lt;Box style={{ width: 38, height: 38, borderRadius: 19, background: '#7E9476', justifyContent: 'center', alignItems: 'center' }}&gt;&#10;          &lt;svg width={20} height={20} viewBox='0 0 24 24' fill='none' stroke='#fff' strokeWidth='2' strokeLinecap='round' strokeLinejoin='round'&gt;&lt;rect x='3' y='7' width='18' height='10' rx='2'/&gt;&lt;line x1='3' y1='11' x2='21' y2='11'/&gt;&lt;/svg&gt;&#10;        &lt;/Box&gt;&#10;        &lt;Text style={{ fontSize: 19, color: '#3E2A1E' }}&gt;&lt;span style={{ fontWeight: 'bold' }}&gt;信用卡 / 扣帳卡&lt;/span&gt;：用嚟驗證身份，會有 $1 授權（之後退返）&lt;/Text&gt;&#10;      &lt;/Box&gt;&#10;      &lt;Box style={{ flexDirection: 'row', alignItems: 'center', gap: 14 }}&gt;&#10;        &lt;Box style={{ width: 38, height: 38, borderRadius: 19, background: '#7E9476', justifyContent: 'center', alignItems: 'center' }}&gt;&#10;          &lt;svg width={20} height={20} viewBox='0 0 24 24' fill='none' stroke='#fff' strokeWidth='2' strokeLinecap='round' strokeLinejoin='round'&gt;&lt;circle cx='12' cy='12' r='9'/&gt;&lt;ellipse cx='12' cy='12' rx='4' ry='9'/&gt;&lt;line x1='3' y1='12' x2='21' y2='12'/&gt;&lt;/svg&gt;&#10;        &lt;/Box&gt;&#10;        &lt;Text style={{ fontSize: 19, color: '#3E2A1E' }}&gt;&lt;span style={{ fontWeight: 'bold' }}&gt;網域（建議）&lt;/span&gt;：例如 aurora-clinic.com，約每年 $10–15 美金（冇都得，先用 EC2 臨時網址）&lt;/Text&gt;&#10;      &lt;/Box&gt;&#10;      &lt;Box style={{ flexDirection: 'row', alignItems: 'center', gap: 14 }}&gt;&#10;        &lt;Box style={{ width: 38, height: 38, borderRadius: 19, background: '#7E9476', justifyContent: 'center', alignItems: 'center' }}&gt;&#10;          &lt;svg width={20} height={20} viewBox='0 0 24 24' fill='none' stroke='#fff' strokeWidth='2' strokeLinecap='round' strokeLinejoin='round'&gt;&lt;rect x='4' y='5' width='16' height='11' rx='1'/&gt;&lt;line x1='2' y1='20' x2='22' y2='20'/&gt;&lt;/svg&gt;&#10;        &lt;/Box&gt;&#10;        &lt;Text style={{ fontSize: 19, color: '#3E2A1E' }}&gt;&lt;span style={{ fontWeight: 'bold' }}&gt;一部電腦 + 上網&lt;/span&gt;：Windows / Mac 都得，教學用瀏覽器操作，唔使裝額外軟件&lt;/Text&gt;&#10;      &lt;/Box&gt;&#10;    &lt;/Box&gt;&#10;    &lt;Box style={{ flex: 1, background: '#5D4037', borderRadius: 14, padding: '22px 22px', justifyContent: 'center' }}&gt;&#10;      &lt;Text style={{ fontSize: 20, fontWeight: 'bold', color: '#F0E4D2' }}&gt;新手小貼士&lt;/Text&gt;&#10;      &lt;Text style={{ fontSize: 17, color: '#F0E4D2', lineHeight: 1.7, marginTop: 12 }}&gt;你而家個網站（Express + SQLite + Vue）已經可以原封不動搬上去 AWS，唔使改 code。跟住第 7–17 頁做就得。準備好就開始！&lt;/Text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你需要準備嘅嘢（先決條件）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27432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2828925"/>
            <a:ext cx="190500" cy="19050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04900" y="2819400"/>
            <a:ext cx="5181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E2A1E"/>
                </a:solidFill>
                <a:latin typeface="Microsoft YaHei"/>
                <a:ea typeface="Microsoft YaHei"/>
              </a:rPr>
              <a:t>AWS </a:t>
            </a: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帳號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：去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aws.amazon.com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免費開（需要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email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同電話）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32385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" y="3324225"/>
            <a:ext cx="190500" cy="19050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04900" y="3314700"/>
            <a:ext cx="485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信用卡</a:t>
            </a:r>
            <a:r>
              <a:rPr lang="en-US" sz="1425" b="1">
                <a:solidFill>
                  <a:srgbClr val="3E2A1E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扣帳卡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：用嚟驗證身份，會有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$1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授權（之後退返）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37719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5325" y="3857625"/>
            <a:ext cx="190500" cy="1905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76325" y="3733800"/>
            <a:ext cx="56102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網域（建議）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：例如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aurora-clinic.com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，約每年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$10–15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美金（冇都得，先用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EC2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臨時網址）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43434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5325" y="4429125"/>
            <a:ext cx="190500" cy="190500"/>
          </a:xfrm>
          <a:prstGeom prst="rect">
            <a:avLst/>
          </a:prstGeom>
          <a:ln/>
        </p:spPr>
      </p:pic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76325" y="4305300"/>
            <a:ext cx="56102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一部電腦</a:t>
            </a:r>
            <a:r>
              <a:rPr lang="en-US" sz="1425" b="1">
                <a:solidFill>
                  <a:srgbClr val="3E2A1E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上網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Windows / Mac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都得，教學用瀏覽器操作，唔使裝額外軟件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915150" y="1200150"/>
            <a:ext cx="4667250" cy="5086350"/>
          </a:xfrm>
          <a:prstGeom prst="roundRect">
            <a:avLst>
              <a:gd name="adj" fmla="val 2857"/>
            </a:avLst>
          </a:prstGeom>
          <a:solidFill>
            <a:srgbClr val="5D4037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124700" y="3076575"/>
            <a:ext cx="424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0E4D2"/>
                </a:solidFill>
                <a:latin typeface="Microsoft YaHei"/>
                <a:ea typeface="Microsoft YaHei"/>
              </a:rPr>
              <a:t>新手小貼士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124700" y="3419475"/>
            <a:ext cx="424815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0E4D2"/>
                </a:solidFill>
                <a:latin typeface="Microsoft YaHei"/>
                <a:ea typeface="Microsoft YaHei"/>
              </a:rPr>
              <a:t>你而家個網站（</a:t>
            </a:r>
            <a:r>
              <a:rPr lang="en-US" sz="1275">
                <a:solidFill>
                  <a:srgbClr val="F0E4D2"/>
                </a:solidFill>
                <a:latin typeface="Microsoft YaHei"/>
                <a:ea typeface="Microsoft YaHei"/>
              </a:rPr>
              <a:t>Express + SQLite + Vue</a:t>
            </a:r>
            <a:r>
              <a:rPr lang="zh-CN" sz="1275">
                <a:solidFill>
                  <a:srgbClr val="F0E4D2"/>
                </a:solidFill>
                <a:latin typeface="Microsoft YaHei"/>
                <a:ea typeface="Microsoft YaHei"/>
              </a:rPr>
              <a:t>）已經可以原封不動搬上去</a:t>
            </a:r>
            <a:r>
              <a:rPr lang="en-US" sz="1275">
                <a:solidFill>
                  <a:srgbClr val="F0E4D2"/>
                </a:solidFill>
                <a:latin typeface="Microsoft YaHei"/>
                <a:ea typeface="Microsoft YaHei"/>
              </a:rPr>
              <a:t> AWS</a:t>
            </a:r>
            <a:r>
              <a:rPr lang="zh-CN" sz="1275">
                <a:solidFill>
                  <a:srgbClr val="F0E4D2"/>
                </a:solidFill>
                <a:latin typeface="Microsoft YaHei"/>
                <a:ea typeface="Microsoft YaHei"/>
              </a:rPr>
              <a:t>，唔使改</a:t>
            </a:r>
            <a:r>
              <a:rPr lang="en-US" sz="1275">
                <a:solidFill>
                  <a:srgbClr val="F0E4D2"/>
                </a:solidFill>
                <a:latin typeface="Microsoft YaHei"/>
                <a:ea typeface="Microsoft YaHei"/>
              </a:rPr>
              <a:t> code</a:t>
            </a:r>
            <a:r>
              <a:rPr lang="zh-CN" sz="1275">
                <a:solidFill>
                  <a:srgbClr val="F0E4D2"/>
                </a:solidFill>
                <a:latin typeface="Microsoft YaHei"/>
                <a:ea typeface="Microsoft YaHei"/>
              </a:rPr>
              <a:t>。跟住第</a:t>
            </a:r>
            <a:r>
              <a:rPr lang="en-US" sz="1275">
                <a:solidFill>
                  <a:srgbClr val="F0E4D2"/>
                </a:solidFill>
                <a:latin typeface="Microsoft YaHei"/>
                <a:ea typeface="Microsoft YaHei"/>
              </a:rPr>
              <a:t> 7–17 </a:t>
            </a:r>
            <a:r>
              <a:rPr lang="zh-CN" sz="1275">
                <a:solidFill>
                  <a:srgbClr val="F0E4D2"/>
                </a:solidFill>
                <a:latin typeface="Microsoft YaHei"/>
                <a:ea typeface="Microsoft YaHei"/>
              </a:rPr>
              <a:t>頁做就得。準備好就開始！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5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整體架構圖：你個網站會變成點&lt;/Text&gt;&#10;  &lt;/Box&gt;&#10;  &lt;Box style={{ height: 540, paddingLeft: 64, paddingRight: 64, paddingTop: 4, flexDirection: 'row', gap: 28, alignItems: 'center' }}&gt;&#10;    &lt;Box style={{ width: 540 }}&gt;&#10;      &lt;svg width={520} height={430} viewBox='0 0 520 430'&gt;&#10;        &lt;rect x='180' y='10' width='160' height='54' rx='10' fill='#7E9476' /&gt;&#10;        &lt;text x='260' y='42' textAnchor='middle' fill='#FFFFFF' fontSize='18' fontWeight='bold'&gt;用戶（電話 / 電腦）&lt;/text&gt;&#10;        &lt;line x1='260' y1='64' x2='260' y2='96' stroke='#5D4037' strokeWidth='3' /&gt;&#10;        &lt;rect x='170' y='96' width='180' height='50' rx='10' fill='#FFFFFF' stroke='#7E9476' strokeWidth='2' /&gt;&#10;        &lt;text x='260' y='126' textAnchor='middle' fill='#3E2A1E' fontSize='16'&gt;網域 / DNS 解析&lt;/text&gt;&#10;        &lt;line x1='260' y1='146' x2='260' y2='178' stroke='#5D4037' strokeWidth='3' /&gt;&#10;        &lt;rect x='40' y='178' width='440' height='180' rx='14' fill='#FFFFFF' stroke='#C0392B' strokeWidth='2' strokeDasharray='6 5' /&gt;&#10;        &lt;text x='260' y='200' textAnchor='middle' fill='#C0392B' fontSize='14' fontWeight='bold'&gt;EC2 安全組（防火牆：開 80 / 443 / 22）&lt;/text&gt;&#10;        &lt;rect x='150' y='212' width='220' height='44' rx='8' fill='#7E9476' /&gt;&#10;        &lt;text x='260' y='239' textAnchor='middle' fill='#FFFFFF' fontSize='15'&gt;Nginx（反向代理）&lt;/text&gt;&#10;        &lt;line x1='260' y1='256' x2='260' y2='276' stroke='#5D4037' strokeWidth='2' /&gt;&#10;        &lt;rect x='150' y='276' width='220' height='44' rx='8' fill='#5D4037' /&gt;&#10;        &lt;text x='260' y='303' textAnchor='middle' fill='#F0E4D2' fontSize='15'&gt;Node.js Express（:4000）&lt;/text&gt;&#10;        &lt;line x1='370' y1='298' x2='430' y2='298' stroke='#5D4037' strokeWidth='2' /&gt;&#10;        &lt;rect x='370' y='276' width='110' height='44' rx='8' fill='#EFD2BD' stroke='#5D4037' strokeWidth='1' /&gt;&#10;        &lt;text x='425' y='303' textAnchor='middle' fill='#3E2A1E' fontSize='13'&gt;SQLite 檔&lt;/text&gt;&#10;        &lt;line x1='425' y1='320' x2='425' y2='356' stroke='#5D4037' strokeWidth='2' strokeDasharray='4 4' /&gt;&#10;        &lt;rect x='360' y='356' width='130' height='40' rx='8' fill='#FFFFFF' stroke='#7E9476' strokeWidth='2' /&gt;&#10;        &lt;text x='425' y='381' textAnchor='middle' fill='#3E2A1E' fontSize='13'&gt;EBS 硬碟&lt;/text&gt;&#10;        &lt;line x1='150' y1='358' x2='60' y2='358' stroke='#C0392B' strokeWidth='2' /&gt;&#10;        &lt;rect x='20' y='338' width='120' height='40' rx='8' fill='#FFFFFF' stroke='#C0392B' strokeWidth='2' /&gt;&#10;        &lt;text x='80' y='363' textAnchor='middle' fill='#C0392B' fontSize='13'&gt;S3 備份&lt;/text&gt;&#10;      &lt;/svg&gt;&#10;    &lt;/Box&gt;&#10;    &lt;Box style={{ flex: 1, gap: 14 }}&gt;&#10;      &lt;Text style={{ fontSize: 19, color: '#3E2A1E', lineHeight: 1.6 }}&gt;客人喺瀏覽器輸入網址 → 經 DNS 搵到你在 AWS 嘅伺服器 → Nginx 收到要求，轉去 Node.js 跑個預約系統 → 資料存落 SQLite 檔（喺 EBS 硬碟）。&lt;/Text&gt;&#10;      &lt;Box style={{ background: '#FFFFFF', borderRadius: 12, padding: '14px 18px', flexDirection: 'row', alignItems: 'center', gap: 12 }}&gt;&#10;        &lt;Box style={{ width: 34, height: 34, borderRadius: 17, background: '#C0392B', justifyContent: 'center', alignItems: 'center' }}&gt;&#10;          &lt;Text style={{ fontSize: 20, fontWeight: 'bold', color: '#fff' }}&gt;!&lt;/Text&gt;&#10;        &lt;/Box&gt;&#10;        &lt;Text style={{ fontSize: 17, color: '#3E2A1E' }}&gt;防火牆（安全組）只開必要端口，外面直接打 4000 係連唔入嘅。&lt;/Text&gt;&#10;      &lt;/Box&gt;&#10;      &lt;Box style={{ background: '#FFFFFF', borderRadius: 12, padding: '14px 18px', flexDirection: 'row', alignItems: 'center', gap: 12 }}&gt;&#10;        &lt;Box style={{ width: 34, height: 34, borderRadius: 17, background: '#7E9476', justifyContent: 'center', alignItems: 'center' }}&gt;&#10;          &lt;svg width={18} height={18} viewBox='0 0 24 24' fill='none' stroke='#fff' strokeWidth='2' strokeLinecap='round' strokeLinejoin='round'&gt;&lt;ellipse cx='12' cy='6' rx='8' ry='3'/&gt;&lt;path d='M4 6v12c0 1.7 3.6 3 8 3s8-1.3 8-3V6'/&gt;&lt;path d='M4 12c0 1.7 3.6 3 8 3s8-1.3 8-3'/&gt;&lt;/svg&gt;&#10;        &lt;/Box&gt;&#10;        &lt;Text style={{ fontSize: 17, color: '#3E2A1E' }}&gt;每日自動將 SQLite 備份去 S3，硬件壞咗都唔使驚。&lt;/Text&gt;&#10;      &lt;/Box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整體架構圖：你個網站會變成點</a:t>
            </a:r>
            <a:endParaRPr/>
          </a:p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85925"/>
            <a:ext cx="4953000" cy="409575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19800" y="2486025"/>
            <a:ext cx="5562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客人喺瀏覽器輸入網址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經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DNS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搵到你在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AWS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嘅伺服器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→ Nginx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收到要求，轉去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Node.js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跑個預約系統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資料存落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SQLite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檔（喺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EBS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硬碟）。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19800" y="3667125"/>
            <a:ext cx="55626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6191250" y="38004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324600" y="38481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629400" y="3867150"/>
            <a:ext cx="468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防火牆（安全組）只開必要端口，外面直接打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4000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係連唔入嘅。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19800" y="4391025"/>
            <a:ext cx="55626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191250" y="45243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267450" y="4600575"/>
            <a:ext cx="171450" cy="17145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629400" y="4591050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每日自動將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SQLite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備份去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S3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，硬件壞咗都唔使驚。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11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費用預估與免費層預警&lt;/Text&gt;&#10;  &lt;/Box&gt;&#10;  &lt;Box style={{ height: 540, paddingLeft: 64, paddingRight: 64, paddingTop: 6, flexDirection: 'row', gap: 24 }}&gt;&#10;    &lt;Box style={{ flex: 1.5, gap: 7 }}&gt;&#10;      &lt;Box style={{ flexDirection: 'row', backgroundColor: '#7E9476', borderRadius: 8, padding: '9px 14px', gap: 10, alignItems: 'center' }}&gt;&#10;        &lt;Text style={{ fontSize: 15, fontWeight: 'bold', color: '#fff', width: 170 }}&gt;項目&lt;/Text&gt;&#10;        &lt;Text style={{ fontSize: 15, fontWeight: 'bold', color: '#fff', width: 150 }}&gt;免費層(首12月)&lt;/Text&gt;&#10;        &lt;Text style={{ fontSize: 15, fontWeight: 'bold', color: '#fff', flex: 1 }}&gt;之後估計&lt;/Text&gt;&#10;      &lt;/Box&gt;&#10;      {[['EC2 t2.micro (1GB)','免費','約 $8–10 / 月'],['EBS 硬碟 20GB','免費(30GB內)','約 $2 / 月'],['流量 100GB/月','免費','超出 $0.09/GB'],['彈性 IP','免費(有掛載)','閒置 $3.6/月'],['SSL 證書 (Let’s Encrypt)','免費','免費'],['網域','—','約 $10–15 / 年']].map((r, i) =&gt; (&#10;        &lt;Box key={i} style={{ flexDirection: 'row', backgroundColor: '#FFFFFF', borderRadius: 8, padding: '9px 14px', gap: 10, alignItems: 'center' }}&gt;&#10;          &lt;Text style={{ fontSize: 15, color: '#3E2A1E', width: 170 }}&gt;{r[0]}&lt;/Text&gt;&#10;          &lt;Text style={{ fontSize: 15, color: '#5D4037', width: 150 }}&gt;{r[1]}&lt;/Text&gt;&#10;          &lt;Text style={{ fontSize: 15, color: '#3E2A1E', flex: 1 }}&gt;{r[2]}&lt;/Text&gt;&#10;        &lt;/Box&gt;&#10;      ))}&#10;      &lt;Box style={{ flexDirection: 'row', backgroundColor: '#5D4037', borderRadius: 8, padding: '11px 14px', gap: 10, alignItems: 'center' }}&gt;&#10;        &lt;Text style={{ fontSize: 16, fontWeight: 'bold', color: '#F0E4D2', width: 170 }}&gt;合計&lt;/Text&gt;&#10;        &lt;Text style={{ fontSize: 15, fontWeight: 'bold', color: '#F0E4D2', width: 150 }}&gt;$0&lt;/Text&gt;&#10;        &lt;Text style={{ fontSize: 16, fontWeight: 'bold', color: '#F0E4D2', flex: 1 }}&gt;約 $12–15 / 月（唔計網域）&lt;/Text&gt;&#10;      &lt;/Box&gt;&#10;    &lt;/Box&gt;&#10;    &lt;Box style={{ flex: 1, gap: 14, justifyContent: 'center' }}&gt;&#10;      &lt;Box style={{ backgroundColor: '#C0392B', borderRadius: 14, padding: '18px 20px' }}&gt;&#10;        &lt;Text style={{ fontSize: 19, fontWeight: 'bold', color: '#fff' }}&gt;預警 1：免費層得 12 個月&lt;/Text&gt;&#10;        &lt;Text style={{ fontSize: 16, color: '#fff', lineHeight: 1.6, marginTop: 8 }}&gt;免費層喺開帳號後 12 個月到期，之後會自動收費。一定要去 Billing → Budgets 設一個 $0 或 $20 嘅費用警報，避免被突然收錢。&lt;/Text&gt;&#10;      &lt;/Box&gt;&#10;      &lt;Box style={{ backgroundColor: '#FFFFFF', borderRadius: 14, padding: '18px 20px' }}&gt;&#10;        &lt;Text style={{ fontSize: 19, fontWeight: 'bold', color: '#3E2A1E' }}&gt;預警 2：彈性 IP 唔好閒置&lt;/Text&gt;&#10;        &lt;Text style={{ fontSize: 16, color: '#3E2A1E', lineHeight: 1.6, marginTop: 8 }}&gt;分配咗彈性 IP 但冇掛住伺服器，AWS 會當你浪費而收錢。正式上線時先申請彈性 IP 並掛返落 EC2。&lt;/Text&gt;&#10;      &lt;/Box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費用預估與免費層預警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1200150"/>
            <a:ext cx="6448425" cy="342900"/>
          </a:xfrm>
          <a:prstGeom prst="roundRect">
            <a:avLst>
              <a:gd name="adj" fmla="val 22222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42950" y="12858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項目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457450" y="12858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免費層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(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首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981450" y="1285875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之後估計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1609725"/>
            <a:ext cx="64484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42950" y="169545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EC2 t2.micro (1GB)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457450" y="16954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免費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981450" y="1695450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約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$8–10 /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2019300"/>
            <a:ext cx="64484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42950" y="210502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EBS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硬碟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20GB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457450" y="21050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免費</a:t>
            </a:r>
            <a:r>
              <a:rPr lang="en-US" sz="1125">
                <a:solidFill>
                  <a:srgbClr val="5D4037"/>
                </a:solidFill>
                <a:latin typeface="Microsoft YaHei"/>
                <a:ea typeface="Microsoft YaHei"/>
              </a:rPr>
              <a:t>(30GB</a:t>
            </a: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內</a:t>
            </a:r>
            <a:r>
              <a:rPr lang="en-US" sz="1125">
                <a:solidFill>
                  <a:srgbClr val="5D4037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981450" y="2105025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約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$2 /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2428875"/>
            <a:ext cx="64484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42950" y="2514600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流量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100GB/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2457450" y="25146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免費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981450" y="2514600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超出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$0.09/GB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2838450"/>
            <a:ext cx="64484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42950" y="29241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彈性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IP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457450" y="29241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免費</a:t>
            </a:r>
            <a:r>
              <a:rPr lang="en-US" sz="1125">
                <a:solidFill>
                  <a:srgbClr val="5D4037"/>
                </a:solidFill>
                <a:latin typeface="Microsoft YaHei"/>
                <a:ea typeface="Microsoft YaHei"/>
              </a:rPr>
              <a:t>(</a:t>
            </a: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有掛載</a:t>
            </a:r>
            <a:r>
              <a:rPr lang="en-US" sz="1125">
                <a:solidFill>
                  <a:srgbClr val="5D4037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981450" y="2924175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閒置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$3.6/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3248025"/>
            <a:ext cx="6448425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2950" y="3333750"/>
            <a:ext cx="16192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SSL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證書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(Let’s Encrypt)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457450" y="34194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D4037"/>
                </a:solidFill>
                <a:latin typeface="Microsoft YaHei"/>
                <a:ea typeface="Microsoft YaHei"/>
              </a:rPr>
              <a:t>免費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981450" y="3419475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免費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3829050"/>
            <a:ext cx="64484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42950" y="3914775"/>
            <a:ext cx="161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網域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457450" y="39147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5D4037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981450" y="3914775"/>
            <a:ext cx="2943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約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$10–15 /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4238625"/>
            <a:ext cx="6448425" cy="400050"/>
          </a:xfrm>
          <a:prstGeom prst="roundRect">
            <a:avLst>
              <a:gd name="adj" fmla="val 19048"/>
            </a:avLst>
          </a:prstGeom>
          <a:solidFill>
            <a:srgbClr val="5D4037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42950" y="43434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4D2"/>
                </a:solidFill>
                <a:latin typeface="Microsoft YaHei"/>
                <a:ea typeface="Microsoft YaHei"/>
              </a:rPr>
              <a:t>合計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2457450" y="43529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0E4D2"/>
                </a:solidFill>
                <a:latin typeface="Microsoft YaHei"/>
                <a:ea typeface="Microsoft YaHei"/>
              </a:rPr>
              <a:t>$0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981450" y="4343400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0E4D2"/>
                </a:solidFill>
                <a:latin typeface="Microsoft YaHei"/>
                <a:ea typeface="Microsoft YaHei"/>
              </a:rPr>
              <a:t>約</a:t>
            </a:r>
            <a:r>
              <a:rPr lang="en-US" sz="1200" b="1">
                <a:solidFill>
                  <a:srgbClr val="F0E4D2"/>
                </a:solidFill>
                <a:latin typeface="Microsoft YaHei"/>
                <a:ea typeface="Microsoft YaHei"/>
              </a:rPr>
              <a:t> $12–15 / </a:t>
            </a:r>
            <a:r>
              <a:rPr lang="zh-CN" sz="1200" b="1">
                <a:solidFill>
                  <a:srgbClr val="F0E4D2"/>
                </a:solidFill>
                <a:latin typeface="Microsoft YaHei"/>
                <a:ea typeface="Microsoft YaHei"/>
              </a:rPr>
              <a:t>月（唔計網域）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286625" y="2305050"/>
            <a:ext cx="4295775" cy="1524000"/>
          </a:xfrm>
          <a:prstGeom prst="roundRect">
            <a:avLst>
              <a:gd name="adj" fmla="val 875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77125" y="2476500"/>
            <a:ext cx="391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預警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1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：免費層得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12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個月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477125" y="2771775"/>
            <a:ext cx="39147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免費層喺開帳號後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個月到期，之後會自動收費。一定要去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Billing → Budgets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設一個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$0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或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$20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嘅費用警報，避免被突然收錢。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286625" y="3962400"/>
            <a:ext cx="4295775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77125" y="4133850"/>
            <a:ext cx="391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預警</a:t>
            </a:r>
            <a:r>
              <a:rPr lang="en-US" sz="1425" b="1">
                <a:solidFill>
                  <a:srgbClr val="3E2A1E"/>
                </a:solidFill>
                <a:latin typeface="Microsoft YaHei"/>
                <a:ea typeface="Microsoft YaHei"/>
              </a:rPr>
              <a:t> 2</a:t>
            </a: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：彈性</a:t>
            </a:r>
            <a:r>
              <a:rPr lang="en-US" sz="1425" b="1">
                <a:solidFill>
                  <a:srgbClr val="3E2A1E"/>
                </a:solidFill>
                <a:latin typeface="Microsoft YaHei"/>
                <a:ea typeface="Microsoft YaHei"/>
              </a:rPr>
              <a:t> IP </a:t>
            </a: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唔好閒置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477125" y="4429125"/>
            <a:ext cx="39147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分配咗彈性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IP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但冇掛住伺服器，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AWS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會當你浪費而收錢。正式上線時先申請彈性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IP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並掛返落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EC2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55" name="" descr="&lt;Slide style={{ background: 'linear-gradient(135deg,#7E9476 0%,#5D4037 100%)' }}&gt;&#10;  &lt;Box style={{ height: '100%', padding: '0 80px', flexDirection: 'column', justifyContent: 'center' }}&gt;&#10;    &lt;Text style={{ fontSize: 24, color: '#F0E4D2', letterSpacing: 2 }}&gt;第 1 章&lt;/Text&gt;&#10;    &lt;Text style={{ fontSize: 56, fontWeight: 'bold', color: '#FFFFFF', marginTop: 8 }}&gt;開帳號與建立伺服器&lt;/Text&gt;&#10;    &lt;Box style={{ width: 120, height: 6, background: '#F0E4D2', borderRadius: 3, marginTop: 24 }} /&gt;&#10;    &lt;Text style={{ fontSize: 20, color: '#F0E4D2', marginTop: 22 }}&gt;第 7–9 頁：開 AWS 帳號 → 建立 EC2 實例 → 瀏覽器連接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E9476"/>
              </a:gs>
              <a:gs pos="100000">
                <a:srgbClr val="5D403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62000" y="2571750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50">
                <a:solidFill>
                  <a:srgbClr val="F0E4D2"/>
                </a:solidFill>
                <a:latin typeface="Microsoft YaHei"/>
                <a:ea typeface="Microsoft YaHei"/>
              </a:rPr>
              <a:t>第</a:t>
            </a:r>
            <a:r>
              <a:rPr lang="en-US" sz="1800" spc="150">
                <a:solidFill>
                  <a:srgbClr val="F0E4D2"/>
                </a:solidFill>
                <a:latin typeface="Microsoft YaHei"/>
                <a:ea typeface="Microsoft YaHei"/>
              </a:rPr>
              <a:t> 1 </a:t>
            </a:r>
            <a:r>
              <a:rPr lang="zh-CN" sz="1800" spc="150">
                <a:solidFill>
                  <a:srgbClr val="F0E4D2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2924175"/>
            <a:ext cx="10668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開帳號與建立伺服器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62000" y="38004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62000" y="4067175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7–9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頁：開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AWS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帳號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建立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EC2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實例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瀏覽器連接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61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1 步：開 AWS 帳號與設定付款&lt;/Text&gt;&#10;  &lt;/Box&gt;&#10;  &lt;Box style={{ height: 540, paddingLeft: 64, paddingRight: 64, paddingTop: 10, flexDirection: 'column', gap: 12, justifyContent: 'center' }}&gt;&#10;    {[['去 aws.amazon.com，撳右上角「Create an AWS Account」（免費）'],['填 email、密碼，帳號名稱填你診所名（例如 AuroraClinic）'],['填聯絡資料：國家揀 Hong Kong，地址填得'],['填信用卡：會有 $1 授權驗證，幾日內退返，唔會扣錢'],['電話驗證：揀香港 +852，收 SMS 或來電入號碼'],['揀 Support plan：Basic（免費）就夠，撳「Complete sign-up」'],['登入 AWS Management Console，用返個 root 帳號 email 同密碼']].map((s, i) =&gt; (&#10;      &lt;Box key={i} style={{ flexDirection: 'row', alignItems: 'center', gap: 14 }}&gt;&#10;        &lt;Box style={{ width: 30, height: 30, borderRadius: 15, background: '#7E9476', justifyContent: 'center', alignItems: 'center' }}&gt;&#10;          &lt;Text style={{ fontSize: 16, fontWeight: 'bold', color: '#fff' }}&gt;{i + 1}&lt;/Text&gt;&#10;        &lt;/Box&gt;&#10;        &lt;Text style={{ fontSize: 19, color: '#3E2A1E' }}&gt;{s[0]}&lt;/Text&gt;&#10;      &lt;/Box&gt;&#10;    ))}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4924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1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步：開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AWS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帳號與設定付款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2419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28700" y="2457450"/>
            <a:ext cx="5762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去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aws.amazon.com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，撳右上角「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Create an AWS Account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」（免費）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2819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04850" y="2867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28700" y="285750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填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email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、密碼，帳號名稱填你診所名（例如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AuroraClinic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32194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04850" y="3267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28700" y="3257550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填聯絡資料：國家揀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Hong Kong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，地址填得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3619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4850" y="36671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28700" y="3657600"/>
            <a:ext cx="4305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填信用卡：會有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$1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授權驗證，幾日內退返，唔會扣錢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4019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04850" y="40671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28700" y="4057650"/>
            <a:ext cx="389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電話驗證：揀香港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+852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，收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SMS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或來電入號碼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44196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04850" y="44672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28700" y="4457700"/>
            <a:ext cx="536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揀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Support plan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Basic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（免費）就夠，撳「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Complete sign-up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48196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4850" y="48672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028700" y="4857750"/>
            <a:ext cx="5467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登入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AWS Management Console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，用返個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root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帳號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email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同密碼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8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2 步：建立 EC2 實例（你的伺服器）&lt;/Text&gt;&#10;  &lt;/Box&gt;&#10;  &lt;Box style={{ height: 540, paddingLeft: 64, paddingRight: 64, paddingTop: 6, flexDirection: 'row', gap: 24 }}&gt;&#10;    &lt;Box style={{ flex: 1.35, gap: 9, justifyContent: 'center' }}&gt;&#10;      {[['EC2 控制台 → Instances → 撳 Launch instances',''],['Name 填 aurora-clinic'],['AMI 揀 Ubuntu 22.04 LTS（剔免費層 eligible）'],['Instance type 揀 t2.micro（1 vCPU / 1GB，免費層）'],['Key pair：Create new → 名 aurora-key → 落 .pem'],['Network：Auto-assign public IP = Enable'],['Security group：開 SSH 22(只自己IP) / HTTP 80 / HTTPS 443'],['Storage：20 GB gp3 → Launch instance']].map((s, i) =&gt; (&#10;        &lt;Box key={i} style={{ flexDirection: 'row', alignItems: 'center', gap: 12 }}&gt;&#10;          &lt;Box style={{ width: 28, height: 28, borderRadius: 14, background: '#7E9476', justifyContent: 'center', alignItems: 'center' }}&gt;&#10;            &lt;Text style={{ fontSize: 15, fontWeight: 'bold', color: '#fff' }}&gt;{i + 1}&lt;/Text&gt;&#10;          &lt;/Box&gt;&#10;          &lt;Text style={{ fontSize: 17, color: '#3E2A1E' }}&gt;{s[0]}&lt;/Text&gt;&#10;        &lt;/Box&gt;&#10;      ))}&#10;    &lt;/Box&gt;&#10;    &lt;Box style={{ flex: 1, gap: 12, justifyContent: 'center' }}&gt;&#10;      &lt;Box style={{ backgroundColor: '#FFFFFF', borderRadius: 14, padding: '18px 20px' }}&gt;&#10;        &lt;Text style={{ fontSize: 19, fontWeight: 'bold', color: '#3E2A1E' }}&gt;關鍵設定一眼睇&lt;/Text&gt;&#10;        &lt;Text style={{ fontSize: 16, color: '#3E2A1E', lineHeight: 1.8, marginTop: 10 }}&gt;AMI：Ubuntu 22.04 LTS{'\n'}Type：t2.micro（免費層）{'\n'}硬碟：20GB gp3（EBS 持久）{'\n'}防火牆：80 / 443 / 22&lt;/Text&gt;&#10;      &lt;/Box&gt;&#10;      &lt;Box style={{ backgroundColor: '#C0392B', borderRadius: 14, padding: '18px 20px' }}&gt;&#10;        &lt;Text style={{ fontSize: 17, fontWeight: 'bold', color: '#fff' }}&gt;預警：1GB RAM 可能唔夠&lt;/Text&gt;&#10;        &lt;Text style={{ fontSize: 15, color: '#fff', lineHeight: 1.6, marginTop: 8 }}&gt;t2.micro 得 1GB，Node + SQLite 跑得，但個網站用緊 puppeteer 截圖，可能要更多 RAM。若遲啲經常死機，將 type 升到 t3.small（收費）就穩陣。&lt;/Text&gt;&#10;      &lt;/Box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5724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2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步：建立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EC2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實例（你的伺服器）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23812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95325" y="24288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90600" y="2419350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EC2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控制台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→ Instances →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撳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Launch instances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09600" y="27336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95325" y="27813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90600" y="2771775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Name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填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aurora-clinic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30861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95325" y="3133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90600" y="312420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AMI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揀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Ubuntu 22.04 LTS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（剔免費層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eligible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34385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95325" y="34861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990600" y="3476625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Instance type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揀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t2.micro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1 vCPU / 1GB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，免費層）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37909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95325" y="38385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90600" y="38290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Key pair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Create new →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名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aurora-key →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落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.pem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41433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95325" y="4191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90600" y="4181475"/>
            <a:ext cx="3209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Network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Auto-assign public IP = Enable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4495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95325" y="45434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90600" y="4533900"/>
            <a:ext cx="461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Security group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：開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SSH 22(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只自己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IP) / HTTP 80 / HTTPS 443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48482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95325" y="48958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90600" y="4886325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Storage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20 GB gp3 → Launch instance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7010400" y="1971675"/>
            <a:ext cx="4572000" cy="1981200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00900" y="2143125"/>
            <a:ext cx="419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E2A1E"/>
                </a:solidFill>
                <a:latin typeface="Microsoft YaHei"/>
                <a:ea typeface="Microsoft YaHei"/>
              </a:rPr>
              <a:t>關鍵設定一眼睇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200900" y="2457450"/>
            <a:ext cx="4191000" cy="13239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AMI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Ubuntu 22.04 LTS</a:t>
            </a:r>
            <a:endParaRPr/>
          </a:p>
          <a:p>
            <a:pPr>
              <a:lnSpc>
                <a:spcPct val="18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Type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t2.micro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（免費層）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硬碟：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20GB gp3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EBS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持久）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防火牆：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80 / 443 / 22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010400" y="4067175"/>
            <a:ext cx="4572000" cy="1447800"/>
          </a:xfrm>
          <a:prstGeom prst="roundRect">
            <a:avLst>
              <a:gd name="adj" fmla="val 9211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200900" y="4238625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預警：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1GB RAM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可能唔夠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200900" y="4514850"/>
            <a:ext cx="41910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t2.micro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得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1GB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Node + SQLite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跑得，但個網站用緊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puppeteer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截圖，可能要更多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RAM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。若遲啲經常死機，將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type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升到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t3.small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（收費）就穩陣。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24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3 步：連接 EC2（瀏覽器免裝嘢）&lt;/Text&gt;&#10;  &lt;/Box&gt;&#10;  &lt;Box style={{ height: 540, paddingLeft: 64, paddingRight: 64, paddingTop: 10, flexDirection: 'column', gap: 14, justifyContent: 'center' }}&gt;&#10;    {[['EC2 → Instances → 揀 aurora-clinic → 撳 Connect'],['揀「EC2 Instance Connect」→ 撳 Connect（瀏覽器彈出黑色 terminal，完全免裝軟件）'],['之後所有指令都喺呢個 terminal 入面打，複製貼上就得']].map((s, i) =&gt; (&#10;      &lt;Box key={i} style={{ flexDirection: 'row', alignItems: 'center', gap: 14 }}&gt;&#10;        &lt;Box style={{ width: 30, height: 30, borderRadius: 15, background: '#7E9476', justifyContent: 'center', alignItems: 'center' }}&gt;&#10;          &lt;Text style={{ fontSize: 16, fontWeight: 'bold', color: '#fff' }}&gt;{i + 1}&lt;/Text&gt;&#10;        &lt;/Box&gt;&#10;        &lt;Text style={{ fontSize: 19, color: '#3E2A1E' }}&gt;{s[0]}&lt;/Text&gt;&#10;      &lt;/Box&gt;&#10;    ))}&#10;    &lt;Box style={{ backgroundColor: '#5D4037', borderRadius: 14, padding: '16px 20px', marginTop: 6 }}&gt;&#10;      &lt;Text style={{ fontSize: 18, fontWeight: 'bold', color: '#F0E4D2' }}&gt;進階：用 Mac 終端機 SSH 登入&lt;/Text&gt;&#10;      &lt;Text style={{ fontSize: 16, color: '#F0E4D2', lineHeight: 1.7, marginTop: 8 }}&gt;Mac 已經內置 SSH，唔使裝 PuTTY。落咗嘅 .pem 鑰匙要先改權限：chmod 400 aurora-key.pem，然後打 ssh -i aurora-key.pem ubuntu@&amp;lt;Public-IP&amp;gt; 就登入。新手直接用上面嘅瀏覽器方法最簡單。&lt;/Text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5305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3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步：連接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EC2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（瀏覽器免裝嘢）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24955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04850" y="25431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28700" y="2533650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EC2 → Instances →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揀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aurora-clinic →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撳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Connect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29146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04850" y="29622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28700" y="2952750"/>
            <a:ext cx="7277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揀「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EC2 Instance Connect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」→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撳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Connect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（瀏覽器彈出黑色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terminal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，完全免裝軟件）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33337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04850" y="33813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028700" y="3371850"/>
            <a:ext cx="4448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之後所有指令都喺呢個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terminal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入面打，複製貼上就得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09600" y="3810000"/>
            <a:ext cx="10972800" cy="1219200"/>
          </a:xfrm>
          <a:prstGeom prst="roundRect">
            <a:avLst>
              <a:gd name="adj" fmla="val 10938"/>
            </a:avLst>
          </a:prstGeom>
          <a:solidFill>
            <a:srgbClr val="5D4037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00100" y="3962400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E4D2"/>
                </a:solidFill>
                <a:latin typeface="Microsoft YaHei"/>
                <a:ea typeface="Microsoft YaHei"/>
              </a:rPr>
              <a:t>進階：用</a:t>
            </a:r>
            <a:r>
              <a:rPr lang="en-US" sz="1350" b="1">
                <a:solidFill>
                  <a:srgbClr val="F0E4D2"/>
                </a:solidFill>
                <a:latin typeface="Microsoft YaHei"/>
                <a:ea typeface="Microsoft YaHei"/>
              </a:rPr>
              <a:t> Mac </a:t>
            </a:r>
            <a:r>
              <a:rPr lang="zh-CN" sz="1350" b="1">
                <a:solidFill>
                  <a:srgbClr val="F0E4D2"/>
                </a:solidFill>
                <a:latin typeface="Microsoft YaHei"/>
                <a:ea typeface="Microsoft YaHei"/>
              </a:rPr>
              <a:t>終端機</a:t>
            </a:r>
            <a:r>
              <a:rPr lang="en-US" sz="1350" b="1">
                <a:solidFill>
                  <a:srgbClr val="F0E4D2"/>
                </a:solidFill>
                <a:latin typeface="Microsoft YaHei"/>
                <a:ea typeface="Microsoft YaHei"/>
              </a:rPr>
              <a:t> SSH </a:t>
            </a:r>
            <a:r>
              <a:rPr lang="zh-CN" sz="1350" b="1">
                <a:solidFill>
                  <a:srgbClr val="F0E4D2"/>
                </a:solidFill>
                <a:latin typeface="Microsoft YaHei"/>
                <a:ea typeface="Microsoft YaHei"/>
              </a:rPr>
              <a:t>登入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00100" y="4248150"/>
            <a:ext cx="10591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Mac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已經內置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SSH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，唔使裝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PuTTY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。落咗嘅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.pem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鑰匙要先改權限：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chmod 400 aurora-key.pem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，然後打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ssh -i aurora-key.pem ubuntu@&lt;Public-IP&gt;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就登入。新手直接用上面嘅瀏覽器方法最簡單。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8" name="" descr="&lt;Slide style={{ background: 'linear-gradient(135deg,#7E9476 0%,#5D4037 100%)' }}&gt;&#10;  &lt;Box style={{ height: '100%', padding: '0 80px', flexDirection: 'column', justifyContent: 'center' }}&gt;&#10;    &lt;Text style={{ fontSize: 24, color: '#F0E4D2', letterSpacing: 2 }}&gt;第 2 章&lt;/Text&gt;&#10;    &lt;Text style={{ fontSize: 56, fontWeight: 'bold', color: '#FFFFFF', marginTop: 8 }}&gt;安裝環境與正式上線&lt;/Text&gt;&#10;    &lt;Box style={{ width: 120, height: 6, background: '#F0E4D2', borderRadius: 3, marginTop: 24 }} /&gt;&#10;    &lt;Text style={{ fontSize: 20, color: '#F0E4D2', marginTop: 22 }}&gt;第 11–17 頁：裝 Node → 上傳代碼 → PM2 → Nginx/HTTPS → 安全備份 → 上線清單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E9476"/>
              </a:gs>
              <a:gs pos="100000">
                <a:srgbClr val="5D403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571750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50">
                <a:solidFill>
                  <a:srgbClr val="F0E4D2"/>
                </a:solidFill>
                <a:latin typeface="Microsoft YaHei"/>
                <a:ea typeface="Microsoft YaHei"/>
              </a:rPr>
              <a:t>第</a:t>
            </a:r>
            <a:r>
              <a:rPr lang="en-US" sz="1800" spc="150">
                <a:solidFill>
                  <a:srgbClr val="F0E4D2"/>
                </a:solidFill>
                <a:latin typeface="Microsoft YaHei"/>
                <a:ea typeface="Microsoft YaHei"/>
              </a:rPr>
              <a:t> 2 </a:t>
            </a:r>
            <a:r>
              <a:rPr lang="zh-CN" sz="1800" spc="150">
                <a:solidFill>
                  <a:srgbClr val="F0E4D2"/>
                </a:solidFill>
                <a:latin typeface="Microsoft YaHei"/>
                <a:ea typeface="Microsoft YaHei"/>
              </a:rPr>
              <a:t>章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2924175"/>
            <a:ext cx="10668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安裝環境與正式上線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62000" y="38004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4067175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11–17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頁：裝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Node →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上傳代碼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→ PM2 → Nginx/HTTPS →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安全備份</a:t>
            </a:r>
            <a:r>
              <a:rPr lang="en-US" sz="1500">
                <a:solidFill>
                  <a:srgbClr val="F0E4D2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F0E4D2"/>
                </a:solidFill>
                <a:latin typeface="Microsoft YaHei"/>
                <a:ea typeface="Microsoft YaHei"/>
              </a:rPr>
              <a:t>上線清單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4 步：安裝 Node.js 與系統依賴&lt;/Text&gt;&#10;  &lt;/Box&gt;&#10;  &lt;Box style={{ height: 540, paddingLeft: 64, paddingRight: 64, paddingTop: 8, flexDirection: 'row', gap: 24 }}&gt;&#10;    &lt;Box style={{ width: 360, justifyContent: 'center', gap: 14 }}&gt;&#10;      &lt;Text style={{ fontSize: 19, color: '#3E2A1E', lineHeight: 1.6 }}&gt;喺 EC2 個 terminal 入面，逐段貼落去執行：&lt;/Text&gt;&#10;      &lt;Box style={{ backgroundColor: '#FFFFFF', borderRadius: 12, padding: '14px 16px' }}&gt;&#10;        &lt;Text style={{ fontSize: 16, color: '#3E2A1E', lineHeight: 1.6 }}&gt;1. 更新系統&lt;Text style={{ color: '#7c6f63' }}&gt;（約幾分鐘）&lt;/Text&gt;&lt;/Text&gt;&#10;        &lt;Text style={{ fontSize: 16, color: '#3E2A1E', lineHeight: 1.6, marginTop: 8 }}&gt;2. 裝 Node.js 20 LTS&lt;/Text&gt;&#10;        &lt;Text style={{ fontSize: 16, color: '#3E2A1E', lineHeight: 1.6, marginTop: 8 }}&gt;3. 裝 puppeteer 要嘅系統 lib&lt;/Text&gt;&#10;        &lt;Text style={{ fontSize: 16, color: '#3E2A1E', lineHeight: 1.6, marginTop: 8 }}&gt;4. 裝 PM2（之後用嚟常駐）&lt;/Text&gt;&#10;      &lt;/Box&gt;&#10;    &lt;/Box&gt;&#10;    &lt;Box style={{ flex: 1, justifyContent: 'center' }}&gt;&#10;      &lt;CodeBlock&#10;        code={`# 1) 更新系統&#10;sudo apt update &amp;&amp; sudo apt upgrade -y&#10;&#10;# 2) 裝 Node.js 20 LTS&#10;curl -fsSL https://deb.nodesource.com/setup_20.x | sudo -E bash -&#10;sudo apt install -y nodejs&#10;node -v        # 應該顯示 v20.x&#10;&#10;# 3) puppeteer 跑 Chrome 所需系統 lib&#10;sudo apt install -y libnss3 libatk-bridge2.0-0 libcups2 libdrm2 libxkbcommon0 libxcomposite1 libxdamage1 libxfixes3 libxrandr2 libgbm1 libasound2 libpango-1.0-0 libcairo2 fonts-noto-cjk unzip&#10;&#10;# 4) 裝 PM2（永遠執行 + 開機自啟）&#10;sudo npm install -g pm2`}&#10;        language='bash'&#10;        width={680}&#10;        fontSize={12}&#10;      /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4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步：安裝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Node.js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與系統依賴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2505075"/>
            <a:ext cx="3429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喺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EC2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個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terminal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入面，逐段貼落去執行：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3333750"/>
            <a:ext cx="3429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62000" y="3467100"/>
            <a:ext cx="3124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1.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更新系統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（約幾分鐘）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62000" y="3838575"/>
            <a:ext cx="3124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2.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裝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Node.js 20 LTS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62000" y="4210050"/>
            <a:ext cx="3124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3.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裝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puppeteer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要嘅系統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lib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62000" y="4581525"/>
            <a:ext cx="3124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4.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裝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PM2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（之後用嚟常駐）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267200" y="2371725"/>
            <a:ext cx="7315200" cy="2771775"/>
          </a:xfrm>
          <a:prstGeom prst="roundRect">
            <a:avLst>
              <a:gd name="adj" fmla="val 2749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27" name=""/>
          <p:cNvSpPr txBox="1"/>
          <p:nvPr/>
        </p:nvSpPr>
        <p:spPr>
          <a:xfrm rot="0" flipH="0" flipV="0">
            <a:off x="4419600" y="2505075"/>
            <a:ext cx="12011025" cy="2505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1) 更新系統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apt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update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&amp;&amp; 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apt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upgrade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-y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2) 裝 Node.js 20 LTS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curl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-fsSL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https://deb.nodesource.com/setup_20.x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D73A49"/>
                </a:solidFill>
                <a:latin typeface="Menlo"/>
                <a:ea typeface="Menlo"/>
              </a:rPr>
              <a:t>|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bash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-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apt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install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-y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nodejs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node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-v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應該顯示 v20.x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3) puppeteer 跑 Chrome 所需系統 lib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apt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install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-y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libnss3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libatk-bridge2.0-0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libcups2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libdrm2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libxkbcommon0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libxcomposite1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libxdamage1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libxfixes3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libxrandr2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libgbm1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libasound2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libpango-1.0-0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libcairo2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fonts-noto-cjk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unzip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# 4) 裝 PM2（永遠執行 + 開機自啟）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npm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install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05CC5"/>
                </a:solidFill>
                <a:latin typeface="Menlo"/>
                <a:ea typeface="Menlo"/>
              </a:rPr>
              <a:t>-g</a:t>
            </a:r>
            <a:r>
              <a:rPr sz="90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00">
                <a:solidFill>
                  <a:srgbClr val="032F62"/>
                </a:solidFill>
                <a:latin typeface="Menlo"/>
                <a:ea typeface="Menlo"/>
              </a:rPr>
              <a:t>pm2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5 步：上傳代碼與 .env 安全設定&lt;/Text&gt;&#10;  &lt;/Box&gt;&#10;  &lt;Box style={{ height: 540, paddingLeft: 64, paddingRight: 64, paddingTop: 8, flexDirection: 'row', gap: 24 }}&gt;&#10;    &lt;Box style={{ flex: 1.25, justifyContent: 'center' }}&gt;&#10;      &lt;CodeBlock&#10;        code={`# 方法 A：用 git（你嘅 repo）&#10;cd ~&#10;git clone &lt;你嘅repo網址&gt; app&#10;cd app&#10;&#10;# 方法 B：由自己 Mac / Linux 終端機 scp 上傳&#10;# chmod 400 aurora-key.pem   # 先改鑰匙權限（只需一次）&#10;# scp -i aurora-key.pem -r ./booking-aurora ubuntu@&lt;Public-IP&gt;:~/app&#10;&#10;# 裝生產用依賴（唔裝 dev）&#10;cd ~/app&#10;npm install --omit=dev&#10;&#10;# 建立生產 .env（千萬唔好 copy 本地有 CAPTCHA_TEST_BYPASS 嗰個）&#10;cp .env.example .env&#10;nano .env`}&#10;        language='bash'&#10;        width={620}&#10;        fontSize={13}&#10;      /&gt;&#10;    &lt;/Box&gt;&#10;    &lt;Box style={{ flex: 1, gap: 12, justifyContent: 'center' }}&gt;&#10;      &lt;Box style={{ backgroundColor: '#C0392B', borderRadius: 14, padding: '16px 18px' }}&gt;&#10;        &lt;Text style={{ fontSize: 18, fontWeight: 'bold', color: '#fff' }}&gt;預警：.env 最大伏位&lt;/Text&gt;&#10;        &lt;Text style={{ fontSize: 15, color: '#fff', lineHeight: 1.6, marginTop: 8 }}&gt;絕對唔好將 CAPTCHA_TEST_BYPASS 放落生產 .env —— 等於開咗後門，任何人填 captchaAnswer=test999 就繞過驗證碼登入。&lt;/Text&gt;&#10;      &lt;/Box&gt;&#10;      &lt;Box style={{ backgroundColor: '#FFFFFF', borderRadius: 14, padding: '16px 18px' }}&gt;&#10;        &lt;Text style={{ fontSize: 16, color: '#3E2A1E', lineHeight: 1.7 }}&gt;SESSION_SECRET 必須設定：&lt;Text style={{ fontWeight: 'bold' }}&gt;node -e &quot;console.log(require('crypto').randomBytes(48).toString('base64url'))&quot;&lt;/Text&gt; 複製結果落 .env。同時 NODE_ENV=production、PORT=4000。&lt;/Text&gt;&#10;        &lt;Text style={{ fontSize: 16, color: '#3E2A1E', lineHeight: 1.7, marginTop: 8 }}&gt;.env 記得加落 .gitignore，唔好 commit 去 git。&lt;/Text&gt;&#10;      &lt;/Box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5153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5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步：上傳代碼與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.env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安全設定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810375" y="2152650"/>
            <a:ext cx="4772025" cy="1143000"/>
          </a:xfrm>
          <a:prstGeom prst="roundRect">
            <a:avLst>
              <a:gd name="adj" fmla="val 11667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981825" y="2305050"/>
            <a:ext cx="4429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預警：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.env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最大伏位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981825" y="2590800"/>
            <a:ext cx="44291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絕對唔好將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CAPTCHA_TEST_BYPASS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放落生產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.env ——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等於開咗後門，任何人填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captchaAnswer=test999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就繞過驗證碼登入。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10375" y="3409950"/>
            <a:ext cx="4772025" cy="194310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981825" y="3562350"/>
            <a:ext cx="5019675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SESSION_SECRET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必須設定：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node -e "console.log(require('crypto').randomBytes(48).toString('base64url'))"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複製結果落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.env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。同時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NODE_ENV=production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PORT=4000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981825" y="4886325"/>
            <a:ext cx="44291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.env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記得加落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.gitignore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，唔好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commit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去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git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952625"/>
            <a:ext cx="5972175" cy="3600450"/>
          </a:xfrm>
          <a:prstGeom prst="roundRect">
            <a:avLst>
              <a:gd name="adj" fmla="val 211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41" name=""/>
          <p:cNvSpPr txBox="1"/>
          <p:nvPr/>
        </p:nvSpPr>
        <p:spPr>
          <a:xfrm rot="0" flipH="0" flipV="0">
            <a:off x="762000" y="2085975"/>
            <a:ext cx="5667375" cy="3333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方法 A：用 git（你嘅 repo）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cd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~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git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clone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你嘅repo網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址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&gt;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app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cd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app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方法 B：由自己 Mac / Linux 終端機 scp 上傳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chmod 400 aurora-key.pem   # 先改鑰匙權限（只需一次）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scp -i aurora-key.pem -r ./booking-aurora ubuntu@&lt;Public-IP&gt;:~/app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裝生產用依賴（唔裝 dev）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cd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~/app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npm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install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--omit=dev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建立生產 .env（千萬唔好 copy 本地有 CAPTCHA_TEST_BYPASS 嗰個）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cp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.env.example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.env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nano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.env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6 步：PM2 常駐與開機自啟&lt;/Text&gt;&#10;  &lt;/Box&gt;&#10;  &lt;Box style={{ height: 540, paddingLeft: 64, paddingRight: 64, paddingTop: 8, flexDirection: 'row', gap: 24 }}&gt;&#10;    &lt;Box style={{ width: 380, justifyContent: 'center', gap: 12 }}&gt;&#10;      &lt;Text style={{ fontSize: 19, color: '#3E2A1E', lineHeight: 1.6 }}&gt;PM2 會幫你嘅 Node 程式：永遠執行、崩咗自動重啟、伺服器重開自動起返。&lt;/Text&gt;&#10;      &lt;Box style={{ backgroundColor: '#FFFFFF', borderRadius: 12, padding: '14px 16px' }}&gt;&#10;        &lt;Text style={{ fontSize: 16, color: '#3E2A1E', lineHeight: 1.7 }}&gt;項目已經有 &lt;Text style={{ fontWeight: 'bold' }}&gt;ecosystem.config.js&lt;/Text&gt;，PM2 名係 &lt;Text style={{ fontWeight: 'bold' }}&gt;potin-clinic&lt;/Text&gt;。SQLite 一定要 &lt;Text style={{ fontWeight: 'bold' }}&gt;instances: 1&lt;/Text&gt;（單寫入者），千萬唔好設 cluster。&lt;/Text&gt;&#10;      &lt;/Box&gt;&#10;    &lt;/Box&gt;&#10;    &lt;Box style={{ flex: 1, justifyContent: 'center' }}&gt;&#10;      &lt;CodeBlock&#10;        code={`# 用項目設定啟動&#10;pm2 start ecosystem.config.js&#10;pm2 save&#10;pm2 startup      # 跟指示執行返回嘅 sudo 指令&#10;&#10;# 睇即時 log（有冇 error）&#10;pm2 logs potin-clinic&#10;&#10;# 之後改咗 code 要重啟：&#10;pm2 restart potin-clinic`}&#10;        language='bash'&#10;        width={660}&#10;        fontSize={14}&#10;      /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4476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6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PM2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常駐與開機自啟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2752725"/>
            <a:ext cx="3619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PM2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會幫你嘅</a:t>
            </a:r>
            <a:r>
              <a:rPr lang="en-US" sz="1425">
                <a:solidFill>
                  <a:srgbClr val="3E2A1E"/>
                </a:solidFill>
                <a:latin typeface="Microsoft YaHei"/>
                <a:ea typeface="Microsoft YaHei"/>
              </a:rPr>
              <a:t> Node </a:t>
            </a:r>
            <a:r>
              <a:rPr lang="zh-CN" sz="1425">
                <a:solidFill>
                  <a:srgbClr val="3E2A1E"/>
                </a:solidFill>
                <a:latin typeface="Microsoft YaHei"/>
                <a:ea typeface="Microsoft YaHei"/>
              </a:rPr>
              <a:t>程式：永遠執行、崩咗自動重啟、伺服器重開自動起返。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3562350"/>
            <a:ext cx="3619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62000" y="3695700"/>
            <a:ext cx="33147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項目已經有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ecosystem.config.js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PM2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名係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potin-clinic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SQLite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一定要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instances: 1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（單寫入者），千萬唔好設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cluster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457700" y="2495550"/>
            <a:ext cx="7124700" cy="2514600"/>
          </a:xfrm>
          <a:prstGeom prst="roundRect">
            <a:avLst>
              <a:gd name="adj" fmla="val 3030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52" name=""/>
          <p:cNvSpPr txBox="1"/>
          <p:nvPr/>
        </p:nvSpPr>
        <p:spPr>
          <a:xfrm rot="0" flipH="0" flipV="0">
            <a:off x="4610100" y="2628900"/>
            <a:ext cx="6819900" cy="2247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用項目設定啟動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start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ecosystem.config.js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save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startup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跟指示執行返回嘅 sudo 指令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睇即時 log（有冇 error）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logs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potin-clinic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之後改咗 code 要重啟：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restart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potin-clinic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7 步：Nginx 反向代理 + HTTPS + 網域&lt;/Text&gt;&#10;  &lt;/Box&gt;&#10;  &lt;Box style={{ height: 540, paddingLeft: 64, paddingRight: 64, paddingTop: 8, flexDirection: 'row', gap: 24 }}&gt;&#10;    &lt;Box style={{ flex: 1.2, justifyContent: 'center' }}&gt;&#10;      &lt;Text style={{ fontSize: 16, color: '#3E2A1E', marginBottom: 6 }}&gt;建立 Nginx 設定檔 &lt;Text style={{ fontWeight: 'bold' }}&gt;/etc/nginx/sites-available/aurora&lt;/Text&gt;：&lt;/Text&gt;&#10;      &lt;CodeBlock&#10;        code={`server {&#10;  listen 80;&#10;  server_name yourdomain.com www.yourdomain.com;&#10;  location / {&#10;    proxy_pass http://localhost:4000;&#10;    proxy_set_header Host $host;&#10;    proxy_set_header X-Real-IP $remote_addr;&#10;    proxy_set_header X-Forwarded-For $proxy_add_x_forwarded_for;&#10;    proxy_set_header X-Forwarded-Proto $scheme;&#10;  }&#10;}`}&#10;        language='nginx'&#10;        width={600}&#10;        fontSize={12}&#10;      /&gt;&#10;    &lt;/Box&gt;&#10;    &lt;Box style={{ flex: 1, gap: 10, justifyContent: 'center' }}&gt;&#10;      {[['生效設定','sudo ln -s /etc/nginx/sites-available/aurora /etc/nginx/sites-enabled/ ; sudo nginx -t ; sudo systemctl restart nginx'],['開防火牆','sudo ufw allow &quot;Nginx Full&quot; ; sudo ufw allow OpenSSH ; sudo ufw enable'],['裝 HTTPS 證書','sudo apt install -y certbot python3-certbot-nginx ; sudo certbot --nginx -d yourdomain.com -d www.yourdomain.com'],['測試續期','sudo certbot renew --dry-run'],['綁網域','DNS 加 A 記錄 → EC2 彈性 IP（先申請 Elastic IP 固定地址）']].map((s, i) =&gt; (&#10;        &lt;Box key={i} style={{ flexDirection: 'row', alignItems: 'flex-start', gap: 12 }}&gt;&#10;          &lt;Box style={{ width: 28, height: 28, borderRadius: 14, background: '#7E9476', justifyContent: 'center', alignItems: 'center' }}&gt;&#10;            &lt;Text style={{ fontSize: 15, fontWeight: 'bold', color: '#fff' }}&gt;{i + 1}&lt;/Text&gt;&#10;          &lt;/Box&gt;&#10;          &lt;Text style={{ fontSize: 15, color: '#3E2A1E', flex: 1 }}&gt;&lt;Text style={{ fontWeight: 'bold' }}&gt;{s[0]}：&lt;/Text&gt; {s[1]}&lt;/Text&gt;&#10;        &lt;/Box&gt;&#10;      ))}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6362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7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Nginx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反向代理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+ HTTPS +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網域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5857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建立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Nginx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設定檔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/etc/nginx/sites-available/aurora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696075" y="25717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781800" y="26193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077075" y="2571750"/>
            <a:ext cx="4505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生效設定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sudo ln -s /etc/nginx/sites-available/aurora /etc/nginx/sites-enabled/ ; sudo nginx -t ; sudo systemctl restart nginx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696075" y="31813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781800" y="32289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077075" y="3181350"/>
            <a:ext cx="45053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開防火牆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sudo ufw allow "Nginx Full" ; sudo ufw allow OpenSSH ; sudo ufw enable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696075" y="36195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781800" y="36671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077075" y="3619500"/>
            <a:ext cx="4505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裝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HTTPS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證書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sudo apt install -y certbot python3-certbot-nginx ; sudo certbot --nginx -d yourdomain.com -d www.yourdomain.com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696075" y="42291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781800" y="4276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077075" y="4229100"/>
            <a:ext cx="4505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測試續期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sudo certbot renew --dry-run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696075" y="4591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781800" y="46386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77075" y="4591050"/>
            <a:ext cx="45053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綁網域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DNS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加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A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記錄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→ EC2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彈性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IP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（先申請</a:t>
            </a:r>
            <a:r>
              <a:rPr lang="en-US" sz="1125">
                <a:solidFill>
                  <a:srgbClr val="3E2A1E"/>
                </a:solidFill>
                <a:latin typeface="Microsoft YaHei"/>
                <a:ea typeface="Microsoft YaHei"/>
              </a:rPr>
              <a:t> Elastic IP </a:t>
            </a:r>
            <a:r>
              <a:rPr lang="zh-CN" sz="1125">
                <a:solidFill>
                  <a:srgbClr val="3E2A1E"/>
                </a:solidFill>
                <a:latin typeface="Microsoft YaHei"/>
                <a:ea typeface="Microsoft YaHei"/>
              </a:rPr>
              <a:t>固定地址）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2990850"/>
            <a:ext cx="5857875" cy="1781175"/>
          </a:xfrm>
          <a:prstGeom prst="roundRect">
            <a:avLst>
              <a:gd name="adj" fmla="val 4278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76" name=""/>
          <p:cNvSpPr txBox="1"/>
          <p:nvPr/>
        </p:nvSpPr>
        <p:spPr>
          <a:xfrm rot="0" flipH="0" flipV="0">
            <a:off x="762000" y="3124200"/>
            <a:ext cx="5553075" cy="1514475"/>
          </a:xfrm>
          <a:prstGeom prst="rect"/>
        </p:spPr>
        <p:txBody>
          <a:bodyPr wrap="square" lIns="0" tIns="0" rIns="0" bIns="0">
            <a:normAutofit/>
          </a:bodyPr>
          <a:p>
            <a:pPr/>
            <a:r>
              <a:rPr sz="900">
                <a:solidFill>
                  <a:srgbClr val="E5E7EB"/>
                </a:solidFill>
                <a:latin typeface="Menlo"/>
                <a:ea typeface="Menlo"/>
              </a:rPr>
              <a:t>server {
  listen 80;
  server_name yourdomain.com www.yourdomain.com;
  location / {
    proxy_pass http://localhost:4000;
    proxy_set_header Host $host;
    proxy_set_header X-Real-IP $remote_addr;
    proxy_set_header X-Forwarded-For $proxy_add_x_forwarded_for;
    proxy_set_header X-Forwarded-Proto $scheme;
  }
}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77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第 8 步：安全強化與資料備份&lt;/Text&gt;&#10;  &lt;/Box&gt;&#10;  &lt;Box style={{ height: 540, paddingLeft: 64, paddingRight: 64, paddingTop: 6, flexDirection: 'row', gap: 18 }}&gt;&#10;    &lt;Box style={{ flex: 1, gap: 18, justifyContent: 'center' }}&gt;&#10;      &lt;Box style={{ backgroundColor: '#FFFFFF', borderRadius: 14, padding: '18px 20px', borderLeft: '6px solid #C0392B' }}&gt;&#10;        &lt;Text style={{ fontSize: 20, fontWeight: 'bold', color: '#3E2A1E' }}&gt;防火牆最小化&lt;/Text&gt;&#10;        &lt;Text style={{ fontSize: 16, color: '#3E2A1E', lineHeight: 1.6, marginTop: 8 }}&gt;安全組只開 80 / 443 / 22。22 號（SSH）可以改為只限自己 IP，或用 Instance Connect 之後索性關咗 22 號埠。&lt;/Text&gt;&#10;      &lt;/Box&gt;&#10;      &lt;Box style={{ backgroundColor: '#FFFFFF', borderRadius: 14, padding: '18px 20px', borderLeft: '6px solid #7E9476' }}&gt;&#10;        &lt;Text style={{ fontSize: 20, fontWeight: 'bold', color: '#3E2A1E' }}&gt;系統自動更新&lt;/Text&gt;&#10;        &lt;Text style={{ fontSize: 16, color: '#3E2A1E', lineHeight: 1.6, marginTop: 8 }}&gt;sudo apt install -y unattended-upgrades，令 Ubuntu 自動執行安全補丁，唔使記得手動 update。&lt;/Text&gt;&#10;      &lt;/Box&gt;&#10;    &lt;/Box&gt;&#10;    &lt;Box style={{ flex: 1, gap: 18, justifyContent: 'center' }}&gt;&#10;      &lt;Box style={{ backgroundColor: '#FFFFFF', borderRadius: 14, padding: '18px 20px', borderLeft: '6px solid #C0392B' }}&gt;&#10;        &lt;Text style={{ fontSize: 20, fontWeight: 'bold', color: '#3E2A1E' }}&gt;禁密碼 SSH 登入&lt;/Text&gt;&#10;        &lt;Text style={{ fontSize: 16, color: '#3E2A1E', lineHeight: 1.6, marginTop: 8 }}&gt;改 /etc/ssh/sshd_config 設 PasswordAuthentication no，之後淨係可以用 key 登入，防暴力破解。&lt;/Text&gt;&#10;      &lt;/Box&gt;&#10;      &lt;Box style={{ backgroundColor: '#FFFFFF', borderRadius: 14, padding: '18px 20px', borderLeft: '6px solid #7E9476' }}&gt;&#10;        &lt;Text style={{ fontSize: 20, fontWeight: 'bold', color: '#3E2A1E' }}&gt;每日 S3 備份&lt;/Text&gt;&#10;        &lt;Text style={{ fontSize: 16, color: '#3E2A1E', lineHeight: 1.6, marginTop: 8 }}&gt;aws s3 cp ~/app/database.db s3://aurora-backups/db-$(date +%F).db，再加落 crontab 每日 3:30 自動執行。&lt;/Text&gt;&#10;      &lt;/Box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4286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第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 8 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步：安全強化與資料備份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66750" y="2419350"/>
            <a:ext cx="540067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666750" y="2419350"/>
            <a:ext cx="5400675" cy="1238250"/>
          </a:xfrm>
          <a:custGeom>
            <a:pathLst>
              <a:path w="567" h="130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2"/>
                </a:lnTo>
                <a:cubicBezTo>
                  <a:pt x="6" y="126"/>
                  <a:pt x="9" y="129"/>
                  <a:pt x="13" y="130"/>
                </a:cubicBezTo>
                <a:cubicBezTo>
                  <a:pt x="5" y="129"/>
                  <a:pt x="0" y="123"/>
                  <a:pt x="0" y="11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57250" y="259080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E2A1E"/>
                </a:solidFill>
                <a:latin typeface="Microsoft YaHei"/>
                <a:ea typeface="Microsoft YaHei"/>
              </a:rPr>
              <a:t>防火牆最小化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57250" y="2895600"/>
            <a:ext cx="4962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安全組只開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80 / 443 / 22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22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號（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SSH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）可以改為只限自己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IP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，或用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Instance Connect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之後索性關咗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22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號埠。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66750" y="3829050"/>
            <a:ext cx="540067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666750" y="3829050"/>
            <a:ext cx="5400675" cy="1238250"/>
          </a:xfrm>
          <a:custGeom>
            <a:pathLst>
              <a:path w="567" h="130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2"/>
                </a:lnTo>
                <a:cubicBezTo>
                  <a:pt x="6" y="126"/>
                  <a:pt x="9" y="129"/>
                  <a:pt x="13" y="130"/>
                </a:cubicBezTo>
                <a:cubicBezTo>
                  <a:pt x="5" y="129"/>
                  <a:pt x="0" y="123"/>
                  <a:pt x="0" y="11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7E9476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57250" y="400050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E2A1E"/>
                </a:solidFill>
                <a:latin typeface="Microsoft YaHei"/>
                <a:ea typeface="Microsoft YaHei"/>
              </a:rPr>
              <a:t>系統自動更新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57250" y="4305300"/>
            <a:ext cx="4962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sudo apt install -y unattended-upgrades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，令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Ubuntu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自動執行安全補丁，唔使記得手動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update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238875" y="2419350"/>
            <a:ext cx="540067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238875" y="2419350"/>
            <a:ext cx="5400675" cy="1238250"/>
          </a:xfrm>
          <a:custGeom>
            <a:pathLst>
              <a:path w="567" h="130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2"/>
                </a:lnTo>
                <a:cubicBezTo>
                  <a:pt x="6" y="126"/>
                  <a:pt x="9" y="129"/>
                  <a:pt x="13" y="130"/>
                </a:cubicBezTo>
                <a:cubicBezTo>
                  <a:pt x="5" y="129"/>
                  <a:pt x="0" y="123"/>
                  <a:pt x="0" y="11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429375" y="259080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E2A1E"/>
                </a:solidFill>
                <a:latin typeface="Microsoft YaHei"/>
                <a:ea typeface="Microsoft YaHei"/>
              </a:rPr>
              <a:t>禁密碼</a:t>
            </a:r>
            <a:r>
              <a:rPr lang="en-US" sz="1500" b="1">
                <a:solidFill>
                  <a:srgbClr val="3E2A1E"/>
                </a:solidFill>
                <a:latin typeface="Microsoft YaHei"/>
                <a:ea typeface="Microsoft YaHei"/>
              </a:rPr>
              <a:t> SSH </a:t>
            </a:r>
            <a:r>
              <a:rPr lang="zh-CN" sz="1500" b="1">
                <a:solidFill>
                  <a:srgbClr val="3E2A1E"/>
                </a:solidFill>
                <a:latin typeface="Microsoft YaHei"/>
                <a:ea typeface="Microsoft YaHei"/>
              </a:rPr>
              <a:t>登入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429375" y="2895600"/>
            <a:ext cx="4962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改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/etc/ssh/sshd_config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設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PasswordAuthentication no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，之後淨係可以用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key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登入，防暴力破解。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238875" y="3829050"/>
            <a:ext cx="540067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238875" y="3829050"/>
            <a:ext cx="5400675" cy="1238250"/>
          </a:xfrm>
          <a:custGeom>
            <a:pathLst>
              <a:path w="567" h="130">
                <a:moveTo>
                  <a:pt x="13" y="0"/>
                </a:moveTo>
                <a:cubicBezTo>
                  <a:pt x="9" y="0"/>
                  <a:pt x="6" y="4"/>
                  <a:pt x="6" y="8"/>
                </a:cubicBezTo>
                <a:lnTo>
                  <a:pt x="6" y="122"/>
                </a:lnTo>
                <a:cubicBezTo>
                  <a:pt x="6" y="126"/>
                  <a:pt x="9" y="129"/>
                  <a:pt x="13" y="130"/>
                </a:cubicBezTo>
                <a:cubicBezTo>
                  <a:pt x="5" y="129"/>
                  <a:pt x="0" y="123"/>
                  <a:pt x="0" y="116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7E9476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429375" y="400050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E2A1E"/>
                </a:solidFill>
                <a:latin typeface="Microsoft YaHei"/>
                <a:ea typeface="Microsoft YaHei"/>
              </a:rPr>
              <a:t>每日</a:t>
            </a:r>
            <a:r>
              <a:rPr lang="en-US" sz="1500" b="1">
                <a:solidFill>
                  <a:srgbClr val="3E2A1E"/>
                </a:solidFill>
                <a:latin typeface="Microsoft YaHei"/>
                <a:ea typeface="Microsoft YaHei"/>
              </a:rPr>
              <a:t> S3 </a:t>
            </a:r>
            <a:r>
              <a:rPr lang="zh-CN" sz="1500" b="1">
                <a:solidFill>
                  <a:srgbClr val="3E2A1E"/>
                </a:solidFill>
                <a:latin typeface="Microsoft YaHei"/>
                <a:ea typeface="Microsoft YaHei"/>
              </a:rPr>
              <a:t>備份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429375" y="4305300"/>
            <a:ext cx="4962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aws s3 cp ~/app/database.db s3://aurora-backups/db-$(date +%F).db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，再加落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crontab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每日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3:30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自動執行。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上線前檢查清單（Go-Live Checklist）&lt;/Text&gt;&#10;  &lt;/Box&gt;&#10;  &lt;Box style={{ height: 540, paddingLeft: 64, paddingRight: 64, paddingTop: 12, flexDirection: 'row', gap: 30 }}&gt;&#10;    &lt;Box style={{ flex: 1, gap: 14, justifyContent: 'center' }}&gt;&#10;      {['刪走 .env 入面嘅 CAPTCHA_TEST_BYPASS（後門）','改晒弱密碼（admin 12345678、staff01、cheuk951211、8udc）','WhatsApp 轉正式通道（Twilio sandbox → 正式號碼）','Stripe 設定好，或決定暫時唔開放付款升級'].map((t, i) =&gt; (&#10;        &lt;Box key={i} style={{ flexDirection: 'row', alignItems: 'center', gap: 12 }}&gt;&#10;          &lt;Box style={{ width: 24, height: 24, borderRadius: 6, border: '2px solid #7E9476', backgroundColor: '#FFFFFF' }} /&gt;&#10;          &lt;Text style={{ fontSize: 17, color: '#3E2A1E', flex: 1 }}&gt;{t}&lt;/Text&gt;&#10;        &lt;/Box&gt;&#10;      ))}&#10;    &lt;/Box&gt;&#10;    &lt;Box style={{ flex: 1, gap: 14, justifyContent: 'center' }}&gt;&#10;      {['NODE_ENV=production、ALLOWED_ORIGINS、SITE_URL 設好','pm2 常駐 + pm2 startup 開機自啟','HTTPS 綠色鎖生效（網址前面把鎖）','備份排程有實際跑（S3 有今日檔）'].map((t, i) =&gt; (&#10;        &lt;Box key={i} style={{ flexDirection: 'row', alignItems: 'center', gap: 12 }}&gt;&#10;          &lt;Box style={{ width: 24, height: 24, borderRadius: 6, border: '2px solid #7E9476', backgroundColor: '#FFFFFF' }} /&gt;&#10;          &lt;Text style={{ fontSize: 17, color: '#3E2A1E', flex: 1 }}&gt;{t}&lt;/Text&gt;&#10;        &lt;/Box&gt;&#10;      ))}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5724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上線前檢查清單（</a:t>
            </a:r>
            <a:r>
              <a:rPr lang="en-US" sz="2550" b="1">
                <a:solidFill>
                  <a:srgbClr val="3E2A1E"/>
                </a:solidFill>
                <a:latin typeface="Microsoft YaHei"/>
                <a:ea typeface="Microsoft YaHei"/>
              </a:rPr>
              <a:t>Go-Live Checklist</a:t>
            </a: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31146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52500" y="31337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刪走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.env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入面嘅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CAPTCHA_TEST_BYPASS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（後門）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34766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52500" y="349567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改晒弱密碼（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admin 12345678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staff01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cheuk951211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8udc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09600" y="38385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52500" y="38576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WhatsApp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轉正式通道（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Twilio sandbox →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正式號碼）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42005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52500" y="421957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Stripe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設定好，或決定暫時唔開放付款升級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238875" y="31146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581775" y="31337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NODE_ENV=production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ALLOWED_ORIGINS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SITE_URL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設好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238875" y="34766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581775" y="349567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pm2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常駐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 + pm2 startup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開機自啟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238875" y="383857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581775" y="385762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HTTPS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綠色鎖生效（網址前面把鎖）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238875" y="42005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7E9476"/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581775" y="4219575"/>
            <a:ext cx="500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備份排程有實際跑（</a:t>
            </a:r>
            <a:r>
              <a:rPr lang="en-US" sz="1275">
                <a:solidFill>
                  <a:srgbClr val="3E2A1E"/>
                </a:solidFill>
                <a:latin typeface="Microsoft YaHei"/>
                <a:ea typeface="Microsoft YaHei"/>
              </a:rPr>
              <a:t>S3 </a:t>
            </a:r>
            <a:r>
              <a:rPr lang="zh-CN" sz="1275">
                <a:solidFill>
                  <a:srgbClr val="3E2A1E"/>
                </a:solidFill>
                <a:latin typeface="Microsoft YaHei"/>
                <a:ea typeface="Microsoft YaHei"/>
              </a:rPr>
              <a:t>有今日檔）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 style={{ background: '#F0E4D2' }}&gt;&#10;  &lt;Box style={{ height: 120, paddingLeft: 64, paddingRight: 64, paddingTop: 22, flexDirection: 'row', alignItems: 'center', gap: 14 }}&gt;&#10;    &lt;Box style={{ width: 8, height: 40, background: '#7E9476', borderRadius: 4 }} /&gt;&#10;    &lt;Text style={{ fontSize: 34, fontWeight: 'bold', color: '#3E2A1E' }}&gt;常見問題救火與日常維運指令&lt;/Text&gt;&#10;  &lt;/Box&gt;&#10;  &lt;Box style={{ height: 540, paddingLeft: 64, paddingRight: 64, paddingTop: 8, flexDirection: 'row', gap: 24 }}&gt;&#10;    &lt;Box style={{ flex: 1.15, gap: 12, justifyContent: 'center' }}&gt;&#10;      {[['網站打唔開','檢查 EC2 係 running、安全組開咗 80/443、nginx 同 pm2 有冇起'],['見到 502 Bad Gateway','App 冇起：pm2 restart potin-clinic，再 pm2 logs 睇錯誤'],['HTTPS 變紅色鎖','證書過期？sudo certbot renew 續期'],['改咗 code 冇反應','pm2 restart potin-clinic 重啟就掂'],['磁碟爆滿','df -h 睇，清走舊 logs']].map((q, i) =&gt; (&#10;        &lt;Box key={i} style={{ flexDirection: 'row', alignItems: 'flex-start', gap: 12 }}&gt;&#10;          &lt;Text style={{ fontSize: 17, fontWeight: 'bold', color: '#5D4037', width: 150 }}&gt;{q[0]}：&lt;/Text&gt;&#10;          &lt;Text style={{ fontSize: 16, color: '#3E2A1E', flex: 1, lineHeight: 1.5 }}&gt;{q[1]}&lt;/Text&gt;&#10;        &lt;/Box&gt;&#10;      ))}&#10;    &lt;/Box&gt;&#10;    &lt;Box style={{ flex: 1, justifyContent: 'center' }}&gt;&#10;      &lt;Text style={{ fontSize: 16, color: '#3E2A1E', marginBottom: 6 }}&gt;維運指令 cheat sheet：&lt;/Text&gt;&#10;      &lt;CodeBlock&#10;        code={`pm2 status&#10;pm2 logs potin-clinic&#10;pm2 restart potin-clinic&#10;&#10;sudo systemctl status nginx&#10;sudo tail -n 50 ~/app/logs/app-$(date +%F).log`}&#10;        language='bash'&#10;        width={640}&#10;        fontSize={14}&#10;      /&gt;&#10;    &lt;/Box&gt;&#10;  &lt;/Box&gt;&#10;  &lt;Box style={{ height: 60, paddingLeft: 64, paddingRight: 64, flexDirection: 'row', justifyContent: 'space-between', alignItems: 'center' }}&gt;&#10;    &lt;Text style={{ fontSize: 14, color: '#7c6f63' }}&gt;寶天醫館 · AWS 上線手把手教學&lt;/Text&gt;&#10;    &lt;Text style={{ fontSize: 14, color: '#7c6f63' }}&gt;1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9600" y="485775"/>
            <a:ext cx="76200" cy="381000"/>
          </a:xfrm>
          <a:prstGeom prst="roundRect">
            <a:avLst>
              <a:gd name="adj" fmla="val 50000"/>
            </a:avLst>
          </a:prstGeom>
          <a:solidFill>
            <a:srgbClr val="7E9476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19150" y="485775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E2A1E"/>
                </a:solidFill>
                <a:latin typeface="Microsoft YaHei"/>
                <a:ea typeface="Microsoft YaHei"/>
              </a:rPr>
              <a:t>常見問題救火與日常維運指令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網站打唔開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152650" y="2581275"/>
            <a:ext cx="42005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檢查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EC2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係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running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、安全組開咗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80/443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nginx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同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pm2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有冇起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4287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見到</a:t>
            </a:r>
            <a:r>
              <a:rPr lang="en-US" sz="1275" b="1">
                <a:solidFill>
                  <a:srgbClr val="5D4037"/>
                </a:solidFill>
                <a:latin typeface="Microsoft YaHei"/>
                <a:ea typeface="Microsoft YaHei"/>
              </a:rPr>
              <a:t> 502 Bad Gateway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2152650" y="3248025"/>
            <a:ext cx="4200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App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冇起：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pm2 restart potin-clinic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，再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pm2 logs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睇錯誤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D4037"/>
                </a:solidFill>
                <a:latin typeface="Microsoft YaHei"/>
                <a:ea typeface="Microsoft YaHei"/>
              </a:rPr>
              <a:t>HTTPS 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變紅色鎖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2152650" y="3752850"/>
            <a:ext cx="4200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證書過期？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sudo certbot renew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續期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4143375"/>
            <a:ext cx="14287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改咗</a:t>
            </a:r>
            <a:r>
              <a:rPr lang="en-US" sz="1275" b="1">
                <a:solidFill>
                  <a:srgbClr val="5D4037"/>
                </a:solidFill>
                <a:latin typeface="Microsoft YaHei"/>
                <a:ea typeface="Microsoft YaHei"/>
              </a:rPr>
              <a:t> code 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冇反應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152650" y="4143375"/>
            <a:ext cx="4200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pm2 restart potin-clinic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重啟就掂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磁碟爆滿</a:t>
            </a:r>
            <a:r>
              <a:rPr lang="zh-CN" sz="1275" b="1">
                <a:solidFill>
                  <a:srgbClr val="5D4037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2152650" y="4648200"/>
            <a:ext cx="4200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df -h 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睇，清走舊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logs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581775" y="2819400"/>
            <a:ext cx="5000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維運指令</a:t>
            </a:r>
            <a:r>
              <a:rPr lang="en-US" sz="1200">
                <a:solidFill>
                  <a:srgbClr val="3E2A1E"/>
                </a:solidFill>
                <a:latin typeface="Microsoft YaHei"/>
                <a:ea typeface="Microsoft YaHei"/>
              </a:rPr>
              <a:t> cheat sheet</a:t>
            </a:r>
            <a:r>
              <a:rPr lang="zh-CN" sz="1200">
                <a:solidFill>
                  <a:srgbClr val="3E2A1E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924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寶天醫館</a:t>
            </a: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 · AWS </a:t>
            </a:r>
            <a:r>
              <a:rPr lang="zh-CN" sz="1050">
                <a:solidFill>
                  <a:srgbClr val="7C6F63"/>
                </a:solidFill>
                <a:latin typeface="Microsoft YaHei"/>
                <a:ea typeface="Microsoft YaHei"/>
              </a:rPr>
              <a:t>上線手把手教學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C6F63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581775" y="3067050"/>
            <a:ext cx="5000625" cy="161925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39" name=""/>
          <p:cNvSpPr txBox="1"/>
          <p:nvPr/>
        </p:nvSpPr>
        <p:spPr>
          <a:xfrm rot="0" flipH="0" flipV="0">
            <a:off x="6734175" y="3200400"/>
            <a:ext cx="469582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status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logs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potin-clinic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pm2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restart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potin-clinic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systemctl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status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nginx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tail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-n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50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~/app/logs/app-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$(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date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+%F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.log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background: 'linear-gradient(135deg,#7E9476 0%,#5D4037 100%)' }}&gt;&#10;  &lt;Box style={{ height: '100%', padding: '0 72px', flexDirection: 'column', justifyContent: 'center' }}&gt;&#10;    &lt;Text style={{ fontSize: 44, fontWeight: 'bold', color: '#FFFFFF' }}&gt;重要預警總結&lt;/Text&gt;&#10;    &lt;Box style={{ width: 120, height: 6, background: '#F0E4D2', borderRadius: 3, marginTop: 18 }} /&gt;&#10;    &lt;Box style={{ flexDirection: 'row', gap: 18, marginTop: 28, flexWrap: 'wrap' }}&gt;&#10;      &lt;Box style={{ width: '48%', backgroundColor: 'rgba(255,255,255,0.12)', borderRadius: 14, padding: '16px 20px' }}&gt;&#10;        &lt;Text style={{ fontSize: 19, fontWeight: 'bold', color: '#F0E4D2' }}&gt;費用&lt;/Text&gt;&#10;        &lt;Text style={{ fontSize: 16, color: '#F0E4D2', lineHeight: 1.6, marginTop: 6 }}&gt;免費層得 12 個月，到期前設 Billing Alarm；彈性 IP 唔好閒置。&lt;/Text&gt;&#10;      &lt;/Box&gt;&#10;      &lt;Box style={{ width: '48%', backgroundColor: 'rgba(255,255,255,0.12)', borderRadius: 14, padding: '16px 20px' }}&gt;&#10;        &lt;Text style={{ fontSize: 19, fontWeight: 'bold', color: '#F0E4D2' }}&gt;安全&lt;/Text&gt;&#10;        &lt;Text style={{ fontSize: 16, color: '#F0E4D2', lineHeight: 1.6, marginTop: 6 }}&gt;CAPTCHA_TEST_BYPASS 一定要刪；NODE_ENV=production；只可以用 key 登入；443 必備。&lt;/Text&gt;&#10;      &lt;/Box&gt;&#10;      &lt;Box style={{ width: '48%', backgroundColor: 'rgba(255,255,255,0.12)', borderRadius: 14, padding: '16px 20px' }}&gt;&#10;        &lt;Text style={{ fontSize: 19, fontWeight: 'bold', color: '#F0E4D2' }}&gt;資料&lt;/Text&gt;&#10;        &lt;Text style={{ fontSize: 16, color: '#F0E4D2', lineHeight: 1.6, marginTop: 6 }}&gt;每日自動備份 SQLite 去 S3；千萬唔好靠單一 EBS 硬碟。&lt;/Text&gt;&#10;      &lt;/Box&gt;&#10;      &lt;Box style={{ width: '48%', backgroundColor: 'rgba(255,255,255,0.12)', borderRadius: 14, padding: '16px 20px' }}&gt;&#10;        &lt;Text style={{ fontSize: 19, fontWeight: 'bold', color: '#F0E4D2' }}&gt;支援&lt;/Text&gt;&#10;        &lt;Text style={{ fontSize: 16, color: '#F0E4D2', lineHeight: 1.6, marginTop: 6 }}&gt;Basic 支援免費但冇人主動幫你；重大問題先考慮 Business Support。&lt;/Text&gt;&#10;      &lt;/Box&gt;&#10;    &lt;/Box&gt;&#10;    &lt;Text style={{ fontSize: 20, color: '#FFFFFF', marginTop: 30, lineHeight: 1.6 }}&gt;跟住呢 18 頁，你已經可以將 寶天醫館 預約系統安全放上 AWS。慢慢做，一步一腳印，搞掂記得改晒密碼先正式接客！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E9476"/>
              </a:gs>
              <a:gs pos="100000">
                <a:srgbClr val="5D403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5800" y="1495425"/>
            <a:ext cx="1082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重要預警總結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85800" y="21717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0E4D2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85800" y="2495550"/>
            <a:ext cx="5191125" cy="1171575"/>
          </a:xfrm>
          <a:prstGeom prst="roundRect">
            <a:avLst>
              <a:gd name="adj" fmla="val 1138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76300" y="264795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E4D2"/>
                </a:solidFill>
                <a:latin typeface="Microsoft YaHei"/>
                <a:ea typeface="Microsoft YaHei"/>
              </a:rPr>
              <a:t>費用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76300" y="2924175"/>
            <a:ext cx="4810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免費層得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12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個月，到期前設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Billing Alarm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；彈性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IP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唔好閒置。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48375" y="2495550"/>
            <a:ext cx="5200650" cy="1171575"/>
          </a:xfrm>
          <a:prstGeom prst="roundRect">
            <a:avLst>
              <a:gd name="adj" fmla="val 1138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238875" y="264795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E4D2"/>
                </a:solidFill>
                <a:latin typeface="Microsoft YaHei"/>
                <a:ea typeface="Microsoft YaHei"/>
              </a:rPr>
              <a:t>安全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238875" y="2924175"/>
            <a:ext cx="4819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CAPTCHA_TEST_BYPASS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一定要刪；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NODE_ENV=production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；只可以用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key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登入；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443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必備。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85800" y="3838575"/>
            <a:ext cx="5191125" cy="876300"/>
          </a:xfrm>
          <a:prstGeom prst="roundRect">
            <a:avLst>
              <a:gd name="adj" fmla="val 1521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76300" y="3990975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E4D2"/>
                </a:solidFill>
                <a:latin typeface="Microsoft YaHei"/>
                <a:ea typeface="Microsoft YaHei"/>
              </a:rPr>
              <a:t>資料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76300" y="4267200"/>
            <a:ext cx="4810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每日自動備份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SQLite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去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S3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；千萬唔好靠單一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EBS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硬碟。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48375" y="3838575"/>
            <a:ext cx="5200650" cy="876300"/>
          </a:xfrm>
          <a:prstGeom prst="roundRect">
            <a:avLst>
              <a:gd name="adj" fmla="val 1521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238875" y="3990975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E4D2"/>
                </a:solidFill>
                <a:latin typeface="Microsoft YaHei"/>
                <a:ea typeface="Microsoft YaHei"/>
              </a:rPr>
              <a:t>支援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238875" y="4267200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Basic 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支援免費但冇人主動幫你；重大問題先考慮</a:t>
            </a:r>
            <a:r>
              <a:rPr lang="en-US" sz="1200">
                <a:solidFill>
                  <a:srgbClr val="F0E4D2"/>
                </a:solidFill>
                <a:latin typeface="Microsoft YaHei"/>
                <a:ea typeface="Microsoft YaHei"/>
              </a:rPr>
              <a:t> Business Support</a:t>
            </a:r>
            <a:r>
              <a:rPr lang="zh-CN" sz="1200">
                <a:solidFill>
                  <a:srgbClr val="F0E4D2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85800" y="5000625"/>
            <a:ext cx="108204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跟住呢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18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頁，你已經可以將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寶天醫館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預約系統安全放上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AWS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。慢慢做，一步一腳印，搞掂記得改晒密碼先正式接客！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2026-09-04T21:50:53Z</dcterms:created>
  <dcterms:modified xsi:type="dcterms:W3CDTF">2026-09-04T21:50:53Z</dcterms:modified>
</cp:coreProperties>
</file>