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8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3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33087"/>
            <a:ext cx="12191695" cy="36576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1" spc="80">
                <a:solidFill>
                  <a:srgbClr val="B99B6B"/>
                </a:solidFill>
                <a:latin typeface="Georgia"/>
                <a:ea typeface="Georgia"/>
              </a:rPr>
              <a:t>POTIN JR  ·  NATURAL HEALING  ·  CENTRAL, HONG KONG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73168"/>
            <a:ext cx="960120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000" b="1" i="0">
                <a:solidFill>
                  <a:srgbClr val="F5ECDD"/>
                </a:solidFill>
                <a:latin typeface="Microsoft JhengHei"/>
                <a:ea typeface="Microsoft JhengHei"/>
              </a:rPr>
              <a:t>寶天醫館 JR 智能預約系統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96128"/>
            <a:ext cx="987552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D8C9B4"/>
                </a:solidFill>
                <a:latin typeface="Microsoft JhengHei"/>
                <a:ea typeface="Microsoft JhengHei"/>
              </a:rPr>
              <a:t>網站詳細介紹 — 由訪客第一步，到職員、醫師、管理員嘅最後一步，一個系統搞掂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4846320"/>
            <a:ext cx="219456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B99B6B"/>
                </a:solidFill>
                <a:latin typeface="Georgia"/>
                <a:ea typeface="Georgia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5486400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D8C9B4"/>
                </a:solidFill>
                <a:latin typeface="Microsoft JhengHei"/>
                <a:ea typeface="Microsoft JhengHei"/>
              </a:rPr>
              <a:t>系統簡介 · 廣東話版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今日同你行勻成個系統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六個章節 · 由門面行到入後廚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352044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64008" cy="2011680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719072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A06853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075688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3E2A1E"/>
                </a:solidFill>
                <a:latin typeface="Microsoft JhengHei"/>
                <a:ea typeface="Microsoft JhengHei"/>
              </a:rPr>
              <a:t>官網門面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423160"/>
            <a:ext cx="315468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品牌美學 × 服務內容 × 訪客初體驗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600200"/>
            <a:ext cx="352044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600200"/>
            <a:ext cx="64008" cy="2011680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719072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7E9476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075688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3E2A1E"/>
                </a:solidFill>
                <a:latin typeface="Microsoft JhengHei"/>
                <a:ea typeface="Microsoft JhengHei"/>
              </a:rPr>
              <a:t>會員體驗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423160"/>
            <a:ext cx="315468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預約精靈 × 病歷 × 會籍 × 家庭帳戶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00200"/>
            <a:ext cx="352044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00200"/>
            <a:ext cx="64008" cy="2011680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1719072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A06853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075688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3E2A1E"/>
                </a:solidFill>
                <a:latin typeface="Microsoft JhengHei"/>
                <a:ea typeface="Microsoft JhengHei"/>
              </a:rPr>
              <a:t>內部營運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423160"/>
            <a:ext cx="315468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職員櫃檯 × 醫師工作檯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86200"/>
            <a:ext cx="352044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886200"/>
            <a:ext cx="64008" cy="2011680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005072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7E9476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361688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3E2A1E"/>
                </a:solidFill>
                <a:latin typeface="Microsoft JhengHei"/>
                <a:ea typeface="Microsoft JhengHei"/>
              </a:rPr>
              <a:t>管理員後台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709160"/>
            <a:ext cx="315468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14 個模組 · 全院一屏管晒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886200"/>
            <a:ext cx="352044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3886200"/>
            <a:ext cx="64008" cy="2011680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4005072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A06853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361688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3E2A1E"/>
                </a:solidFill>
                <a:latin typeface="Microsoft JhengHei"/>
                <a:ea typeface="Microsoft JhengHei"/>
              </a:rPr>
              <a:t>通知 × 安全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4709160"/>
            <a:ext cx="315468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WhatsApp 通知王國 × 銀行級防護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3886200"/>
            <a:ext cx="352044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3886200"/>
            <a:ext cx="64008" cy="2011680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4005072"/>
            <a:ext cx="3154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7E9476"/>
                </a:solidFill>
                <a:latin typeface="Georgia"/>
                <a:ea typeface="Georgia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4361688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3E2A1E"/>
                </a:solidFill>
                <a:latin typeface="Microsoft JhengHei"/>
                <a:ea typeface="Microsoft JhengHei"/>
              </a:rPr>
              <a:t>技術總覽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8" y="4709160"/>
            <a:ext cx="3154680" cy="1097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架構 × API × 部署要點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一個系統 · 四個版面 · 各有各嘅舞台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同一個資料庫，四種角色，各睇各嘅嘢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035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64008" cy="1024128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82495"/>
            <a:ext cx="2926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3E2A1E"/>
                </a:solidFill>
                <a:latin typeface="Microsoft JhengHei"/>
                <a:ea typeface="Microsoft JhengHei"/>
              </a:rPr>
              <a:t>訪客 × 會員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75688"/>
            <a:ext cx="56692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index.html  —  官網 + 會員 Dashboard：預約、病歴、會籍、討論區一站式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6035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43200"/>
            <a:ext cx="64008" cy="1024128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52928"/>
            <a:ext cx="2926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3E2A1E"/>
                </a:solidFill>
                <a:latin typeface="Microsoft JhengHei"/>
                <a:ea typeface="Microsoft JhengHei"/>
              </a:rPr>
              <a:t>櫃檯職員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46120"/>
            <a:ext cx="56692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staff.html  —  全院預約流轉、家庭子帳戶開戶、病歴記錄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13632"/>
            <a:ext cx="6035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13632"/>
            <a:ext cx="64008" cy="1024128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023360"/>
            <a:ext cx="2926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3E2A1E"/>
                </a:solidFill>
                <a:latin typeface="Microsoft JhengHei"/>
                <a:ea typeface="Microsoft JhengHei"/>
              </a:rPr>
              <a:t>醫師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16552"/>
            <a:ext cx="56692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doctor.html  —  淨係睇到自己嘅預約（伺服器強制），專心做治療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84064"/>
            <a:ext cx="6035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84064"/>
            <a:ext cx="64008" cy="1024128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193792"/>
            <a:ext cx="2926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3E2A1E"/>
                </a:solidFill>
                <a:latin typeface="Microsoft JhengHei"/>
                <a:ea typeface="Microsoft JhengHei"/>
              </a:rPr>
              <a:t>管理員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586984"/>
            <a:ext cx="566928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admin.html  —  14 個模組：預約、用戶、收入、病歴、通知、官網內容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572768"/>
            <a:ext cx="23317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700784"/>
            <a:ext cx="23317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A06853"/>
                </a:solidFill>
                <a:latin typeface="Georgia"/>
                <a:ea typeface="Georgia"/>
              </a:rPr>
              <a:t>200+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322576"/>
            <a:ext cx="23317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8A7A6A"/>
                </a:solidFill>
                <a:latin typeface="Microsoft JhengHei"/>
                <a:ea typeface="Microsoft JhengHei"/>
              </a:rPr>
              <a:t>API 端點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1572768"/>
            <a:ext cx="23317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1700784"/>
            <a:ext cx="23317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A06853"/>
                </a:solidFill>
                <a:latin typeface="Georgia"/>
                <a:ea typeface="Georgia"/>
              </a:rPr>
              <a:t>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322576"/>
            <a:ext cx="23317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8A7A6A"/>
                </a:solidFill>
                <a:latin typeface="Microsoft JhengHei"/>
                <a:ea typeface="Microsoft JhengHei"/>
              </a:rPr>
              <a:t>資料庫表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2944368"/>
            <a:ext cx="23317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072384"/>
            <a:ext cx="23317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A06853"/>
                </a:solidFill>
                <a:latin typeface="Georgia"/>
                <a:ea typeface="Georgia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94176"/>
            <a:ext cx="23317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8A7A6A"/>
                </a:solidFill>
                <a:latin typeface="Microsoft JhengHei"/>
                <a:ea typeface="Microsoft JhengHei"/>
              </a:rPr>
              <a:t>會員模組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2944368"/>
            <a:ext cx="23317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3072384"/>
            <a:ext cx="23317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A06853"/>
                </a:solidFill>
                <a:latin typeface="Georgia"/>
                <a:ea typeface="Georgia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694176"/>
            <a:ext cx="23317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8A7A6A"/>
                </a:solidFill>
                <a:latin typeface="Microsoft JhengHei"/>
                <a:ea typeface="Microsoft JhengHei"/>
              </a:rPr>
              <a:t>後台模組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26280"/>
            <a:ext cx="48463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技術底盤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489204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4892040"/>
            <a:ext cx="1069848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Node.js 22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55864" y="4892040"/>
            <a:ext cx="992124" cy="36576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55864" y="4892040"/>
            <a:ext cx="99212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Express 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76004" y="4892040"/>
            <a:ext cx="758952" cy="36576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6004" y="4892040"/>
            <a:ext cx="75895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SQLite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62972" y="4892040"/>
            <a:ext cx="681228" cy="36576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62972" y="4892040"/>
            <a:ext cx="681228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Vue 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5367527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5367527"/>
            <a:ext cx="1225296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Tailwind CSS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11312" y="5367527"/>
            <a:ext cx="758952" cy="36576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11312" y="5367527"/>
            <a:ext cx="75895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Stripe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98280" y="5367527"/>
            <a:ext cx="1458468" cy="36576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5367527"/>
            <a:ext cx="1458468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Twilio WhatsApp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684764" y="5367527"/>
            <a:ext cx="992124" cy="36576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84764" y="5367527"/>
            <a:ext cx="99212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node-cron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0" y="5843015"/>
            <a:ext cx="1147572" cy="36576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5843015"/>
            <a:ext cx="114757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svg-captcha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33588" y="5843015"/>
            <a:ext cx="758952" cy="36576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3588" y="5843015"/>
            <a:ext cx="75895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bcrypt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01 · 官網門面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開個網站，已經係一次 spa 級體驗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訪客第一眼，就感受到中環高端定位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0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81328"/>
            <a:ext cx="6812280" cy="436475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02920" y="176022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655064"/>
            <a:ext cx="40050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動態波浪主視覺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VANTA.WAVES 互動背景，一入場已經「活」嘅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72034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615184"/>
            <a:ext cx="40050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逐屏電影感導航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scroll-snap 一版一景，行網站好似揭雜誌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68046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75304"/>
            <a:ext cx="40050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2026 earthy spa 設計系統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暖奶油 × 霧粉棕 × 鼠尾草綠，全站統一色調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64058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535424"/>
            <a:ext cx="40050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襯線標題 × 浮雕紋飾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Noto Serif TC 標題，配印章品牌標記，貴氣但唔俗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01 · 官網門面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服務菜單 × 醫師團隊，一屏讀晒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內容全部可以喺後台隨時改，唔使搵程式員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02-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577840" cy="3573825"/>
          </a:xfrm>
          <a:prstGeom prst="rect">
            <a:avLst/>
          </a:prstGeom>
        </p:spPr>
      </p:pic>
      <p:pic>
        <p:nvPicPr>
          <p:cNvPr id="11" name="Picture 10" descr="04-do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577840" cy="357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138928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7A4E3C"/>
                </a:solidFill>
                <a:latin typeface="Microsoft JhengHei"/>
                <a:ea typeface="Microsoft JhengHei"/>
              </a:rPr>
              <a:t>六大服務 · 菜單式編排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138928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5240"/>
                </a:solidFill>
                <a:latin typeface="Microsoft JhengHei"/>
                <a:ea typeface="Microsoft JhengHei"/>
              </a:rPr>
              <a:t>醫師團隊 · 專科介紹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59552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559552"/>
            <a:ext cx="950976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7A4E3C"/>
                </a:solidFill>
                <a:latin typeface="Microsoft JhengHei"/>
                <a:ea typeface="Microsoft JhengHei"/>
              </a:rPr>
              <a:t>針灸療法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5559552"/>
            <a:ext cx="1243584" cy="384048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5559552"/>
            <a:ext cx="1243584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7A4E3C"/>
                </a:solidFill>
                <a:latin typeface="Microsoft JhengHei"/>
                <a:ea typeface="Microsoft JhengHei"/>
              </a:rPr>
              <a:t>中藥內科調理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0087" y="5559552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0087" y="5559552"/>
            <a:ext cx="950976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7A4E3C"/>
                </a:solidFill>
                <a:latin typeface="Microsoft JhengHei"/>
                <a:ea typeface="Microsoft JhengHei"/>
              </a:rPr>
              <a:t>手法治療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87368" y="5559552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5559552"/>
            <a:ext cx="950976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7A4E3C"/>
                </a:solidFill>
                <a:latin typeface="Microsoft JhengHei"/>
                <a:ea typeface="Microsoft JhengHei"/>
              </a:rPr>
              <a:t>體質養生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84648" y="5559552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4648" y="5559552"/>
            <a:ext cx="950976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7A4E3C"/>
                </a:solidFill>
                <a:latin typeface="Microsoft JhengHei"/>
                <a:ea typeface="Microsoft JhengHei"/>
              </a:rPr>
              <a:t>小兒推拿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928" y="5559552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5559552"/>
            <a:ext cx="950976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7A4E3C"/>
                </a:solidFill>
                <a:latin typeface="Microsoft JhengHei"/>
                <a:ea typeface="Microsoft JhengHei"/>
              </a:rPr>
              <a:t>節氣養生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533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另有：成功案例、客戶評價（審核制）、中醫短片、討論區入口 — 全部由後台「官網內容」模組即時更新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01 · 官網門面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一個登入位，三種角色各自入閘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客戶、醫師、職員 — 同一個門口，唔同鑰匙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05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035040" cy="386676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858000" y="1805939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1700784"/>
            <a:ext cx="46451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三角色切換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客戶 / 醫師 / 員工 tab 一撳即轉，介面自動對應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276606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2660904"/>
            <a:ext cx="46451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圖形驗證碼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5 位字符、5 分鐘有效、單次使用，可點擊重整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372618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3621024"/>
            <a:ext cx="46451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自助重設密碼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電郵或 WhatsApp 收驗證碼，唔使打嚟求人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468630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4581144"/>
            <a:ext cx="46451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開戶要經職員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新會員由診所人手核實開戶 — 防濕開戶口，管控第一關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01 · 官網門面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訪客都約得 — 初體驗零摩擦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唔使開戶，填三個位就約到，先試後買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06-guest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035040" cy="386676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691640"/>
            <a:ext cx="484632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22592" y="1901952"/>
            <a:ext cx="420624" cy="420624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1901952"/>
            <a:ext cx="420624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783080"/>
            <a:ext cx="3931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填基本資料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121408"/>
            <a:ext cx="3977639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中英文名 + 8 位電話，30 秒搞掂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660904"/>
            <a:ext cx="484632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22592" y="2871216"/>
            <a:ext cx="420624" cy="420624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2871216"/>
            <a:ext cx="420624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2752344"/>
            <a:ext cx="3931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揀日子時段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090672"/>
            <a:ext cx="3977639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即時睇到邊啲時段仲有位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630168"/>
            <a:ext cx="484632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2592" y="3840480"/>
            <a:ext cx="420624" cy="420624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3840480"/>
            <a:ext cx="420624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3721608"/>
            <a:ext cx="3931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確認預約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4059936"/>
            <a:ext cx="3977639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WhatsApp + 電郵雙通知確認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4599432"/>
            <a:ext cx="484632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22592" y="4809744"/>
            <a:ext cx="420624" cy="420624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4809744"/>
            <a:ext cx="420624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4690872"/>
            <a:ext cx="3931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到診體驗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5029200"/>
            <a:ext cx="3977639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一小時初體驗 $380，滿意先開戶升級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5586983"/>
            <a:ext cx="4846320" cy="566928"/>
          </a:xfrm>
          <a:prstGeom prst="roundRect">
            <a:avLst>
              <a:gd name="adj" fmla="val 16000"/>
            </a:avLst>
          </a:prstGeom>
          <a:solidFill>
            <a:srgbClr val="E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9168" y="5586983"/>
            <a:ext cx="457200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3E5240"/>
                </a:solidFill>
                <a:latin typeface="Microsoft JhengHei"/>
                <a:ea typeface="Microsoft JhengHei"/>
              </a:rPr>
              <a:t>後端鎖死：訪客只可以約「初體驗」— 防濫用機制內建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02 · 會員體驗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登入之後，八個模組任你行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由預約到病歴到討論區，會員所有嘢都喺呢度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10-member-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81328"/>
            <a:ext cx="7315200" cy="4686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1600200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673352"/>
            <a:ext cx="1645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A4E3C"/>
                </a:solidFill>
                <a:latin typeface="Microsoft JhengHei"/>
                <a:ea typeface="Microsoft JhengHei"/>
              </a:rPr>
              <a:t>預約服務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1965960"/>
            <a:ext cx="1645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7A6A"/>
                </a:solidFill>
                <a:latin typeface="Microsoft JhengHei"/>
                <a:ea typeface="Microsoft JhengHei"/>
              </a:rPr>
              <a:t>四步精靈 + 即時時段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1448" y="1600200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9464" y="1673352"/>
            <a:ext cx="1645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A4E3C"/>
                </a:solidFill>
                <a:latin typeface="Microsoft JhengHei"/>
                <a:ea typeface="Microsoft JhengHei"/>
              </a:rPr>
              <a:t>我的預約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9464" y="1965960"/>
            <a:ext cx="1645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7A6A"/>
                </a:solidFill>
                <a:latin typeface="Microsoft JhengHei"/>
                <a:ea typeface="Microsoft JhengHei"/>
              </a:rPr>
              <a:t>狀態追蹤 · 取消 · 列印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2514600"/>
            <a:ext cx="1645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A4E3C"/>
                </a:solidFill>
                <a:latin typeface="Microsoft JhengHei"/>
                <a:ea typeface="Microsoft JhengHei"/>
              </a:rPr>
              <a:t>我的病歴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2807208"/>
            <a:ext cx="1645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7A6A"/>
                </a:solidFill>
                <a:latin typeface="Microsoft JhengHei"/>
                <a:ea typeface="Microsoft JhengHei"/>
              </a:rPr>
              <a:t>相片對比 · 音頻 · AI 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41448" y="2441448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9464" y="2514600"/>
            <a:ext cx="1645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A4E3C"/>
                </a:solidFill>
                <a:latin typeface="Microsoft JhengHei"/>
                <a:ea typeface="Microsoft JhengHei"/>
              </a:rPr>
              <a:t>會員中心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9464" y="2807208"/>
            <a:ext cx="1645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7A6A"/>
                </a:solidFill>
                <a:latin typeface="Microsoft JhengHei"/>
                <a:ea typeface="Microsoft JhengHei"/>
              </a:rPr>
              <a:t>會籍 · 升級 · 家庭帳戶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82696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3355848"/>
            <a:ext cx="1645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A4E3C"/>
                </a:solidFill>
                <a:latin typeface="Microsoft JhengHei"/>
                <a:ea typeface="Microsoft JhengHei"/>
              </a:rPr>
              <a:t>設定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3648456"/>
            <a:ext cx="1645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7A6A"/>
                </a:solidFill>
                <a:latin typeface="Microsoft JhengHei"/>
                <a:ea typeface="Microsoft JhengHei"/>
              </a:rPr>
              <a:t>資料 · 頭像 · 通知偏好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41448" y="3282696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9464" y="3355848"/>
            <a:ext cx="1645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A4E3C"/>
                </a:solidFill>
                <a:latin typeface="Microsoft JhengHei"/>
                <a:ea typeface="Microsoft JhengHei"/>
              </a:rPr>
              <a:t>醫療分流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9464" y="3648456"/>
            <a:ext cx="1645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7A6A"/>
                </a:solidFill>
                <a:latin typeface="Microsoft JhengHei"/>
                <a:ea typeface="Microsoft JhengHei"/>
              </a:rPr>
              <a:t>AI 症狀分類建議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123944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4197096"/>
            <a:ext cx="1645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A4E3C"/>
                </a:solidFill>
                <a:latin typeface="Microsoft JhengHei"/>
                <a:ea typeface="Microsoft JhengHei"/>
              </a:rPr>
              <a:t>意見箱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4489704"/>
            <a:ext cx="1645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7A6A"/>
                </a:solidFill>
                <a:latin typeface="Microsoft JhengHei"/>
                <a:ea typeface="Microsoft JhengHei"/>
              </a:rPr>
              <a:t>直接同職員對話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41448" y="4123944"/>
            <a:ext cx="182880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9464" y="4197096"/>
            <a:ext cx="1645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7A4E3C"/>
                </a:solidFill>
                <a:latin typeface="Microsoft JhengHei"/>
                <a:ea typeface="Microsoft JhengHei"/>
              </a:rPr>
              <a:t>中醫討論區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9464" y="4489704"/>
            <a:ext cx="16459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7A6A"/>
                </a:solidFill>
                <a:latin typeface="Microsoft JhengHei"/>
                <a:ea typeface="Microsoft JhengHei"/>
              </a:rPr>
              <a:t>發帖交流養生心得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02 · 會員體驗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四步預約精靈，背後係一堆智能規則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客戶覺得簡單，係因為複雜嘢系統做咗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2651760" cy="82296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10512"/>
            <a:ext cx="2286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A06853"/>
                </a:solidFill>
                <a:latin typeface="Georgia"/>
                <a:ea typeface="Georgia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10312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3E2A1E"/>
                </a:solidFill>
                <a:latin typeface="Microsoft JhengHei"/>
                <a:ea typeface="Microsoft JhengHei"/>
              </a:rPr>
              <a:t>揀服務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542032"/>
            <a:ext cx="2286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會籍唔夠級嘅服務會鎖住，升級即刻解鎖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86000"/>
            <a:ext cx="2286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E2D2B8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60020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600200"/>
            <a:ext cx="2651760" cy="82296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1810512"/>
            <a:ext cx="2286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3E5240"/>
                </a:solidFill>
                <a:latin typeface="Georgia"/>
                <a:ea typeface="Georgia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3E2A1E"/>
                </a:solidFill>
                <a:latin typeface="Microsoft JhengHei"/>
                <a:ea typeface="Microsoft JhengHei"/>
              </a:rPr>
              <a:t>揀時間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42032"/>
            <a:ext cx="2286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30 分鐘一格，即時顯示可用時段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286000"/>
            <a:ext cx="2286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E2D2B8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160020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1600200"/>
            <a:ext cx="2651760" cy="82296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1810512"/>
            <a:ext cx="2286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A06853"/>
                </a:solidFill>
                <a:latin typeface="Georgia"/>
                <a:ea typeface="Georgia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210312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3E2A1E"/>
                </a:solidFill>
                <a:latin typeface="Microsoft JhengHei"/>
                <a:ea typeface="Microsoft JhengHei"/>
              </a:rPr>
              <a:t>填資料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2542032"/>
            <a:ext cx="2286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自動帶返會員資料，唔使重新填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2286000"/>
            <a:ext cx="2286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E2D2B8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89136" y="160020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89136" y="1600200"/>
            <a:ext cx="2651760" cy="82296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4" y="1810512"/>
            <a:ext cx="2286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3E5240"/>
                </a:solidFill>
                <a:latin typeface="Georgia"/>
                <a:ea typeface="Georgia"/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103120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3E2A1E"/>
                </a:solidFill>
                <a:latin typeface="Microsoft JhengHei"/>
                <a:ea typeface="Microsoft JhengHei"/>
              </a:rPr>
              <a:t>確認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2542032"/>
            <a:ext cx="2286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WhatsApp + 電郵即時確認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794760"/>
            <a:ext cx="2651760" cy="1600200"/>
          </a:xfrm>
          <a:prstGeom prst="roundRect">
            <a:avLst>
              <a:gd name="adj" fmla="val 10000"/>
            </a:avLst>
          </a:prstGeom>
          <a:solidFill>
            <a:srgbClr val="E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005072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5240"/>
                </a:solidFill>
                <a:latin typeface="Microsoft JhengHei"/>
                <a:ea typeface="Microsoft JhengHei"/>
              </a:rPr>
              <a:t>✓ 重疊 ≤ 15 分鐘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434840"/>
            <a:ext cx="228600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3E2A1E"/>
                </a:solidFill>
                <a:latin typeface="Microsoft JhengHei"/>
                <a:ea typeface="Microsoft JhengHei"/>
              </a:rPr>
              <a:t>同一醫師前後預約最多重疊 15 分鐘，執症有位轉身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64991" y="3794760"/>
            <a:ext cx="2651760" cy="1600200"/>
          </a:xfrm>
          <a:prstGeom prst="roundRect">
            <a:avLst>
              <a:gd name="adj" fmla="val 1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4005072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7A4E3C"/>
                </a:solidFill>
                <a:latin typeface="Microsoft JhengHei"/>
                <a:ea typeface="Microsoft JhengHei"/>
              </a:rPr>
              <a:t>✓ 床位全院共享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434840"/>
            <a:ext cx="228600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3E2A1E"/>
                </a:solidFill>
                <a:latin typeface="Microsoft JhengHei"/>
                <a:ea typeface="Microsoft JhengHei"/>
              </a:rPr>
              <a:t>推拿床／針灸床容量即時檢查，唔會超賣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7064" y="3794760"/>
            <a:ext cx="2651760" cy="1600200"/>
          </a:xfrm>
          <a:prstGeom prst="roundRect">
            <a:avLst>
              <a:gd name="adj" fmla="val 10000"/>
            </a:avLst>
          </a:prstGeom>
          <a:solidFill>
            <a:srgbClr val="E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1" y="4005072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5240"/>
                </a:solidFill>
                <a:latin typeface="Microsoft JhengHei"/>
                <a:ea typeface="Microsoft JhengHei"/>
              </a:rPr>
              <a:t>✓ 醫師獨立時段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1" y="4434840"/>
            <a:ext cx="228600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3E2A1E"/>
                </a:solidFill>
                <a:latin typeface="Microsoft JhengHei"/>
                <a:ea typeface="Microsoft JhengHei"/>
              </a:rPr>
              <a:t>每位醫師自己嘅當值表，請假即時封鎖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89136" y="3794760"/>
            <a:ext cx="2651760" cy="1600200"/>
          </a:xfrm>
          <a:prstGeom prst="roundRect">
            <a:avLst>
              <a:gd name="adj" fmla="val 1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0304" y="4005072"/>
            <a:ext cx="2286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7A4E3C"/>
                </a:solidFill>
                <a:latin typeface="Microsoft JhengHei"/>
                <a:ea typeface="Microsoft JhengHei"/>
              </a:rPr>
              <a:t>✓ 假期自動封鎖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4434840"/>
            <a:ext cx="228600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 i="0">
                <a:solidFill>
                  <a:srgbClr val="3E2A1E"/>
                </a:solidFill>
                <a:latin typeface="Microsoft JhengHei"/>
                <a:ea typeface="Microsoft JhengHei"/>
              </a:rPr>
              <a:t>公眾假期、紅字日、閉診日、特別時段全部計埋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仲有：開放月份管制、營業時間 10:00–19:00、過往日期擋單 — 想約嘅日子唔啱規則，系統直接唔俾過。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02 · 會員體驗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我的預約 × 電子病歴，透明度十足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客戶自己睇得晒，唔使打嚟問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11-member-my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577840" cy="3573825"/>
          </a:xfrm>
          <a:prstGeom prst="rect">
            <a:avLst/>
          </a:prstGeom>
        </p:spPr>
      </p:pic>
      <p:pic>
        <p:nvPicPr>
          <p:cNvPr id="11" name="Picture 10" descr="12-member-med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577840" cy="357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16636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7A4E3C"/>
                </a:solidFill>
                <a:latin typeface="Microsoft JhengHei"/>
                <a:ea typeface="Microsoft JhengHei"/>
              </a:rPr>
              <a:t>我的預約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86400"/>
            <a:ext cx="55778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狀態標籤一目了然、可以自行取消、支援列印 — 每次更改都有 WhatsApp 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16636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5240"/>
                </a:solidFill>
                <a:latin typeface="Microsoft JhengHei"/>
                <a:ea typeface="Microsoft JhengHei"/>
              </a:rPr>
              <a:t>我的病歴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486400"/>
            <a:ext cx="55778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療程相片今次對比上次、醫師音頻記錄、下載病歴摘要、仲有 AI 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02 · 會員體驗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三級會籍，升級全自動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Stripe 付款 → webhook 驗證 → 即刻開通，零人手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0E4D2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828800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3E2A1E"/>
                </a:solidFill>
                <a:latin typeface="Microsoft JhengHei"/>
                <a:ea typeface="Microsoft JhengHei"/>
              </a:rPr>
              <a:t>一般會員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12848"/>
            <a:ext cx="30175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7A4E3C"/>
                </a:solidFill>
                <a:latin typeface="Georgia"/>
                <a:ea typeface="Georgia"/>
              </a:rP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3464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A06853"/>
                </a:solidFill>
                <a:latin typeface="Microsoft JhengHei"/>
                <a:ea typeface="Microsoft JhengHei"/>
              </a:rPr>
              <a:t>免費登記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300984"/>
            <a:ext cx="73152" cy="73152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2880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3E2A1E"/>
                </a:solidFill>
                <a:latin typeface="Microsoft JhengHei"/>
                <a:ea typeface="Microsoft JhengHei"/>
              </a:rPr>
              <a:t>初體驗一小時 $380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685031"/>
            <a:ext cx="73152" cy="73152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84448"/>
            <a:ext cx="2880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3E2A1E"/>
                </a:solidFill>
                <a:latin typeface="Microsoft JhengHei"/>
                <a:ea typeface="Microsoft JhengHei"/>
              </a:rPr>
              <a:t>個人資料管理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069079"/>
            <a:ext cx="73152" cy="73152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68496"/>
            <a:ext cx="2880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3E2A1E"/>
                </a:solidFill>
                <a:latin typeface="Microsoft JhengHei"/>
                <a:ea typeface="Microsoft JhengHei"/>
              </a:rPr>
              <a:t>其餘服務升級解鎖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60020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828800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高級會員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212848"/>
            <a:ext cx="30175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Georgia"/>
                <a:ea typeface="Georgia"/>
              </a:rPr>
              <a:t>$8,800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83464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99B6B"/>
                </a:solidFill>
                <a:latin typeface="Microsoft JhengHei"/>
                <a:ea typeface="Microsoft JhengHei"/>
              </a:rPr>
              <a:t>全服務通行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0" y="3300984"/>
            <a:ext cx="73152" cy="73152"/>
          </a:xfrm>
          <a:prstGeom prst="ellipse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200400"/>
            <a:ext cx="2880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icrosoft JhengHei"/>
                <a:ea typeface="Microsoft JhengHei"/>
              </a:rPr>
              <a:t>針灸 $250 · 手法 $500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0" y="3685031"/>
            <a:ext cx="73152" cy="73152"/>
          </a:xfrm>
          <a:prstGeom prst="ellipse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584448"/>
            <a:ext cx="2880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icrosoft JhengHei"/>
                <a:ea typeface="Microsoft JhengHei"/>
              </a:rPr>
              <a:t>優先時段 + 案例庫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0" y="4069079"/>
            <a:ext cx="73152" cy="73152"/>
          </a:xfrm>
          <a:prstGeom prst="ellipse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968496"/>
            <a:ext cx="2880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icrosoft JhengHei"/>
                <a:ea typeface="Microsoft JhengHei"/>
              </a:rPr>
              <a:t>全部服務即約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160020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3E5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1828800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家庭會員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2212848"/>
            <a:ext cx="30175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Georgia"/>
                <a:ea typeface="Georgia"/>
              </a:rPr>
              <a:t>$16,800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2834640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99B6B"/>
                </a:solidFill>
                <a:latin typeface="Microsoft JhengHei"/>
                <a:ea typeface="Microsoft JhengHei"/>
              </a:rPr>
              <a:t>一人升級 · 全家受惠</a:t>
            </a:r>
          </a:p>
        </p:txBody>
      </p:sp>
      <p:sp>
        <p:nvSpPr>
          <p:cNvPr id="34" name="Oval 33"/>
          <p:cNvSpPr/>
          <p:nvPr/>
        </p:nvSpPr>
        <p:spPr>
          <a:xfrm>
            <a:off x="8366760" y="3300984"/>
            <a:ext cx="73152" cy="73152"/>
          </a:xfrm>
          <a:prstGeom prst="ellipse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200400"/>
            <a:ext cx="2880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icrosoft JhengHei"/>
                <a:ea typeface="Microsoft JhengHei"/>
              </a:rPr>
              <a:t>高級全部功能</a:t>
            </a:r>
          </a:p>
        </p:txBody>
      </p:sp>
      <p:sp>
        <p:nvSpPr>
          <p:cNvPr id="36" name="Oval 35"/>
          <p:cNvSpPr/>
          <p:nvPr/>
        </p:nvSpPr>
        <p:spPr>
          <a:xfrm>
            <a:off x="8366760" y="3685031"/>
            <a:ext cx="73152" cy="73152"/>
          </a:xfrm>
          <a:prstGeom prst="ellipse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584448"/>
            <a:ext cx="2880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icrosoft JhengHei"/>
                <a:ea typeface="Microsoft JhengHei"/>
              </a:rPr>
              <a:t>家庭帳戶 + 子帳戶</a:t>
            </a:r>
          </a:p>
        </p:txBody>
      </p:sp>
      <p:sp>
        <p:nvSpPr>
          <p:cNvPr id="38" name="Oval 37"/>
          <p:cNvSpPr/>
          <p:nvPr/>
        </p:nvSpPr>
        <p:spPr>
          <a:xfrm>
            <a:off x="8366760" y="4069079"/>
            <a:ext cx="73152" cy="73152"/>
          </a:xfrm>
          <a:prstGeom prst="ellipse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968496"/>
            <a:ext cx="2880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Microsoft JhengHei"/>
                <a:ea typeface="Microsoft JhengHei"/>
              </a:rPr>
              <a:t>18 歲以下保險覆蓋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16636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166360"/>
            <a:ext cx="10789920" cy="7772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3E2A1E"/>
                </a:solidFill>
                <a:latin typeface="Microsoft JhengHei"/>
                <a:ea typeface="Microsoft JhengHei"/>
              </a:rPr>
              <a:t>付款流程：會員中心撳「升級」→ Stripe Checkout 安全付款（HKD）→ 官方簽名 webhook 驗證 → 會籍 30 日自動生效；職員亦可代客電話收款開通。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02 · 會員體驗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家庭帳戶 — 細路仔預約都管到妥妥當當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18 歲以下子帳戶由職員代開，家長全程 WhatsApp 收料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21-staff-sub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035040" cy="386676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691640"/>
            <a:ext cx="484632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691640"/>
            <a:ext cx="64008" cy="841248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783080"/>
            <a:ext cx="4480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職員代開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121408"/>
            <a:ext cx="4526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staff.html 填子女姓名＋出生日期，系統自動生成帳號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660904"/>
            <a:ext cx="484632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2660904"/>
            <a:ext cx="64008" cy="841248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752344"/>
            <a:ext cx="4480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暫時密碼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090672"/>
            <a:ext cx="4526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自動產生 BT＋6 位數字，首次登入強制改密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630168"/>
            <a:ext cx="484632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3630168"/>
            <a:ext cx="64008" cy="841248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721608"/>
            <a:ext cx="4480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WhatsApp 直送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059936"/>
            <a:ext cx="4526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登入資料自動發畀家長；失敗即彈大字俾職員抄低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599432"/>
            <a:ext cx="484632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4599432"/>
            <a:ext cx="64008" cy="841248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690872"/>
            <a:ext cx="44805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隨時重設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029200"/>
            <a:ext cx="45262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一撳重設暫時密碼，重新發送，唔怕唔記得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5586983"/>
            <a:ext cx="4846320" cy="566928"/>
          </a:xfrm>
          <a:prstGeom prst="roundRect">
            <a:avLst>
              <a:gd name="adj" fmla="val 16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9168" y="5586983"/>
            <a:ext cx="457200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權限矩陣：&lt;18歲 戶主可管理＋看病歷；≥18歲 只可睇「預約成功」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02 · 會員體驗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醫療分流 — 客戶唔知約邊樣？AI 幫手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答幾條問題，系統建議最適合嘅服務，一鍵直入預約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15-member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81328"/>
            <a:ext cx="6812280" cy="436475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02920" y="185166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746504"/>
            <a:ext cx="40050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症狀分類（雙語）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頭痛肩頸、失眠腸胃… 揀大類就開始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692908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587752"/>
            <a:ext cx="40050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問答式問卷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逐題計分，唔係一次過彈 20 條嚇死人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534156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429000"/>
            <a:ext cx="40050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評分建議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按總分建議服務＋緊急程度，危急個案會提示求醫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5404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270248"/>
            <a:ext cx="40050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一鍵預約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建議完直接跳入預約精靈，無縫接軌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5216652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111496"/>
            <a:ext cx="40050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防濫用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寫入限制 30 次／15 分鐘，session 全程記錄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03 · 內部營運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職員同醫師，各有一張工作檯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同一套介面語言，權限就由伺服器把關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20-staff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577840" cy="4849714"/>
          </a:xfrm>
          <a:prstGeom prst="rect">
            <a:avLst/>
          </a:prstGeom>
        </p:spPr>
      </p:pic>
      <p:pic>
        <p:nvPicPr>
          <p:cNvPr id="11" name="Picture 10" descr="30-docto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577840" cy="357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16636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7A4E3C"/>
                </a:solidFill>
                <a:latin typeface="Microsoft JhengHei"/>
                <a:ea typeface="Microsoft JhengHei"/>
              </a:rPr>
              <a:t>職員版 · staff.html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86400"/>
            <a:ext cx="55778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睇到全院預約、獨有家庭子帳戶管理面板、狀態流轉＋病歴管理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16636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5240"/>
                </a:solidFill>
                <a:latin typeface="Microsoft JhengHei"/>
                <a:ea typeface="Microsoft JhengHei"/>
              </a:rPr>
              <a:t>醫師版 · doctor.html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486400"/>
            <a:ext cx="55778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淨係見到自己嘅預約（API 層強制過濾），介面一致零重新學習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03 · 內部營運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一張預約單嘅一生，職員全程跟到足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由確認到完成，八種狀態一撳即轉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20-staff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309360" cy="548574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86600" y="1783080"/>
            <a:ext cx="804672" cy="402336"/>
          </a:xfrm>
          <a:prstGeom prst="roundRect">
            <a:avLst>
              <a:gd name="adj" fmla="val 50000"/>
            </a:avLst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783080"/>
            <a:ext cx="804672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icrosoft JhengHei"/>
                <a:ea typeface="Microsoft JhengHei"/>
              </a:rPr>
              <a:t>已確認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1783080"/>
            <a:ext cx="18288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A7A6A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783080"/>
            <a:ext cx="804672" cy="402336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5864" y="1783080"/>
            <a:ext cx="804672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7A4E3C"/>
                </a:solidFill>
                <a:latin typeface="Microsoft JhengHei"/>
                <a:ea typeface="Microsoft JhengHei"/>
              </a:rPr>
              <a:t>已到訪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0536" y="1783080"/>
            <a:ext cx="18288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A7A6A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783080"/>
            <a:ext cx="804672" cy="402336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1783080"/>
            <a:ext cx="804672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7A4E3C"/>
                </a:solidFill>
                <a:latin typeface="Microsoft JhengHei"/>
                <a:ea typeface="Microsoft JhengHei"/>
              </a:rPr>
              <a:t>治療中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783080"/>
            <a:ext cx="18288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A7A6A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94392" y="1783080"/>
            <a:ext cx="804672" cy="402336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2" y="1783080"/>
            <a:ext cx="804672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7A4E3C"/>
                </a:solidFill>
                <a:latin typeface="Microsoft JhengHei"/>
                <a:ea typeface="Microsoft JhengHei"/>
              </a:rPr>
              <a:t>配藥中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9064" y="1783080"/>
            <a:ext cx="18288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8A7A6A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63656" y="1783080"/>
            <a:ext cx="804672" cy="402336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63656" y="1783080"/>
            <a:ext cx="804672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Microsoft JhengHei"/>
                <a:ea typeface="Microsoft JhengHei"/>
              </a:rPr>
              <a:t>已完成</a:t>
            </a:r>
          </a:p>
        </p:txBody>
      </p:sp>
      <p:sp>
        <p:nvSpPr>
          <p:cNvPr id="25" name="Oval 24"/>
          <p:cNvSpPr/>
          <p:nvPr/>
        </p:nvSpPr>
        <p:spPr>
          <a:xfrm>
            <a:off x="7086600" y="258318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2478024"/>
            <a:ext cx="44622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例外處理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未到場、已取消、記錄遲到（自動計分鐘數）、還原確認</a:t>
            </a:r>
          </a:p>
        </p:txBody>
      </p:sp>
      <p:sp>
        <p:nvSpPr>
          <p:cNvPr id="27" name="Oval 26"/>
          <p:cNvSpPr/>
          <p:nvPr/>
        </p:nvSpPr>
        <p:spPr>
          <a:xfrm>
            <a:off x="7086600" y="3479292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3374136"/>
            <a:ext cx="44622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病歴管理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主訴／診斷／處方／療程相片／音頻記錄，一次過入晒</a:t>
            </a:r>
          </a:p>
        </p:txBody>
      </p:sp>
      <p:sp>
        <p:nvSpPr>
          <p:cNvPr id="29" name="Oval 28"/>
          <p:cNvSpPr/>
          <p:nvPr/>
        </p:nvSpPr>
        <p:spPr>
          <a:xfrm>
            <a:off x="7086600" y="4375404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7768" y="4270248"/>
            <a:ext cx="44622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今日儀表板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今日預約、已完成、待診人數、本週統計一目了然</a:t>
            </a:r>
          </a:p>
        </p:txBody>
      </p:sp>
      <p:sp>
        <p:nvSpPr>
          <p:cNvPr id="31" name="Oval 30"/>
          <p:cNvSpPr/>
          <p:nvPr/>
        </p:nvSpPr>
        <p:spPr>
          <a:xfrm>
            <a:off x="7086600" y="5271516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87768" y="5166359"/>
            <a:ext cx="44622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遲到統計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客戶遲到歷史全記錄，管理員後台睇到晒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623560"/>
            <a:ext cx="6309360" cy="566928"/>
          </a:xfrm>
          <a:prstGeom prst="roundRect">
            <a:avLst>
              <a:gd name="adj" fmla="val 14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623560"/>
            <a:ext cx="594360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狀態一改，客戶 WhatsApp 即刻收到 — 唔使打電話逐個通知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04 · 管理員後台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14 個模組，全院營運一屏管晒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由預約到收入到官網內容，全部自己嚟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41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035040" cy="386676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664208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64208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儀表板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22208" y="1664208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664208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預約管理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86416" y="1664208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86416" y="1664208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初體驗記錄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450592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450592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收入報表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22208" y="2450592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450592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用戶管理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86416" y="2450592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2450592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家庭帳戶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236976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236976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病歴記錄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22208" y="3236976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8" y="3236976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時段管理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86416" y="3236976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6416" y="3236976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診所設定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4023360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023360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系統設定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22208" y="4023360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4023360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審計日誌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86416" y="4023360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6416" y="4023360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意見箱管理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4809744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4809744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通知管理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22208" y="4809744"/>
            <a:ext cx="1554480" cy="6766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4809744"/>
            <a:ext cx="1554480" cy="6766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7A4E3C"/>
                </a:solidFill>
                <a:latin typeface="Microsoft JhengHei"/>
                <a:ea typeface="Microsoft JhengHei"/>
              </a:rPr>
              <a:t>官網內容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5532120"/>
            <a:ext cx="4864608" cy="566928"/>
          </a:xfrm>
          <a:prstGeom prst="roundRect">
            <a:avLst>
              <a:gd name="adj" fmla="val 14000"/>
            </a:avLst>
          </a:prstGeom>
          <a:solidFill>
            <a:srgbClr val="E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5532120"/>
            <a:ext cx="457200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3E5240"/>
                </a:solidFill>
                <a:latin typeface="Microsoft JhengHei"/>
                <a:ea typeface="Microsoft JhengHei"/>
              </a:rPr>
              <a:t>破壞性操作全部要管理員密碼二次驗證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04 · 管理員後台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預約、用戶、家庭樹 — 管理三寶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資料睇得到，改嘢有關卡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42-admin-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577840" cy="3573825"/>
          </a:xfrm>
          <a:prstGeom prst="rect">
            <a:avLst/>
          </a:prstGeom>
        </p:spPr>
      </p:pic>
      <p:pic>
        <p:nvPicPr>
          <p:cNvPr id="11" name="Picture 10" descr="45-admin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577840" cy="357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138928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7A4E3C"/>
                </a:solidFill>
                <a:latin typeface="Microsoft JhengHei"/>
                <a:ea typeface="Microsoft JhengHei"/>
              </a:rPr>
              <a:t>預約管理 × 初體驗記錄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58968"/>
            <a:ext cx="557784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全院預約狀態流轉、批量清除要二次驗證；訪客初體驗全部追蹤到，方便跟進升級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138928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5240"/>
                </a:solidFill>
                <a:latin typeface="Microsoft JhengHei"/>
                <a:ea typeface="Microsoft JhengHei"/>
              </a:rPr>
              <a:t>用戶管理 × 家庭帳戶樹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458968"/>
            <a:ext cx="557784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8A7A6A"/>
                </a:solidFill>
                <a:latin typeface="Microsoft JhengHei"/>
                <a:ea typeface="Microsoft JhengHei"/>
              </a:rPr>
              <a:t>代客開戶、重設密碼（強制下次改密）、刪除要二次驗證、遲到統計跟人走；家庭樹狀結構一眼睇晒戶主子帳戶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04 · 管理員後台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收入報表 — 數字唔會呃人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日／月／年三個視角，Excel 一嘅入晒數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44-admin-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309360" cy="404252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086600" y="185166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768" y="1746504"/>
            <a:ext cx="4462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三維報表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按日、按月、按年，仲可以指定日期即刻查</a:t>
            </a:r>
          </a:p>
        </p:txBody>
      </p:sp>
      <p:sp>
        <p:nvSpPr>
          <p:cNvPr id="13" name="Oval 12"/>
          <p:cNvSpPr/>
          <p:nvPr/>
        </p:nvSpPr>
        <p:spPr>
          <a:xfrm>
            <a:off x="7086600" y="2692908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2587752"/>
            <a:ext cx="4462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真檔案實測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2026/08/20 日報 24 張收據 HK$12,000，一次過入晒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3534156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3429000"/>
            <a:ext cx="4462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訂閱收入拆分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會籍訂閱同服務收入分開計，睇清楚錢喺邊度嚟</a:t>
            </a:r>
          </a:p>
        </p:txBody>
      </p:sp>
      <p:sp>
        <p:nvSpPr>
          <p:cNvPr id="17" name="Oval 16"/>
          <p:cNvSpPr/>
          <p:nvPr/>
        </p:nvSpPr>
        <p:spPr>
          <a:xfrm>
            <a:off x="7086600" y="4375404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8" y="4270248"/>
            <a:ext cx="4462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收入趨勢圖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柱狀圖一眼見到高低峰</a:t>
            </a:r>
          </a:p>
        </p:txBody>
      </p:sp>
      <p:sp>
        <p:nvSpPr>
          <p:cNvPr id="19" name="Oval 18"/>
          <p:cNvSpPr/>
          <p:nvPr/>
        </p:nvSpPr>
        <p:spPr>
          <a:xfrm>
            <a:off x="7086600" y="5216652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7768" y="5111496"/>
            <a:ext cx="44622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調整項管理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退款、雜項調整全部有記錄，數目對得返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04 · 管理員後台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Excel 匯入實錄 — 真收據真數據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醫館原本用 Excel 記數？上載就自動入庫，唔使逐筆剷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44b-admin-income-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309360" cy="404252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086600" y="1805939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768" y="1700784"/>
            <a:ext cx="44622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兩種格式都食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每日收入細列表（逐張收據）＋每月收入總覽表（逐日合計）</a:t>
            </a:r>
          </a:p>
        </p:txBody>
      </p:sp>
      <p:sp>
        <p:nvSpPr>
          <p:cNvPr id="13" name="Oval 12"/>
          <p:cNvSpPr/>
          <p:nvPr/>
        </p:nvSpPr>
        <p:spPr>
          <a:xfrm>
            <a:off x="7086600" y="267462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2569463"/>
            <a:ext cx="44622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支付方式保留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現金、Payme、八達通、信用卡 — 每張收據獨立成行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354330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3438144"/>
            <a:ext cx="44622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自動去重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同一日／月匯過會擋，刪舊紀錄先可以再入，防計重數</a:t>
            </a:r>
          </a:p>
        </p:txBody>
      </p:sp>
      <p:sp>
        <p:nvSpPr>
          <p:cNvPr id="17" name="Oval 16"/>
          <p:cNvSpPr/>
          <p:nvPr/>
        </p:nvSpPr>
        <p:spPr>
          <a:xfrm>
            <a:off x="7086600" y="441198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8" y="4306824"/>
            <a:ext cx="44622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匯入紀錄可稽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最近 500 筆列晒出嚟，單筆可刪，隨時重匯</a:t>
            </a:r>
          </a:p>
        </p:txBody>
      </p:sp>
      <p:sp>
        <p:nvSpPr>
          <p:cNvPr id="19" name="Oval 18"/>
          <p:cNvSpPr/>
          <p:nvPr/>
        </p:nvSpPr>
        <p:spPr>
          <a:xfrm>
            <a:off x="7086600" y="528066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7768" y="5175504"/>
            <a:ext cx="44622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即時反映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上載完收入報表即刻更新，趨勢圖同步跳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5806440"/>
            <a:ext cx="4663440" cy="566928"/>
          </a:xfrm>
          <a:prstGeom prst="roundRect">
            <a:avLst>
              <a:gd name="adj" fmla="val 14000"/>
            </a:avLst>
          </a:prstGeom>
          <a:solidFill>
            <a:srgbClr val="E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5806440"/>
            <a:ext cx="4297680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3E5240"/>
                </a:solidFill>
                <a:latin typeface="Microsoft JhengHei"/>
                <a:ea typeface="Microsoft JhengHei"/>
              </a:rPr>
              <a:t>示範檔案：daily income.xlsx ＋ monthly income.xlsx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05 · 通知 × 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通知王國 — WhatsApp 行先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客戶喺 WhatsApp 度收到嘢，先至會真係睇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50-admin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81328"/>
            <a:ext cx="6812280" cy="436475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02920" y="1805939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700784"/>
            <a:ext cx="4005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WhatsApp 主渠道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預約確認／更改／取消、提醒、子帳戶資料、停診通知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67462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569463"/>
            <a:ext cx="4005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三 provider 隨時切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Twilio / 360dialog / Android Gateway，環境變數一轉即換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54330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438144"/>
            <a:ext cx="4005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電郵輔助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Gmail SMTP，管理員後台一鍵開關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41198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306824"/>
            <a:ext cx="4005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每日 08:00 自動跑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節氣養生訊息、節日祝賀、天氣提醒（天文台 API）、預約提醒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5280660"/>
            <a:ext cx="82296" cy="82296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175504"/>
            <a:ext cx="400507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3E2A1E"/>
                </a:solidFill>
                <a:latin typeface="Microsoft JhengHei"/>
                <a:ea typeface="Microsoft JhengHei"/>
              </a:rPr>
              <a:t>發送記錄稽核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每封通知有 log，邊個收過咩一目了然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04 · 管理員後台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官網內容自己改，行銷唔使等人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公告、影片、評價、討論區 — 後台直出前台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pic>
        <p:nvPicPr>
          <p:cNvPr id="10" name="Picture 9" descr="51-admin-site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309360" cy="40425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86600" y="1691640"/>
            <a:ext cx="466344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1691640"/>
            <a:ext cx="54864" cy="621792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691640"/>
            <a:ext cx="12344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A4E3C"/>
                </a:solidFill>
                <a:latin typeface="Microsoft JhengHei"/>
                <a:ea typeface="Microsoft JhengHei"/>
              </a:rPr>
              <a:t>公告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691640"/>
            <a:ext cx="310896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診所最新消息即時上架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423160"/>
            <a:ext cx="466344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2423160"/>
            <a:ext cx="54864" cy="621792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2423160"/>
            <a:ext cx="12344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A4E3C"/>
                </a:solidFill>
                <a:latin typeface="Microsoft JhengHei"/>
                <a:ea typeface="Microsoft JhengHei"/>
              </a:rPr>
              <a:t>影片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23160"/>
            <a:ext cx="310896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上傳檔案或 YouTube 連結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3154680"/>
            <a:ext cx="466344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600" y="3154680"/>
            <a:ext cx="54864" cy="621792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3154680"/>
            <a:ext cx="12344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A4E3C"/>
                </a:solidFill>
                <a:latin typeface="Microsoft JhengHei"/>
                <a:ea typeface="Microsoft JhengHei"/>
              </a:rPr>
              <a:t>社交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154680"/>
            <a:ext cx="310896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FB / IG / YT / WhatsApp / 微信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3886200"/>
            <a:ext cx="466344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86600" y="3886200"/>
            <a:ext cx="54864" cy="621792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96912" y="3886200"/>
            <a:ext cx="12344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A4E3C"/>
                </a:solidFill>
                <a:latin typeface="Microsoft JhengHei"/>
                <a:ea typeface="Microsoft JhengHei"/>
              </a:rPr>
              <a:t>動態文字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886200"/>
            <a:ext cx="310896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標語口號想改就改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4617720"/>
            <a:ext cx="466344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86600" y="4617720"/>
            <a:ext cx="54864" cy="621792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4617720"/>
            <a:ext cx="12344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A4E3C"/>
                </a:solidFill>
                <a:latin typeface="Microsoft JhengHei"/>
                <a:ea typeface="Microsoft JhengHei"/>
              </a:rPr>
              <a:t>評價審核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617720"/>
            <a:ext cx="310896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客戶評分先審後登，質素有得控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349240"/>
            <a:ext cx="4663440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86600" y="5349240"/>
            <a:ext cx="54864" cy="621792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96912" y="5349240"/>
            <a:ext cx="123444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7A4E3C"/>
                </a:solidFill>
                <a:latin typeface="Microsoft JhengHei"/>
                <a:ea typeface="Microsoft JhengHei"/>
              </a:rPr>
              <a:t>討論區管理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5349240"/>
            <a:ext cx="310896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不當內容一鍵處理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05 · 通知 × 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安全規格，銀行級咁做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病歴係最私隱嘅嘢，我哋當佢係錢咁守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64008" cy="1234440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1728216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2A1E"/>
                </a:solidFill>
                <a:latin typeface="Microsoft JhengHei"/>
                <a:ea typeface="Microsoft JhengHei"/>
              </a:rPr>
              <a:t>✓ bcrypt 密碼雜湊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103120"/>
            <a:ext cx="32004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舊密碼登入時自動升級加密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0020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600200"/>
            <a:ext cx="64008" cy="1234440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728216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2A1E"/>
                </a:solidFill>
                <a:latin typeface="Microsoft JhengHei"/>
                <a:ea typeface="Microsoft JhengHei"/>
              </a:rPr>
              <a:t>✓ 自製 HS256 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103120"/>
            <a:ext cx="32004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登出黑名單＋全裝置登出，即時封禁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00200"/>
            <a:ext cx="64008" cy="1234440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728216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2A1E"/>
                </a:solidFill>
                <a:latin typeface="Microsoft JhengHei"/>
                <a:ea typeface="Microsoft JhengHei"/>
              </a:rPr>
              <a:t>✓ 圖形驗證碼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103120"/>
            <a:ext cx="32004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cookie 綁定、單次有效、限錯 5 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01752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017520"/>
            <a:ext cx="64008" cy="1234440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3145536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2A1E"/>
                </a:solidFill>
                <a:latin typeface="Microsoft JhengHei"/>
                <a:ea typeface="Microsoft JhengHei"/>
              </a:rPr>
              <a:t>✓ 多層速率限制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3520439"/>
            <a:ext cx="32004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登入 20／15min，驗證碼 10／15min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01752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017520"/>
            <a:ext cx="64008" cy="1234440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3145536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2A1E"/>
                </a:solidFill>
                <a:latin typeface="Microsoft JhengHei"/>
                <a:ea typeface="Microsoft JhengHei"/>
              </a:rPr>
              <a:t>✓ 帳戶＋IP 鎖定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3520439"/>
            <a:ext cx="32004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5 次錯鎖 10 分鐘，防惡意鎖死客戶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01752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3017520"/>
            <a:ext cx="64008" cy="1234440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3145536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2A1E"/>
                </a:solidFill>
                <a:latin typeface="Microsoft JhengHei"/>
                <a:ea typeface="Microsoft JhengHei"/>
              </a:rPr>
              <a:t>✓ 管理員二次驗證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3520439"/>
            <a:ext cx="32004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刪戶口、清預約要再入密碼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4348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434840"/>
            <a:ext cx="64008" cy="1234440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" y="4562855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2A1E"/>
                </a:solidFill>
                <a:latin typeface="Microsoft JhengHei"/>
                <a:ea typeface="Microsoft JhengHei"/>
              </a:rPr>
              <a:t>✓ 靜態檔案白名單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937759"/>
            <a:ext cx="32004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.env／資料庫／源碼封鎖，唔會俾人下載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4348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4434840"/>
            <a:ext cx="64008" cy="1234440"/>
          </a:xfrm>
          <a:prstGeom prst="rect">
            <a:avLst/>
          </a:prstGeom>
          <a:solidFill>
            <a:srgbClr val="7E9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7136" y="4562855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2A1E"/>
                </a:solidFill>
                <a:latin typeface="Microsoft JhengHei"/>
                <a:ea typeface="Microsoft JhengHei"/>
              </a:rPr>
              <a:t>✓ Stripe webhook 簽名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7136" y="4937759"/>
            <a:ext cx="32004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官方簽名驗證，假通知開通唔會過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4348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92440" y="4434840"/>
            <a:ext cx="64008" cy="1234440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1896" y="4562855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3E2A1E"/>
                </a:solidFill>
                <a:latin typeface="Microsoft JhengHei"/>
                <a:ea typeface="Microsoft JhengHei"/>
              </a:rPr>
              <a:t>✓ 病歴檔案雙重驗證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1896" y="4937759"/>
            <a:ext cx="32004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7A6A"/>
                </a:solidFill>
                <a:latin typeface="Microsoft JhengHei"/>
                <a:ea typeface="Microsoft JhengHei"/>
              </a:rPr>
              <a:t>JWT＋session＋擁有權三重檢查先俾睇相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Microsoft JhengHei"/>
                <a:ea typeface="Microsoft JhengHei"/>
              </a:rPr>
              <a:t>仲有：CORS 白名單、檔案上傳格式白名單、路徑穿越檢查、可疑密碼重設活動監察 — 層層都有閘。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1" spc="60">
                <a:solidFill>
                  <a:srgbClr val="A06853"/>
                </a:solidFill>
                <a:latin typeface="Georgia"/>
                <a:ea typeface="Georgia"/>
              </a:rPr>
              <a:t>CHAPTER 06 · 技術總覽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987552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700" b="1" i="0">
                <a:solidFill>
                  <a:srgbClr val="3E2A1E"/>
                </a:solidFill>
                <a:latin typeface="Microsoft JhengHei"/>
                <a:ea typeface="Microsoft JhengHei"/>
              </a:rPr>
              <a:t>技術架構 — 簡單、慳錢、夠硬淨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70432"/>
            <a:ext cx="50292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033271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8A7A6A"/>
                </a:solidFill>
                <a:latin typeface="Microsoft JhengHei"/>
                <a:ea typeface="Microsoft JhengHei"/>
              </a:rPr>
              <a:t>唔使雲端大台，一部機一個檔案就跑得起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85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8A7A6A"/>
                </a:solidFill>
                <a:latin typeface="Georgia"/>
                <a:ea typeface="Georgia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 spc="40">
                <a:solidFill>
                  <a:srgbClr val="8A7A6A"/>
                </a:solidFill>
                <a:latin typeface="Microsoft JhengHei"/>
                <a:ea typeface="Microsoft JhengHei"/>
              </a:rPr>
              <a:t>寶天醫館 JR · 智能預約系統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6400800" cy="960120"/>
          </a:xfrm>
          <a:prstGeom prst="roundRect">
            <a:avLst>
              <a:gd name="adj" fmla="val 1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55648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7A4E3C"/>
                </a:solidFill>
                <a:latin typeface="Microsoft JhengHei"/>
                <a:ea typeface="Microsoft JhengHei"/>
              </a:rPr>
              <a:t>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21408"/>
            <a:ext cx="5943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3E2A1E"/>
                </a:solidFill>
                <a:latin typeface="Microsoft JhengHei"/>
                <a:ea typeface="Microsoft JhengHei"/>
              </a:rPr>
              <a:t>Vue 3 + Tailwind CSS + VANTA 動效（CDN＋本地 fallback）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61488"/>
            <a:ext cx="6400800" cy="960120"/>
          </a:xfrm>
          <a:prstGeom prst="roundRect">
            <a:avLst>
              <a:gd name="adj" fmla="val 10000"/>
            </a:avLst>
          </a:prstGeom>
          <a:solidFill>
            <a:srgbClr val="E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71216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3E5240"/>
                </a:solidFill>
                <a:latin typeface="Microsoft JhengHei"/>
                <a:ea typeface="Microsoft JhengHei"/>
              </a:rPr>
              <a:t>API 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36976"/>
            <a:ext cx="5943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3E2A1E"/>
                </a:solidFill>
                <a:latin typeface="Microsoft JhengHei"/>
                <a:ea typeface="Microsoft JhengHei"/>
              </a:rPr>
              <a:t>Express 5 · 130+ 端點 · 11 個路由模組 · JWT 驗證中介層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77056"/>
            <a:ext cx="6400800" cy="960120"/>
          </a:xfrm>
          <a:prstGeom prst="roundRect">
            <a:avLst>
              <a:gd name="adj" fmla="val 10000"/>
            </a:avLst>
          </a:prstGeom>
          <a:solidFill>
            <a:srgbClr val="F0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4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7A4E3C"/>
                </a:solidFill>
                <a:latin typeface="Microsoft JhengHei"/>
                <a:ea typeface="Microsoft JhengHei"/>
              </a:rPr>
              <a:t>資料層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52544"/>
            <a:ext cx="5943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3E2A1E"/>
                </a:solidFill>
                <a:latin typeface="Microsoft JhengHei"/>
                <a:ea typeface="Microsoft JhengHei"/>
              </a:rPr>
              <a:t>SQLite · 39 張表 · 備份＝複製一個檔案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92624"/>
            <a:ext cx="6400800" cy="960120"/>
          </a:xfrm>
          <a:prstGeom prst="roundRect">
            <a:avLst>
              <a:gd name="adj" fmla="val 10000"/>
            </a:avLst>
          </a:prstGeom>
          <a:solidFill>
            <a:srgbClr val="E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02352"/>
            <a:ext cx="14630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3E5240"/>
                </a:solidFill>
                <a:latin typeface="Microsoft JhengHei"/>
                <a:ea typeface="Microsoft JhengHei"/>
              </a:rPr>
              <a:t>服務層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68112"/>
            <a:ext cx="594360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3E2A1E"/>
                </a:solidFill>
                <a:latin typeface="Microsoft JhengHei"/>
                <a:ea typeface="Microsoft JhengHei"/>
              </a:rPr>
              <a:t>WhatsApp ×3 provider · Gmail SMTP · Stripe · node-cron 排程 · 天文台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645920"/>
            <a:ext cx="443484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1847088"/>
            <a:ext cx="39319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3E2A1E"/>
                </a:solidFill>
                <a:latin typeface="Microsoft JhengHei"/>
                <a:ea typeface="Microsoft JhengHei"/>
              </a:rPr>
              <a:t>部署要點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2286000"/>
            <a:ext cx="457200" cy="32004"/>
          </a:xfrm>
          <a:prstGeom prst="rect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43800" y="2542032"/>
            <a:ext cx="73152" cy="73152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2441448"/>
            <a:ext cx="38404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3E2A1E"/>
                </a:solidFill>
                <a:latin typeface="Microsoft JhengHei"/>
                <a:ea typeface="Microsoft JhengHei"/>
              </a:rPr>
              <a:t>SESSION_SECRET 必設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743200"/>
            <a:ext cx="3840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8A7A6A"/>
                </a:solidFill>
                <a:latin typeface="Microsoft JhengHei"/>
                <a:ea typeface="Microsoft JhengHei"/>
              </a:rPr>
              <a:t>唔設嘅話一重啟全部登入失效</a:t>
            </a:r>
          </a:p>
        </p:txBody>
      </p:sp>
      <p:sp>
        <p:nvSpPr>
          <p:cNvPr id="28" name="Oval 27"/>
          <p:cNvSpPr/>
          <p:nvPr/>
        </p:nvSpPr>
        <p:spPr>
          <a:xfrm>
            <a:off x="7543800" y="3236976"/>
            <a:ext cx="73152" cy="73152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3136392"/>
            <a:ext cx="38404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3E2A1E"/>
                </a:solidFill>
                <a:latin typeface="Microsoft JhengHei"/>
                <a:ea typeface="Microsoft JhengHei"/>
              </a:rPr>
              <a:t>NODE_ENV=production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438144"/>
            <a:ext cx="3840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8A7A6A"/>
                </a:solidFill>
                <a:latin typeface="Microsoft JhengHei"/>
                <a:ea typeface="Microsoft JhengHei"/>
              </a:rPr>
              <a:t>session cookie 自動加 secure（配 HTTPS）</a:t>
            </a:r>
          </a:p>
        </p:txBody>
      </p:sp>
      <p:sp>
        <p:nvSpPr>
          <p:cNvPr id="31" name="Oval 30"/>
          <p:cNvSpPr/>
          <p:nvPr/>
        </p:nvSpPr>
        <p:spPr>
          <a:xfrm>
            <a:off x="7543800" y="3931920"/>
            <a:ext cx="73152" cy="73152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79" y="3831336"/>
            <a:ext cx="38404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3E2A1E"/>
                </a:solidFill>
                <a:latin typeface="Microsoft JhengHei"/>
                <a:ea typeface="Microsoft JhengHei"/>
              </a:rPr>
              <a:t>備份策略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133088"/>
            <a:ext cx="3840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8A7A6A"/>
                </a:solidFill>
                <a:latin typeface="Microsoft JhengHei"/>
                <a:ea typeface="Microsoft JhengHei"/>
              </a:rPr>
              <a:t>每日複製 database.db 一個檔案搞掂</a:t>
            </a:r>
          </a:p>
        </p:txBody>
      </p:sp>
      <p:sp>
        <p:nvSpPr>
          <p:cNvPr id="34" name="Oval 33"/>
          <p:cNvSpPr/>
          <p:nvPr/>
        </p:nvSpPr>
        <p:spPr>
          <a:xfrm>
            <a:off x="7543800" y="4626864"/>
            <a:ext cx="73152" cy="73152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4526280"/>
            <a:ext cx="38404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3E2A1E"/>
                </a:solidFill>
                <a:latin typeface="Microsoft JhengHei"/>
                <a:ea typeface="Microsoft JhengHei"/>
              </a:rPr>
              <a:t>CORS 白名單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4828032"/>
            <a:ext cx="3840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8A7A6A"/>
                </a:solidFill>
                <a:latin typeface="Microsoft JhengHei"/>
                <a:ea typeface="Microsoft JhengHei"/>
              </a:rPr>
              <a:t>ALLOWED_ORIGINS 設定正式網域</a:t>
            </a:r>
          </a:p>
        </p:txBody>
      </p:sp>
      <p:sp>
        <p:nvSpPr>
          <p:cNvPr id="37" name="Oval 36"/>
          <p:cNvSpPr/>
          <p:nvPr/>
        </p:nvSpPr>
        <p:spPr>
          <a:xfrm>
            <a:off x="7543800" y="5321807"/>
            <a:ext cx="73152" cy="73152"/>
          </a:xfrm>
          <a:prstGeom prst="ellipse">
            <a:avLst/>
          </a:prstGeom>
          <a:solidFill>
            <a:srgbClr val="A06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5221224"/>
            <a:ext cx="38404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3E2A1E"/>
                </a:solidFill>
                <a:latin typeface="Microsoft JhengHei"/>
                <a:ea typeface="Microsoft JhengHei"/>
              </a:rPr>
              <a:t>供應商建議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5522976"/>
            <a:ext cx="38404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8A7A6A"/>
                </a:solidFill>
                <a:latin typeface="Microsoft JhengHei"/>
                <a:ea typeface="Microsoft JhengHei"/>
              </a:rPr>
              <a:t>正式環境：360dialog WABA＋Brevo SMTP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1" spc="80">
                <a:solidFill>
                  <a:srgbClr val="B99B6B"/>
                </a:solidFill>
                <a:latin typeface="Georgia"/>
                <a:ea typeface="Georgia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F5ECDD"/>
                </a:solidFill>
                <a:latin typeface="Microsoft JhengHei"/>
                <a:ea typeface="Microsoft JhengHei"/>
              </a:rPr>
              <a:t>一個網站，由頭帶到落尾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5349240" cy="1051560"/>
          </a:xfrm>
          <a:prstGeom prst="roundRect">
            <a:avLst>
              <a:gd name="adj" fmla="val 12000"/>
            </a:avLst>
          </a:prstGeom>
          <a:solidFill>
            <a:srgbClr val="4A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54864" cy="1051560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75688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F0E4D2"/>
                </a:solidFill>
                <a:latin typeface="Microsoft JhengHei"/>
                <a:ea typeface="Microsoft JhengHei"/>
              </a:rPr>
              <a:t>1.  門面夠貴氣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50292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C9B8A2"/>
                </a:solidFill>
                <a:latin typeface="Microsoft JhengHei"/>
                <a:ea typeface="Microsoft JhengHei"/>
              </a:rPr>
              <a:t>earthy spa 設計＋動態波浪，中環定位由第一屏開始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5349240" cy="1051560"/>
          </a:xfrm>
          <a:prstGeom prst="roundRect">
            <a:avLst>
              <a:gd name="adj" fmla="val 12000"/>
            </a:avLst>
          </a:prstGeom>
          <a:solidFill>
            <a:srgbClr val="4A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965960"/>
            <a:ext cx="54864" cy="1051560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75688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F0E4D2"/>
                </a:solidFill>
                <a:latin typeface="Microsoft JhengHei"/>
                <a:ea typeface="Microsoft JhengHei"/>
              </a:rPr>
              <a:t>2.  客戶自己搞掂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68880"/>
            <a:ext cx="50292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C9B8A2"/>
                </a:solidFill>
                <a:latin typeface="Microsoft JhengHei"/>
                <a:ea typeface="Microsoft JhengHei"/>
              </a:rPr>
              <a:t>訪客初體驗→四步預約→自助管理，慳櫃檯人手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72968"/>
            <a:ext cx="5349240" cy="1051560"/>
          </a:xfrm>
          <a:prstGeom prst="roundRect">
            <a:avLst>
              <a:gd name="adj" fmla="val 12000"/>
            </a:avLst>
          </a:prstGeom>
          <a:solidFill>
            <a:srgbClr val="4A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172968"/>
            <a:ext cx="54864" cy="1051560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82696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F0E4D2"/>
                </a:solidFill>
                <a:latin typeface="Microsoft JhengHei"/>
                <a:ea typeface="Microsoft JhengHei"/>
              </a:rPr>
              <a:t>3.  營運有板有眼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75887"/>
            <a:ext cx="50292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C9B8A2"/>
                </a:solidFill>
                <a:latin typeface="Microsoft JhengHei"/>
                <a:ea typeface="Microsoft JhengHei"/>
              </a:rPr>
              <a:t>八種狀態流轉＋遲到統計＋病歴記錄，跟單跟到足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172968"/>
            <a:ext cx="5349240" cy="1051560"/>
          </a:xfrm>
          <a:prstGeom prst="roundRect">
            <a:avLst>
              <a:gd name="adj" fmla="val 12000"/>
            </a:avLst>
          </a:prstGeom>
          <a:solidFill>
            <a:srgbClr val="4A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172968"/>
            <a:ext cx="54864" cy="1051560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282696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F0E4D2"/>
                </a:solidFill>
                <a:latin typeface="Microsoft JhengHei"/>
                <a:ea typeface="Microsoft JhengHei"/>
              </a:rPr>
              <a:t>4.  錢銀清清楚楚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675887"/>
            <a:ext cx="50292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C9B8A2"/>
                </a:solidFill>
                <a:latin typeface="Microsoft JhengHei"/>
                <a:ea typeface="Microsoft JhengHei"/>
              </a:rPr>
              <a:t>Stripe 自動開通＋三維收入報表＋Excel 匯入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379976"/>
            <a:ext cx="5349240" cy="1051560"/>
          </a:xfrm>
          <a:prstGeom prst="roundRect">
            <a:avLst>
              <a:gd name="adj" fmla="val 12000"/>
            </a:avLst>
          </a:prstGeom>
          <a:solidFill>
            <a:srgbClr val="4A3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379976"/>
            <a:ext cx="54864" cy="1051560"/>
          </a:xfrm>
          <a:prstGeom prst="rect">
            <a:avLst/>
          </a:prstGeom>
          <a:solidFill>
            <a:srgbClr val="B9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489704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1" i="0">
                <a:solidFill>
                  <a:srgbClr val="F0E4D2"/>
                </a:solidFill>
                <a:latin typeface="Microsoft JhengHei"/>
                <a:ea typeface="Microsoft JhengHei"/>
              </a:rPr>
              <a:t>5.  安全唔使憂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82896"/>
            <a:ext cx="50292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C9B8A2"/>
                </a:solidFill>
                <a:latin typeface="Microsoft JhengHei"/>
                <a:ea typeface="Microsoft JhengHei"/>
              </a:rPr>
              <a:t>JWT／bcrypt／驗證碼／二次驗證，病歴級防護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 i="0">
                <a:solidFill>
                  <a:srgbClr val="B99B6B"/>
                </a:solidFill>
                <a:latin typeface="Microsoft JhengHei"/>
                <a:ea typeface="Microsoft JhengHei"/>
              </a:rPr>
              <a:t>寶天醫館 JR · 智能預約系統 — 由第一次點入網站，到完成治療最後一步，全部喺同一個系統入面搞掂。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355080"/>
            <a:ext cx="2011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C9B8A2"/>
                </a:solidFill>
                <a:latin typeface="Georgia"/>
                <a:ea typeface="Georgia"/>
              </a:rPr>
              <a:t>2026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