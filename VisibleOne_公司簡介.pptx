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uk Fung Chan" userId="a5da67ef301a9997" providerId="LiveId" clId="{CDEAE2D2-8664-4EF7-8507-5F5EB2725EA6}"/>
    <pc:docChg chg="modSld">
      <pc:chgData name="Cheuk Fung Chan" userId="a5da67ef301a9997" providerId="LiveId" clId="{CDEAE2D2-8664-4EF7-8507-5F5EB2725EA6}" dt="2026-09-01T04:45:17.841" v="90" actId="20577"/>
      <pc:docMkLst>
        <pc:docMk/>
      </pc:docMkLst>
      <pc:sldChg chg="modSp mod">
        <pc:chgData name="Cheuk Fung Chan" userId="a5da67ef301a9997" providerId="LiveId" clId="{CDEAE2D2-8664-4EF7-8507-5F5EB2725EA6}" dt="2026-09-01T04:45:17.841" v="90" actId="20577"/>
        <pc:sldMkLst>
          <pc:docMk/>
          <pc:sldMk cId="0" sldId="264"/>
        </pc:sldMkLst>
        <pc:spChg chg="mod">
          <ac:chgData name="Cheuk Fung Chan" userId="a5da67ef301a9997" providerId="LiveId" clId="{CDEAE2D2-8664-4EF7-8507-5F5EB2725EA6}" dt="2026-09-01T04:45:17.841" v="90" actId="20577"/>
          <ac:spMkLst>
            <pc:docMk/>
            <pc:sldMk cId="0" sldId="264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0E4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E4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880360"/>
            <a:ext cx="12191695" cy="91440"/>
          </a:xfrm>
          <a:prstGeom prst="rect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Visible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AE00"/>
                </a:solidFill>
                <a:latin typeface="Microsoft JhengHei"/>
                <a:ea typeface="Microsoft JhengHei"/>
              </a:rPr>
              <a:t>網站設計 · 數碼營銷 · IT 方案公司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BFDDD8"/>
                </a:solidFill>
                <a:latin typeface="Microsoft JhengHei"/>
                <a:ea typeface="Microsoft JhengHei"/>
              </a:rPr>
              <a:t>2008 年喺香港成立嘅數碼代理商
由設計、開發到數碼營銷，提供一站式網上解決方案
服務多間上市公司、大學、醫療機構與國際品牌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8FB8B4"/>
                </a:solidFill>
                <a:latin typeface="Microsoft JhengHei"/>
                <a:ea typeface="Microsoft JhengHei"/>
              </a:rPr>
              <a:t>2026 · 公司簡介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3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</a:rPr>
              <a:t>公司概覽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A6B69"/>
                </a:solidFill>
                <a:latin typeface="Microsoft JhengHei"/>
                <a:ea typeface="Microsoft JhengHei"/>
              </a:rPr>
              <a:t>一目了然 · 基本資料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97480" cy="1371600"/>
          </a:xfrm>
          <a:prstGeom prst="roundRect">
            <a:avLst/>
          </a:prstGeom>
          <a:solidFill>
            <a:srgbClr val="DFEFEC"/>
          </a:solidFill>
          <a:ln w="1270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514600" cy="7543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B5E50"/>
                </a:solidFill>
                <a:latin typeface="Microsoft JhengHei"/>
                <a:ea typeface="Microsoft JhengHei"/>
              </a:rPr>
              <a:t>2008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514600" cy="480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A6B69"/>
                </a:solidFill>
                <a:latin typeface="Microsoft JhengHei"/>
                <a:ea typeface="Microsoft JhengHei"/>
              </a:rPr>
              <a:t>成立年份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697480" cy="1371600"/>
          </a:xfrm>
          <a:prstGeom prst="roundRect">
            <a:avLst/>
          </a:prstGeom>
          <a:solidFill>
            <a:srgbClr val="DFEFEC"/>
          </a:solidFill>
          <a:ln w="1270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737360"/>
            <a:ext cx="2514600" cy="7543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B5E50"/>
                </a:solidFill>
                <a:latin typeface="Microsoft JhengHei"/>
                <a:ea typeface="Microsoft JhengHei"/>
              </a:rPr>
              <a:t>18+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77440"/>
            <a:ext cx="2514600" cy="480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A6B69"/>
                </a:solidFill>
                <a:latin typeface="Microsoft JhengHei"/>
                <a:ea typeface="Microsoft JhengHei"/>
              </a:rPr>
              <a:t>年行業經驗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2697480" cy="1371600"/>
          </a:xfrm>
          <a:prstGeom prst="roundRect">
            <a:avLst/>
          </a:prstGeom>
          <a:solidFill>
            <a:srgbClr val="DFEFEC"/>
          </a:solidFill>
          <a:ln w="1270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2514600" cy="7543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B5E50"/>
                </a:solidFill>
                <a:latin typeface="Microsoft JhengHei"/>
                <a:ea typeface="Microsoft JhengHei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2514600" cy="480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A6B69"/>
                </a:solidFill>
                <a:latin typeface="Microsoft JhengHei"/>
                <a:ea typeface="Microsoft JhengHei"/>
              </a:rPr>
              <a:t>位員工人數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554480"/>
            <a:ext cx="2697480" cy="1371600"/>
          </a:xfrm>
          <a:prstGeom prst="roundRect">
            <a:avLst/>
          </a:prstGeom>
          <a:solidFill>
            <a:srgbClr val="DFEFEC"/>
          </a:solidFill>
          <a:ln w="1270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4040" y="1737360"/>
            <a:ext cx="2514600" cy="7543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B5E50"/>
                </a:solidFill>
                <a:latin typeface="Microsoft JhengHei"/>
                <a:ea typeface="Microsoft JhengHei"/>
              </a:rPr>
              <a:t>6國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377440"/>
            <a:ext cx="2514600" cy="4800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0">
                <a:solidFill>
                  <a:srgbClr val="5A6B69"/>
                </a:solidFill>
                <a:latin typeface="Microsoft JhengHei"/>
                <a:ea typeface="Microsoft JhengHei"/>
              </a:rPr>
              <a:t>業務分佈（HK/SG 等）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00400"/>
            <a:ext cx="11247120" cy="1508760"/>
          </a:xfrm>
          <a:prstGeom prst="roundRect">
            <a:avLst/>
          </a:prstGeom>
          <a:solidFill>
            <a:srgbClr val="F4F9F8"/>
          </a:solidFill>
          <a:ln w="1270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364992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5E50"/>
                </a:solidFill>
                <a:latin typeface="Microsoft JhengHei"/>
                <a:ea typeface="Microsoft JhengHei"/>
              </a:rPr>
              <a:t>公司資料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162B2A"/>
                </a:solidFill>
                <a:latin typeface="Microsoft JhengHei"/>
                <a:ea typeface="Microsoft JhengHei"/>
              </a:rPr>
              <a:t>公司名稱：Visible One Limited（晫高科技有限公司）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162B2A"/>
                </a:solidFill>
                <a:latin typeface="Microsoft JhengHei"/>
                <a:ea typeface="Microsoft JhengHei"/>
              </a:rPr>
              <a:t>總部：香港新界葵涌葵興路 29–37 號興明工業大廈 8 字樓 B2 室  ·  於新加坡設有辦公室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162B2A"/>
                </a:solidFill>
                <a:latin typeface="Microsoft JhengHei"/>
                <a:ea typeface="Microsoft JhengHei"/>
              </a:rPr>
              <a:t>電話：(852) 2127 0101  ·  電郵：info@visibleone.com.hk  ·  網站：visibleone.com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92040"/>
            <a:ext cx="111556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50" b="1">
                <a:solidFill>
                  <a:srgbClr val="0B5E50"/>
                </a:solidFill>
                <a:latin typeface="Microsoft JhengHei"/>
                <a:ea typeface="Microsoft JhengHei"/>
              </a:rPr>
              <a:t>一句話定位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62B2A"/>
                </a:solidFill>
                <a:latin typeface="Microsoft JhengHei"/>
                <a:ea typeface="Microsoft JhengHei"/>
              </a:rPr>
              <a:t>▸ 香港領先嘅網頁設計與網站開發公司，專注網站、電子商務、本地 SEO 同數碼營銷。</a:t>
            </a:r>
          </a:p>
          <a:p>
            <a:pPr>
              <a:spcAft>
                <a:spcPts val="500"/>
              </a:spcAft>
            </a:pPr>
            <a:r>
              <a:rPr sz="1450" b="1">
                <a:solidFill>
                  <a:srgbClr val="0B5E50"/>
                </a:solidFill>
                <a:latin typeface="Microsoft JhengHei"/>
                <a:ea typeface="Microsoft JhengHei"/>
              </a:rPr>
              <a:t>公司使命</a:t>
            </a:r>
          </a:p>
          <a:p>
            <a:pPr>
              <a:spcAft>
                <a:spcPts val="500"/>
              </a:spcAft>
            </a:pPr>
            <a:r>
              <a:rPr sz="1450" b="0">
                <a:solidFill>
                  <a:srgbClr val="162B2A"/>
                </a:solidFill>
                <a:latin typeface="Microsoft JhengHei"/>
                <a:ea typeface="Microsoft JhengHei"/>
              </a:rPr>
              <a:t>▸ 用數碼營銷方式，幫大小企業喺網上建立品牌、提升銷售同效能。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發展歷程與規模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155680" cy="4983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0B5E50"/>
                </a:solidFill>
                <a:latin typeface="Microsoft JhengHei"/>
                <a:ea typeface="Microsoft JhengHei"/>
              </a:rPr>
              <a:t>發展歷程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2008 年：喺香港成立，主力網站設計與開發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2015 年：正式註冊為有限責任公司（Visible One Limited）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持續擴充：由香港延伸至新加坡（SG）、馬來西亞（MY）、緬甸（MM）等多個市場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成為多個國際平台嘅認證合作夥伴（HubSpot、Google、Shopify、AWS、Microsoft 等）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B5E50"/>
                </a:solidFill>
                <a:latin typeface="Microsoft JhengHei"/>
                <a:ea typeface="Microsoft JhengHei"/>
              </a:rPr>
              <a:t>團隊與規模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2B2A"/>
                </a:solidFill>
                <a:latin typeface="Microsoft JhengHei"/>
                <a:ea typeface="Microsoft JhengHei"/>
              </a:rPr>
              <a:t>▸ 約 19 名員工，設計師、開發者、SEO 專員同內容策劃喺同一屋檐下，項目由簡介到上線無縫過渡。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2B2A"/>
                </a:solidFill>
                <a:latin typeface="Microsoft JhengHei"/>
                <a:ea typeface="Microsoft JhengHei"/>
              </a:rPr>
              <a:t>▸ 服務由初創到上市公司；客戶平均與公司合作約 6 年。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B5E50"/>
                </a:solidFill>
                <a:latin typeface="Microsoft JhengHei"/>
                <a:ea typeface="Microsoft JhengHei"/>
              </a:rPr>
              <a:t>獎項與認證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2B2A"/>
                </a:solidFill>
                <a:latin typeface="Microsoft JhengHei"/>
                <a:ea typeface="Microsoft JhengHei"/>
              </a:rPr>
              <a:t>▸ 獲 TechBehemoths 2025 全球大獎、Google Partner、HubSpot Solution Partner、香港數碼無障礙獎金獎等多項認證。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核心服務總覽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A6B69"/>
                </a:solidFill>
                <a:latin typeface="Microsoft JhengHei"/>
                <a:ea typeface="Microsoft JhengHei"/>
              </a:rPr>
              <a:t>五大範疇 · 一站式網上解決方案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3611880" cy="2148840"/>
          </a:xfrm>
          <a:prstGeom prst="roundRect">
            <a:avLst/>
          </a:prstGeom>
          <a:solidFill>
            <a:srgbClr val="DFEFEC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82296" cy="2148840"/>
          </a:xfrm>
          <a:prstGeom prst="rect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5E50"/>
                </a:solidFill>
                <a:latin typeface="Microsoft JhengHei"/>
                <a:ea typeface="Microsoft JhengHei"/>
              </a:rPr>
              <a:t>網站設計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67712"/>
            <a:ext cx="3246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2B2A"/>
                </a:solidFill>
                <a:latin typeface="Microsoft JhengHei"/>
                <a:ea typeface="Microsoft JhengHei"/>
              </a:rPr>
              <a:t>自訂 UI/UX 設計、響應式設計、品牌導向、多語系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15384" y="1554480"/>
            <a:ext cx="3611880" cy="2148840"/>
          </a:xfrm>
          <a:prstGeom prst="roundRect">
            <a:avLst/>
          </a:prstGeom>
          <a:solidFill>
            <a:srgbClr val="DFEFEC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15384" y="1554480"/>
            <a:ext cx="82296" cy="2148840"/>
          </a:xfrm>
          <a:prstGeom prst="rect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43984" y="1719072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5E50"/>
                </a:solidFill>
                <a:latin typeface="Microsoft JhengHei"/>
                <a:ea typeface="Microsoft JhengHei"/>
              </a:rPr>
              <a:t>網站開發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2267712"/>
            <a:ext cx="3246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2B2A"/>
                </a:solidFill>
                <a:latin typeface="Microsoft JhengHei"/>
                <a:ea typeface="Microsoft JhengHei"/>
              </a:rPr>
              <a:t>WordPress · Laravel · Drupal · React · ASP.NET ·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554480"/>
            <a:ext cx="3611880" cy="2148840"/>
          </a:xfrm>
          <a:prstGeom prst="roundRect">
            <a:avLst/>
          </a:prstGeom>
          <a:solidFill>
            <a:srgbClr val="DFEFEC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65008" y="1554480"/>
            <a:ext cx="82296" cy="2148840"/>
          </a:xfrm>
          <a:prstGeom prst="rect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719072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5E50"/>
                </a:solidFill>
                <a:latin typeface="Microsoft JhengHei"/>
                <a:ea typeface="Microsoft JhengHei"/>
              </a:rPr>
              <a:t>電子商務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267712"/>
            <a:ext cx="3246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2B2A"/>
                </a:solidFill>
                <a:latin typeface="Microsoft JhengHei"/>
                <a:ea typeface="Microsoft JhengHei"/>
              </a:rPr>
              <a:t>Shopify · Magento · WooCommerce · BigCommerce · 自訂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941064"/>
            <a:ext cx="3611880" cy="2148840"/>
          </a:xfrm>
          <a:prstGeom prst="roundRect">
            <a:avLst/>
          </a:prstGeom>
          <a:solidFill>
            <a:srgbClr val="DFEFEC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941064"/>
            <a:ext cx="82296" cy="2148840"/>
          </a:xfrm>
          <a:prstGeom prst="rect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105656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5E50"/>
                </a:solidFill>
                <a:latin typeface="Microsoft JhengHei"/>
                <a:ea typeface="Microsoft JhengHei"/>
              </a:rPr>
              <a:t>數碼營銷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54296"/>
            <a:ext cx="3246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2B2A"/>
                </a:solidFill>
                <a:latin typeface="Microsoft JhengHei"/>
                <a:ea typeface="Microsoft JhengHei"/>
              </a:rPr>
              <a:t>SEO · Google Ads · Facebook/社交媒體 · Inbound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15384" y="3941064"/>
            <a:ext cx="3611880" cy="2148840"/>
          </a:xfrm>
          <a:prstGeom prst="roundRect">
            <a:avLst/>
          </a:prstGeom>
          <a:solidFill>
            <a:srgbClr val="DFEFEC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15384" y="3941064"/>
            <a:ext cx="82296" cy="2148840"/>
          </a:xfrm>
          <a:prstGeom prst="rect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43984" y="4105656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5E50"/>
                </a:solidFill>
                <a:latin typeface="Microsoft JhengHei"/>
                <a:ea typeface="Microsoft JhengHei"/>
              </a:rPr>
              <a:t>IT 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4654296"/>
            <a:ext cx="3246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2B2A"/>
                </a:solidFill>
                <a:latin typeface="Microsoft JhengHei"/>
                <a:ea typeface="Microsoft JhengHei"/>
              </a:rPr>
              <a:t>HubSpot · Azure · Microsoft 365 · Staffcop · 雲端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8" y="3941064"/>
            <a:ext cx="3611880" cy="2148840"/>
          </a:xfrm>
          <a:prstGeom prst="roundRect">
            <a:avLst/>
          </a:prstGeom>
          <a:solidFill>
            <a:srgbClr val="DFEFEC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65008" y="3941064"/>
            <a:ext cx="82296" cy="2148840"/>
          </a:xfrm>
          <a:prstGeom prst="rect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93608" y="4105656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5E50"/>
                </a:solidFill>
                <a:latin typeface="Microsoft JhengHei"/>
                <a:ea typeface="Microsoft JhengHei"/>
              </a:rPr>
              <a:t>創意互動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4654296"/>
            <a:ext cx="3246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2B2A"/>
                </a:solidFill>
                <a:latin typeface="Microsoft JhengHei"/>
                <a:ea typeface="Microsoft JhengHei"/>
              </a:rPr>
              <a:t>360 虛擬導覽 · 影片製作 · 3CX 通訊方案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網站設計 + 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A6B69"/>
                </a:solidFill>
                <a:latin typeface="Microsoft JhengHei"/>
                <a:ea typeface="Microsoft JhengHei"/>
              </a:rPr>
              <a:t>從簡介到上線 · 平台靈活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40680" cy="4480560"/>
          </a:xfrm>
          <a:prstGeom prst="roundRect">
            <a:avLst/>
          </a:prstGeom>
          <a:solidFill>
            <a:srgbClr val="F4F9F8"/>
          </a:solidFill>
          <a:ln w="1778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5E50"/>
                </a:solidFill>
                <a:latin typeface="Microsoft JhengHei"/>
                <a:ea typeface="Microsoft JhengHei"/>
              </a:rPr>
              <a:t>網站設計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498348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>
                <a:solidFill>
                  <a:srgbClr val="162B2A"/>
                </a:solidFill>
                <a:latin typeface="Microsoft JhengHei"/>
                <a:ea typeface="Microsoft JhengHei"/>
              </a:rPr>
              <a:t>• UI / UX 設計：以用戶為本，提升轉換率</a:t>
            </a: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162B2A"/>
                </a:solidFill>
                <a:latin typeface="Microsoft JhengHei"/>
                <a:ea typeface="Microsoft JhengHei"/>
              </a:rPr>
              <a:t>• 響應式設計：手機、平板、桌面全支援</a:t>
            </a: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162B2A"/>
                </a:solidFill>
                <a:latin typeface="Microsoft JhengHei"/>
                <a:ea typeface="Microsoft JhengHei"/>
              </a:rPr>
              <a:t>• 品牌導向：深入了解你嘅品牌與行業</a:t>
            </a: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162B2A"/>
                </a:solidFill>
                <a:latin typeface="Microsoft JhengHei"/>
                <a:ea typeface="Microsoft JhengHei"/>
              </a:rPr>
              <a:t>• 多語系網站經驗豐富（中英日韓等）</a:t>
            </a: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162B2A"/>
                </a:solidFill>
                <a:latin typeface="Microsoft JhengHei"/>
                <a:ea typeface="Microsoft JhengHei"/>
              </a:rPr>
              <a:t>• 設計包埋 SEO 基礎同整合功能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440680" cy="4480560"/>
          </a:xfrm>
          <a:prstGeom prst="roundRect">
            <a:avLst/>
          </a:prstGeom>
          <a:solidFill>
            <a:srgbClr val="F4F9F8"/>
          </a:solidFill>
          <a:ln w="17780">
            <a:solidFill>
              <a:srgbClr val="FF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AE00"/>
                </a:solidFill>
                <a:latin typeface="Microsoft JhengHei"/>
                <a:ea typeface="Microsoft JhengHei"/>
              </a:rPr>
              <a:t>網站開發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98348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>
                <a:solidFill>
                  <a:srgbClr val="162B2A"/>
                </a:solidFill>
                <a:latin typeface="Microsoft JhengHei"/>
                <a:ea typeface="Microsoft JhengHei"/>
              </a:rPr>
              <a:t>• WordPress / Laravel / Drupal / Joomla</a:t>
            </a: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162B2A"/>
                </a:solidFill>
                <a:latin typeface="Microsoft JhengHei"/>
                <a:ea typeface="Microsoft JhengHei"/>
              </a:rPr>
              <a:t>• PHP / ASP.NET / React.js / Python</a:t>
            </a: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162B2A"/>
                </a:solidFill>
                <a:latin typeface="Microsoft JhengHei"/>
                <a:ea typeface="Microsoft JhengHei"/>
              </a:rPr>
              <a:t>• 網絡應用程式與第三方系統整合</a:t>
            </a: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162B2A"/>
                </a:solidFill>
                <a:latin typeface="Microsoft JhengHei"/>
                <a:ea typeface="Microsoft JhengHei"/>
              </a:rPr>
              <a:t>• 內容管理系統（CMS）量身定制</a:t>
            </a:r>
          </a:p>
          <a:p>
            <a:pPr algn="l">
              <a:spcAft>
                <a:spcPts val="700"/>
              </a:spcAft>
            </a:pPr>
            <a:r>
              <a:rPr sz="1450" b="0">
                <a:solidFill>
                  <a:srgbClr val="162B2A"/>
                </a:solidFill>
                <a:latin typeface="Microsoft JhengHei"/>
                <a:ea typeface="Microsoft JhengHei"/>
              </a:rPr>
              <a:t>• 品質保證 + 效能優化 + 持續維護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電子商務方案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A6B69"/>
                </a:solidFill>
                <a:latin typeface="Microsoft JhengHei"/>
                <a:ea typeface="Microsoft JhengHei"/>
              </a:rPr>
              <a:t>高轉換率嘅網上商店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4983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0B5E50"/>
                </a:solidFill>
                <a:latin typeface="Microsoft JhengHei"/>
                <a:ea typeface="Microsoft JhengHei"/>
              </a:rPr>
              <a:t>支援平台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2B2A"/>
                </a:solidFill>
                <a:latin typeface="Microsoft JhengHei"/>
                <a:ea typeface="Microsoft JhengHei"/>
              </a:rPr>
              <a:t>▸ Shopify · Magento · WooCommerce · BigCommerce · OSCommerce · 自訂開發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B5E50"/>
                </a:solidFill>
                <a:latin typeface="Microsoft JhengHei"/>
                <a:ea typeface="Microsoft JhengHei"/>
              </a:rPr>
              <a:t>做啲咩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一站式嘅購物體驗設計：由響應式網頁到品牌電商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第三方整合：付款、物流（Easyship）、ERP、社交平台串連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會員積分系統、轉介計劃、社交媒體 API 自動更新內容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E8A4E"/>
                </a:solidFill>
                <a:latin typeface="Microsoft JhengHei"/>
                <a:ea typeface="Microsoft JhengHei"/>
              </a:rPr>
              <a:t>▸ 託管、安全、備份同持續效能優化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B56A00"/>
                </a:solidFill>
                <a:latin typeface="Microsoft JhengHei"/>
                <a:ea typeface="Microsoft JhengHei"/>
              </a:rPr>
              <a:t>▸ 案例：Mori Jewellery 自訂 PHP/Laravel 電商網站，含積分、轉介、Instagram 整合同 Easyship 物流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數碼營銷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A6B69"/>
                </a:solidFill>
                <a:latin typeface="Microsoft JhengHei"/>
                <a:ea typeface="Microsoft JhengHei"/>
              </a:rPr>
              <a:t>SEO + 廣告 + 內容，全方位觸達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1188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B5E50"/>
                </a:solidFill>
                <a:latin typeface="Microsoft JhengHei"/>
                <a:ea typeface="Microsoft JhengHei"/>
              </a:rPr>
              <a:t>◈ Organic / Local SEO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76272"/>
            <a:ext cx="3246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62B2A"/>
                </a:solidFill>
                <a:latin typeface="Microsoft JhengHei"/>
                <a:ea typeface="Microsoft JhengHei"/>
              </a:rPr>
              <a:t>提升自然排名，本地搜索做得多啲生意入舖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1554480"/>
            <a:ext cx="361188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9704" y="169164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B5E50"/>
                </a:solidFill>
                <a:latin typeface="Microsoft JhengHei"/>
                <a:ea typeface="Microsoft JhengHei"/>
              </a:rPr>
              <a:t>◈ Google Ads（PPC）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9704" y="2176272"/>
            <a:ext cx="3246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62B2A"/>
                </a:solidFill>
                <a:latin typeface="Microsoft JhengHei"/>
                <a:ea typeface="Microsoft JhengHei"/>
              </a:rPr>
              <a:t>搜尋、展示廣告，精準投放提升回報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1554480"/>
            <a:ext cx="361188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8" y="169164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B5E50"/>
                </a:solidFill>
                <a:latin typeface="Microsoft JhengHei"/>
                <a:ea typeface="Microsoft JhengHei"/>
              </a:rPr>
              <a:t>◈ Facebook / Meta 廣告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176272"/>
            <a:ext cx="3246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62B2A"/>
                </a:solidFill>
                <a:latin typeface="Microsoft JhengHei"/>
                <a:ea typeface="Microsoft JhengHei"/>
              </a:rPr>
              <a:t>社交媒體引流同互動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58184"/>
            <a:ext cx="361188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895344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B5E50"/>
                </a:solidFill>
                <a:latin typeface="Microsoft JhengHei"/>
                <a:ea typeface="Microsoft JhengHei"/>
              </a:rPr>
              <a:t>◈ Inbound Marketing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79976"/>
            <a:ext cx="3246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62B2A"/>
                </a:solidFill>
                <a:latin typeface="Microsoft JhengHei"/>
                <a:ea typeface="Microsoft JhengHei"/>
              </a:rPr>
              <a:t>HubSpot 驅動：內容 + 潛在客戶開發 + 客戶維繫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3758184"/>
            <a:ext cx="361188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9704" y="3895344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B5E50"/>
                </a:solidFill>
                <a:latin typeface="Microsoft JhengHei"/>
                <a:ea typeface="Microsoft JhengHei"/>
              </a:rPr>
              <a:t>◈ Email / 社交媒體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4379976"/>
            <a:ext cx="3246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62B2A"/>
                </a:solidFill>
                <a:latin typeface="Microsoft JhengHei"/>
                <a:ea typeface="Microsoft JhengHei"/>
              </a:rPr>
              <a:t>內容策略同電子郵件營銷，提高轉換率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IT 方案 + 雲端服務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50" b="1">
                <a:solidFill>
                  <a:srgbClr val="0B5E50"/>
                </a:solidFill>
                <a:latin typeface="Microsoft JhengHei"/>
                <a:ea typeface="Microsoft JhengHei"/>
              </a:rPr>
              <a:t>IT 解決方案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E8A4E"/>
                </a:solidFill>
                <a:latin typeface="Microsoft JhengHei"/>
                <a:ea typeface="Microsoft JhengHei"/>
              </a:rPr>
              <a:t>▸ HubSpot CRM：營銷、銷售、服務、業務操作一站式整合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E8A4E"/>
                </a:solidFill>
                <a:latin typeface="Microsoft JhengHei"/>
                <a:ea typeface="Microsoft JhengHei"/>
              </a:rPr>
              <a:t>▸ Microsoft 365 / Azure / Dynamics 365 / Power Platform / Teams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E8A4E"/>
                </a:solidFill>
                <a:latin typeface="Microsoft JhengHei"/>
                <a:ea typeface="Microsoft JhengHei"/>
              </a:rPr>
              <a:t>▸ Staffcop：員工電腦活動監控，防止資料外洩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E8A4E"/>
                </a:solidFill>
                <a:latin typeface="Microsoft JhengHei"/>
                <a:ea typeface="Microsoft JhengHei"/>
              </a:rPr>
              <a:t>▸ IT 管理：幫你經營對業務關鍵嘅科技基建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0B5E50"/>
                </a:solidFill>
                <a:latin typeface="Microsoft JhengHei"/>
                <a:ea typeface="Microsoft JhengHei"/>
              </a:rPr>
              <a:t>雲端服務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E8A4E"/>
                </a:solidFill>
                <a:latin typeface="Microsoft JhengHei"/>
                <a:ea typeface="Microsoft JhengHei"/>
              </a:rPr>
              <a:t>▸ 多重雲端合作夥伴：AWS、Azure、Alibaba Cloud、Google Cloud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E8A4E"/>
                </a:solidFill>
                <a:latin typeface="Microsoft JhengHei"/>
                <a:ea typeface="Microsoft JhengHei"/>
              </a:rPr>
              <a:t>▸ 雲端備份 / 遷移、DevOps（CI/CD）、雲端安全、託管式雲端顧問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E8A4E"/>
                </a:solidFill>
                <a:latin typeface="Microsoft JhengHei"/>
                <a:ea typeface="Microsoft JhengHei"/>
              </a:rPr>
              <a:t>▸ SSL / 網站託管 / 惡意軟件監控</a:t>
            </a:r>
          </a:p>
          <a:p>
            <a:pPr>
              <a:spcAft>
                <a:spcPts val="700"/>
              </a:spcAft>
            </a:pPr>
            <a:r>
              <a:rPr sz="1450" b="1">
                <a:solidFill>
                  <a:srgbClr val="0B5E50"/>
                </a:solidFill>
                <a:latin typeface="Microsoft JhengHei"/>
                <a:ea typeface="Microsoft JhengHei"/>
              </a:rPr>
              <a:t>通訊與創意</a:t>
            </a:r>
          </a:p>
          <a:p>
            <a:pPr>
              <a:spcAft>
                <a:spcPts val="700"/>
              </a:spcAft>
            </a:pPr>
            <a:r>
              <a:rPr sz="1450" b="0">
                <a:solidFill>
                  <a:srgbClr val="162B2A"/>
                </a:solidFill>
                <a:latin typeface="Microsoft JhengHei"/>
                <a:ea typeface="Microsoft JhengHei"/>
              </a:rPr>
              <a:t>▸ 3CX IP PBX 通訊方案 · 360 虛擬導覽 · 促銷影片製作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服務過嘅客戶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A6B69"/>
                </a:solidFill>
                <a:latin typeface="Microsoft JhengHei"/>
                <a:ea typeface="Microsoft JhengHei"/>
              </a:rPr>
              <a:t>涵蓋上市公司、大學、醫療、零售與國際品牌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b="0">
                <a:solidFill>
                  <a:srgbClr val="162B2A"/>
                </a:solidFill>
                <a:latin typeface="Microsoft JhengHei"/>
                <a:ea typeface="Microsoft JhengHei"/>
              </a:rPr>
              <a:t>                                                                                    </a:t>
            </a:r>
            <a:endParaRPr sz="1400" b="0" dirty="0">
              <a:solidFill>
                <a:srgbClr val="162B2A"/>
              </a:solidFill>
              <a:latin typeface="Microsoft JhengHei"/>
              <a:ea typeface="Microsoft JhengHei"/>
            </a:endParaRPr>
          </a:p>
        </p:txBody>
      </p:sp>
      <p:pic>
        <p:nvPicPr>
          <p:cNvPr id="6" name="Picture 5" descr="hk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7" y="1975416"/>
            <a:ext cx="1523390" cy="291983"/>
          </a:xfrm>
          <a:prstGeom prst="rect">
            <a:avLst/>
          </a:prstGeom>
        </p:spPr>
      </p:pic>
      <p:pic>
        <p:nvPicPr>
          <p:cNvPr id="7" name="Picture 6" descr="cuh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265" y="1988111"/>
            <a:ext cx="1523390" cy="266593"/>
          </a:xfrm>
          <a:prstGeom prst="rect">
            <a:avLst/>
          </a:prstGeom>
        </p:spPr>
      </p:pic>
      <p:pic>
        <p:nvPicPr>
          <p:cNvPr id="8" name="Picture 7" descr="city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763" y="1852574"/>
            <a:ext cx="854570" cy="537667"/>
          </a:xfrm>
          <a:prstGeom prst="rect">
            <a:avLst/>
          </a:prstGeom>
        </p:spPr>
      </p:pic>
      <p:pic>
        <p:nvPicPr>
          <p:cNvPr id="9" name="Picture 8" descr="hksy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1441" y="1943679"/>
            <a:ext cx="1523390" cy="355457"/>
          </a:xfrm>
          <a:prstGeom prst="rect">
            <a:avLst/>
          </a:prstGeom>
        </p:spPr>
      </p:pic>
      <p:pic>
        <p:nvPicPr>
          <p:cNvPr id="10" name="Picture 9" descr="hk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8529" y="1942186"/>
            <a:ext cx="1523390" cy="358444"/>
          </a:xfrm>
          <a:prstGeom prst="rect">
            <a:avLst/>
          </a:prstGeom>
        </p:spPr>
      </p:pic>
      <p:pic>
        <p:nvPicPr>
          <p:cNvPr id="11" name="Picture 10" descr="c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9645" y="1852574"/>
            <a:ext cx="1075334" cy="537667"/>
          </a:xfrm>
          <a:prstGeom prst="rect">
            <a:avLst/>
          </a:prstGeom>
        </p:spPr>
      </p:pic>
      <p:pic>
        <p:nvPicPr>
          <p:cNvPr id="12" name="Picture 11" descr="scop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464" y="2675534"/>
            <a:ext cx="1252816" cy="537667"/>
          </a:xfrm>
          <a:prstGeom prst="rect">
            <a:avLst/>
          </a:prstGeom>
        </p:spPr>
      </p:pic>
      <p:pic>
        <p:nvPicPr>
          <p:cNvPr id="13" name="Picture 12" descr="hkqa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3090" y="2675534"/>
            <a:ext cx="1371740" cy="537667"/>
          </a:xfrm>
          <a:prstGeom prst="rect">
            <a:avLst/>
          </a:prstGeom>
        </p:spPr>
      </p:pic>
      <p:pic>
        <p:nvPicPr>
          <p:cNvPr id="14" name="Picture 13" descr="hkc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4353" y="2699991"/>
            <a:ext cx="1523390" cy="488754"/>
          </a:xfrm>
          <a:prstGeom prst="rect">
            <a:avLst/>
          </a:prstGeom>
        </p:spPr>
      </p:pic>
      <p:pic>
        <p:nvPicPr>
          <p:cNvPr id="15" name="Picture 14" descr="hkgm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7453" y="2675534"/>
            <a:ext cx="1331365" cy="537667"/>
          </a:xfrm>
          <a:prstGeom prst="rect">
            <a:avLst/>
          </a:prstGeom>
        </p:spPr>
      </p:pic>
      <p:pic>
        <p:nvPicPr>
          <p:cNvPr id="16" name="Picture 15" descr="tmdh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91165" y="2675534"/>
            <a:ext cx="1518118" cy="537667"/>
          </a:xfrm>
          <a:prstGeom prst="rect">
            <a:avLst/>
          </a:prstGeom>
        </p:spPr>
      </p:pic>
      <p:pic>
        <p:nvPicPr>
          <p:cNvPr id="17" name="Picture 16" descr="trinit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35617" y="2693767"/>
            <a:ext cx="1523390" cy="501201"/>
          </a:xfrm>
          <a:prstGeom prst="rect">
            <a:avLst/>
          </a:prstGeom>
        </p:spPr>
      </p:pic>
      <p:pic>
        <p:nvPicPr>
          <p:cNvPr id="18" name="Picture 17" descr="tamjai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0177" y="3502806"/>
            <a:ext cx="1523390" cy="529043"/>
          </a:xfrm>
          <a:prstGeom prst="rect">
            <a:avLst/>
          </a:prstGeom>
        </p:spPr>
      </p:pic>
      <p:pic>
        <p:nvPicPr>
          <p:cNvPr id="19" name="Picture 18" descr="yamato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47265" y="3529298"/>
            <a:ext cx="1523390" cy="476059"/>
          </a:xfrm>
          <a:prstGeom prst="rect">
            <a:avLst/>
          </a:prstGeom>
        </p:spPr>
      </p:pic>
      <p:pic>
        <p:nvPicPr>
          <p:cNvPr id="20" name="Picture 19" descr="longcham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4353" y="3637205"/>
            <a:ext cx="1523390" cy="260245"/>
          </a:xfrm>
          <a:prstGeom prst="rect">
            <a:avLst/>
          </a:prstGeom>
        </p:spPr>
      </p:pic>
      <p:pic>
        <p:nvPicPr>
          <p:cNvPr id="21" name="Picture 20" descr="ike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31052" y="3498494"/>
            <a:ext cx="1344167" cy="537667"/>
          </a:xfrm>
          <a:prstGeom prst="rect">
            <a:avLst/>
          </a:prstGeom>
        </p:spPr>
      </p:pic>
      <p:pic>
        <p:nvPicPr>
          <p:cNvPr id="22" name="Picture 21" descr="empero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78140" y="3498494"/>
            <a:ext cx="1344167" cy="537667"/>
          </a:xfrm>
          <a:prstGeom prst="rect">
            <a:avLst/>
          </a:prstGeom>
        </p:spPr>
      </p:pic>
      <p:pic>
        <p:nvPicPr>
          <p:cNvPr id="23" name="Picture 22" descr="mori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12220" y="3498494"/>
            <a:ext cx="1370183" cy="537667"/>
          </a:xfrm>
          <a:prstGeom prst="rect">
            <a:avLst/>
          </a:prstGeom>
        </p:spPr>
      </p:pic>
      <p:pic>
        <p:nvPicPr>
          <p:cNvPr id="24" name="Picture 23" descr="sautao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1549" y="4321454"/>
            <a:ext cx="1040645" cy="537667"/>
          </a:xfrm>
          <a:prstGeom prst="rect">
            <a:avLst/>
          </a:prstGeom>
        </p:spPr>
      </p:pic>
      <p:pic>
        <p:nvPicPr>
          <p:cNvPr id="25" name="Picture 24" descr="lkkhpg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20285" y="4321454"/>
            <a:ext cx="777349" cy="537667"/>
          </a:xfrm>
          <a:prstGeom prst="rect">
            <a:avLst/>
          </a:prstGeom>
        </p:spPr>
      </p:pic>
      <p:pic>
        <p:nvPicPr>
          <p:cNvPr id="26" name="Picture 25" descr="healthyse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97680" y="4321454"/>
            <a:ext cx="1316735" cy="537667"/>
          </a:xfrm>
          <a:prstGeom prst="rect">
            <a:avLst/>
          </a:prstGeom>
        </p:spPr>
      </p:pic>
      <p:pic>
        <p:nvPicPr>
          <p:cNvPr id="27" name="Picture 26" descr="hom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41441" y="4431602"/>
            <a:ext cx="1523390" cy="317372"/>
          </a:xfrm>
          <a:prstGeom prst="rect">
            <a:avLst/>
          </a:prstGeom>
        </p:spPr>
      </p:pic>
      <p:pic>
        <p:nvPicPr>
          <p:cNvPr id="28" name="Picture 27" descr="tutortim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88529" y="4482381"/>
            <a:ext cx="1523390" cy="215813"/>
          </a:xfrm>
          <a:prstGeom prst="rect">
            <a:avLst/>
          </a:prstGeom>
        </p:spPr>
      </p:pic>
      <p:pic>
        <p:nvPicPr>
          <p:cNvPr id="29" name="Picture 28" descr="fulbright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35617" y="4393517"/>
            <a:ext cx="1523390" cy="393542"/>
          </a:xfrm>
          <a:prstGeom prst="rect">
            <a:avLst/>
          </a:prstGeom>
        </p:spPr>
      </p:pic>
      <p:pic>
        <p:nvPicPr>
          <p:cNvPr id="30" name="Picture 29" descr="hikvision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00177" y="5318036"/>
            <a:ext cx="1523390" cy="190423"/>
          </a:xfrm>
          <a:prstGeom prst="rect">
            <a:avLst/>
          </a:prstGeom>
        </p:spPr>
      </p:pic>
      <p:pic>
        <p:nvPicPr>
          <p:cNvPr id="31" name="Picture 30" descr="hashkey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347265" y="5178392"/>
            <a:ext cx="1523390" cy="469711"/>
          </a:xfrm>
          <a:prstGeom prst="rect">
            <a:avLst/>
          </a:prstGeom>
        </p:spPr>
      </p:pic>
      <p:pic>
        <p:nvPicPr>
          <p:cNvPr id="32" name="Picture 31" descr="sunnex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194353" y="5270430"/>
            <a:ext cx="1523390" cy="285635"/>
          </a:xfrm>
          <a:prstGeom prst="rect">
            <a:avLst/>
          </a:prstGeom>
        </p:spPr>
      </p:pic>
      <p:pic>
        <p:nvPicPr>
          <p:cNvPr id="33" name="Picture 32" descr="utpieces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65335" y="5144414"/>
            <a:ext cx="675602" cy="537667"/>
          </a:xfrm>
          <a:prstGeom prst="rect">
            <a:avLst/>
          </a:prstGeom>
        </p:spPr>
      </p:pic>
      <p:pic>
        <p:nvPicPr>
          <p:cNvPr id="34" name="Picture 33" descr="sunshinelight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88529" y="5226710"/>
            <a:ext cx="1523390" cy="373075"/>
          </a:xfrm>
          <a:prstGeom prst="rect">
            <a:avLst/>
          </a:prstGeom>
        </p:spPr>
      </p:pic>
      <p:pic>
        <p:nvPicPr>
          <p:cNvPr id="35" name="Picture 34" descr="goodwell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735617" y="5188051"/>
            <a:ext cx="1523390" cy="450393"/>
          </a:xfrm>
          <a:prstGeom prst="rect">
            <a:avLst/>
          </a:prstGeom>
        </p:spPr>
      </p:pic>
      <p:pic>
        <p:nvPicPr>
          <p:cNvPr id="36" name="Picture 35" descr="tannerdewitt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0586" y="5967374"/>
            <a:ext cx="1382572" cy="537667"/>
          </a:xfrm>
          <a:prstGeom prst="rect">
            <a:avLst/>
          </a:prstGeom>
        </p:spPr>
      </p:pic>
      <p:pic>
        <p:nvPicPr>
          <p:cNvPr id="37" name="Picture 36" descr="ayp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347265" y="6109259"/>
            <a:ext cx="1523390" cy="253898"/>
          </a:xfrm>
          <a:prstGeom prst="rect">
            <a:avLst/>
          </a:prstGeom>
        </p:spPr>
      </p:pic>
      <p:pic>
        <p:nvPicPr>
          <p:cNvPr id="38" name="Picture 37" descr="beam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194353" y="6027820"/>
            <a:ext cx="1523390" cy="416776"/>
          </a:xfrm>
          <a:prstGeom prst="rect">
            <a:avLst/>
          </a:prstGeom>
        </p:spPr>
      </p:pic>
      <p:pic>
        <p:nvPicPr>
          <p:cNvPr id="39" name="Picture 38" descr="accolad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41441" y="6005202"/>
            <a:ext cx="1523390" cy="462011"/>
          </a:xfrm>
          <a:prstGeom prst="rect">
            <a:avLst/>
          </a:prstGeom>
        </p:spPr>
      </p:pic>
      <p:pic>
        <p:nvPicPr>
          <p:cNvPr id="40" name="Picture 39" descr="extrans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888529" y="6007699"/>
            <a:ext cx="1523390" cy="457017"/>
          </a:xfrm>
          <a:prstGeom prst="rect">
            <a:avLst/>
          </a:prstGeom>
        </p:spPr>
      </p:pic>
      <p:pic>
        <p:nvPicPr>
          <p:cNvPr id="41" name="Picture 40" descr="fhki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735617" y="6042611"/>
            <a:ext cx="1523390" cy="3871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精選客戶案例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A6B69"/>
                </a:solidFill>
                <a:latin typeface="Microsoft JhengHei"/>
                <a:ea typeface="Microsoft JhengHei"/>
              </a:rPr>
              <a:t>上市公司 · 大學 · 國際品牌 · 醫療機構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2148840"/>
          </a:xfrm>
          <a:prstGeom prst="roundRect">
            <a:avLst/>
          </a:prstGeom>
          <a:solidFill>
            <a:srgbClr val="F4F9F8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640080" cy="64008"/>
          </a:xfrm>
          <a:prstGeom prst="rect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5564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5E50"/>
                </a:solidFill>
                <a:latin typeface="Microsoft JhengHei"/>
                <a:ea typeface="Microsoft JhengHei"/>
              </a:rPr>
              <a:t>CTF Services Limited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5029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62B2A"/>
                </a:solidFill>
                <a:latin typeface="Microsoft JhengHei"/>
                <a:ea typeface="Microsoft JhengHei"/>
              </a:rPr>
              <a:t>為大型企業把投資者關係與永續網站由 Sitecore 遷移至模組化 Laravel CMS，節省授權費並提升效能。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486400" cy="2148840"/>
          </a:xfrm>
          <a:prstGeom prst="roundRect">
            <a:avLst/>
          </a:prstGeom>
          <a:solidFill>
            <a:srgbClr val="F4F9F8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2" y="1554480"/>
            <a:ext cx="640080" cy="64008"/>
          </a:xfrm>
          <a:prstGeom prst="rect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75564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5E50"/>
                </a:solidFill>
                <a:latin typeface="Microsoft JhengHei"/>
                <a:ea typeface="Microsoft JhengHei"/>
              </a:rPr>
              <a:t>SATS HK 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5029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62B2A"/>
                </a:solidFill>
                <a:latin typeface="Microsoft JhengHei"/>
                <a:ea typeface="Microsoft JhengHei"/>
              </a:rPr>
              <a:t>為香港國際機場地勤服務公司開發自訂 Laravel 方案，管理複雜多語系內容並支援未來增長。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59352"/>
            <a:ext cx="5486400" cy="2148840"/>
          </a:xfrm>
          <a:prstGeom prst="roundRect">
            <a:avLst/>
          </a:prstGeom>
          <a:solidFill>
            <a:srgbClr val="F4F9F8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959352"/>
            <a:ext cx="640080" cy="64008"/>
          </a:xfrm>
          <a:prstGeom prst="rect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5E50"/>
                </a:solidFill>
                <a:latin typeface="Microsoft JhengHei"/>
                <a:ea typeface="Microsoft JhengHei"/>
              </a:rPr>
              <a:t>Mori Jewellery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90872"/>
            <a:ext cx="5029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62B2A"/>
                </a:solidFill>
                <a:latin typeface="Microsoft JhengHei"/>
                <a:ea typeface="Microsoft JhengHei"/>
              </a:rPr>
              <a:t>自訂 PHP/Laravel 電商網站：積分系統、轉介計劃、Instagram 整合兼 Easyship 物流。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959352"/>
            <a:ext cx="5486400" cy="2148840"/>
          </a:xfrm>
          <a:prstGeom prst="roundRect">
            <a:avLst/>
          </a:prstGeom>
          <a:solidFill>
            <a:srgbClr val="F4F9F8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2" y="3959352"/>
            <a:ext cx="640080" cy="64008"/>
          </a:xfrm>
          <a:prstGeom prst="rect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41605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5E50"/>
                </a:solidFill>
                <a:latin typeface="Microsoft JhengHei"/>
                <a:ea typeface="Microsoft JhengHei"/>
              </a:rPr>
              <a:t>Loeb Smith / Remfly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690872"/>
            <a:ext cx="50292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62B2A"/>
                </a:solidFill>
                <a:latin typeface="Microsoft JhengHei"/>
                <a:ea typeface="Microsoft JhengHei"/>
              </a:rPr>
              <a:t>分別為法律事務所與酒類進口商建立強大嘅內容同產品管理系統。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認證合作夥伴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A6B69"/>
                </a:solidFill>
                <a:latin typeface="Microsoft JhengHei"/>
                <a:ea typeface="Microsoft JhengHei"/>
              </a:rPr>
              <a:t>同全球頂尖平台合作，確保質素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5E50"/>
                </a:solidFill>
                <a:latin typeface="Microsoft JhengHei"/>
                <a:ea typeface="Microsoft JhengHei"/>
              </a:rPr>
              <a:t>HubSpot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B2A"/>
                </a:solidFill>
                <a:latin typeface="Microsoft JhengHei"/>
                <a:ea typeface="Microsoft JhengHei"/>
              </a:rPr>
              <a:t>認證 Solution Provider，驅動 Inbound 營銷、銷售與服務自動化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54480"/>
            <a:ext cx="54864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16916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5E50"/>
                </a:solidFill>
                <a:latin typeface="Microsoft JhengHei"/>
                <a:ea typeface="Microsoft JhengHei"/>
              </a:rPr>
              <a:t>Google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21408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B2A"/>
                </a:solidFill>
                <a:latin typeface="Microsoft JhengHei"/>
                <a:ea typeface="Microsoft JhengHei"/>
              </a:rPr>
              <a:t>認證 Partner，精通 Google Ads 同 AdWords，幫你帶嚟回報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73552"/>
            <a:ext cx="54864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410712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5E50"/>
                </a:solidFill>
                <a:latin typeface="Microsoft JhengHei"/>
                <a:ea typeface="Microsoft JhengHei"/>
              </a:rPr>
              <a:t>Shopify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B2A"/>
                </a:solidFill>
                <a:latin typeface="Microsoft JhengHei"/>
                <a:ea typeface="Microsoft JhengHei"/>
              </a:rPr>
              <a:t>夥伴代理，最擅長提升你 Shopify 商店嘅表現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273552"/>
            <a:ext cx="54864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3410712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5E50"/>
                </a:solidFill>
                <a:latin typeface="Microsoft JhengHei"/>
                <a:ea typeface="Microsoft JhengHei"/>
              </a:rPr>
              <a:t>AWS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840480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B2A"/>
                </a:solidFill>
                <a:latin typeface="Microsoft JhengHei"/>
                <a:ea typeface="Microsoft JhengHei"/>
              </a:rPr>
              <a:t>全球策略合作夥伴，提供業界領先嘅雲端服務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92624"/>
            <a:ext cx="54864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12978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5E50"/>
                </a:solidFill>
                <a:latin typeface="Microsoft JhengHei"/>
                <a:ea typeface="Microsoft JhengHei"/>
              </a:rPr>
              <a:t>Microsoft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559552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B2A"/>
                </a:solidFill>
                <a:latin typeface="Microsoft JhengHei"/>
                <a:ea typeface="Microsoft JhengHei"/>
              </a:rPr>
              <a:t>企業級 Microsoft 365、Azure、Dynamics 365 等雲端平台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992624"/>
            <a:ext cx="54864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A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512978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5E50"/>
                </a:solidFill>
                <a:latin typeface="Microsoft JhengHei"/>
                <a:ea typeface="Microsoft JhengHei"/>
              </a:rPr>
              <a:t>Easyship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559552"/>
            <a:ext cx="5029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B2A"/>
                </a:solidFill>
                <a:latin typeface="Microsoft JhengHei"/>
                <a:ea typeface="Microsoft JhengHei"/>
              </a:rPr>
              <a:t>物流整合夥伴，慳運輸成本，改善電商出貨體驗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Microsoft JhengHei"/>
                <a:ea typeface="Microsoft JhengHei"/>
              </a:rPr>
              <a:t>客戶點睇我哋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A6B69"/>
                </a:solidFill>
                <a:latin typeface="Microsoft JhengHei"/>
                <a:ea typeface="Microsoft JhengHei"/>
              </a:rPr>
              <a:t>真實客戶評價（節錄）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1600200"/>
          </a:xfrm>
          <a:prstGeom prst="roundRect">
            <a:avLst/>
          </a:prstGeom>
          <a:solidFill>
            <a:srgbClr val="F4F9F8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21792" y="1691640"/>
            <a:ext cx="384048" cy="384048"/>
          </a:xfrm>
          <a:prstGeom prst="ellipse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19072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B2A"/>
                </a:solidFill>
                <a:latin typeface="Microsoft JhengHei"/>
                <a:ea typeface="Microsoft JhengHei"/>
              </a:rPr>
              <a:t>「佢哋好有耐心，答我哋每一條問題，幫我哋解決所有難題。」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974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0B5E50"/>
                </a:solidFill>
                <a:latin typeface="Microsoft JhengHei"/>
                <a:ea typeface="Microsoft JhengHei"/>
              </a:rPr>
              <a:t>— Alex Hung · Tutor Time 資訊科技經理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486400" cy="1600200"/>
          </a:xfrm>
          <a:prstGeom prst="roundRect">
            <a:avLst/>
          </a:prstGeom>
          <a:solidFill>
            <a:srgbClr val="F4F9F8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64224" y="1691640"/>
            <a:ext cx="384048" cy="384048"/>
          </a:xfrm>
          <a:prstGeom prst="ellipse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2" y="1719072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B2A"/>
                </a:solidFill>
                <a:latin typeface="Microsoft JhengHei"/>
                <a:ea typeface="Microsoft JhengHei"/>
              </a:rPr>
              <a:t>「Visible One 表現專業，遇到問題總有解決方案。」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5432" y="26974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0B5E50"/>
                </a:solidFill>
                <a:latin typeface="Microsoft JhengHei"/>
                <a:ea typeface="Microsoft JhengHei"/>
              </a:rPr>
              <a:t>— Dani Chen · HOM 顧問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55848"/>
            <a:ext cx="5486400" cy="1600200"/>
          </a:xfrm>
          <a:prstGeom prst="roundRect">
            <a:avLst/>
          </a:prstGeom>
          <a:solidFill>
            <a:srgbClr val="F4F9F8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1792" y="3493008"/>
            <a:ext cx="384048" cy="384048"/>
          </a:xfrm>
          <a:prstGeom prst="ellipse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5204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B2A"/>
                </a:solidFill>
                <a:latin typeface="Microsoft JhengHei"/>
                <a:ea typeface="Microsoft JhengHei"/>
              </a:rPr>
              <a:t>「佢哋絕對信得過，團隊專業、幫到手、反應快又識答。」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49884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0B5E50"/>
                </a:solidFill>
                <a:latin typeface="Microsoft JhengHei"/>
                <a:ea typeface="Microsoft JhengHei"/>
              </a:rPr>
              <a:t>— Joe Chau · HKGGA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355848"/>
            <a:ext cx="5486400" cy="1600200"/>
          </a:xfrm>
          <a:prstGeom prst="roundRect">
            <a:avLst/>
          </a:prstGeom>
          <a:solidFill>
            <a:srgbClr val="F4F9F8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64224" y="3493008"/>
            <a:ext cx="384048" cy="384048"/>
          </a:xfrm>
          <a:prstGeom prst="ellipse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2" y="35204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B2A"/>
                </a:solidFill>
                <a:latin typeface="Microsoft JhengHei"/>
                <a:ea typeface="Microsoft JhengHei"/>
              </a:rPr>
              <a:t>「佢哋肯花時間喺我哋有限資源內搵解決方法，設身處地幫我哋。」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449884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0B5E50"/>
                </a:solidFill>
                <a:latin typeface="Microsoft JhengHei"/>
                <a:ea typeface="Microsoft JhengHei"/>
              </a:rPr>
              <a:t>— Hon Chow · Sunnex Products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157216"/>
            <a:ext cx="5486400" cy="1600200"/>
          </a:xfrm>
          <a:prstGeom prst="roundRect">
            <a:avLst/>
          </a:prstGeom>
          <a:solidFill>
            <a:srgbClr val="F4F9F8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1792" y="5294376"/>
            <a:ext cx="384048" cy="384048"/>
          </a:xfrm>
          <a:prstGeom prst="ellipse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32180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B2A"/>
                </a:solidFill>
                <a:latin typeface="Microsoft JhengHei"/>
                <a:ea typeface="Microsoft JhengHei"/>
              </a:rPr>
              <a:t>「即刻上門、仔細評估、俾建議跟住報價，回覆快，交貨冇延誤。」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6300216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0B5E50"/>
                </a:solidFill>
                <a:latin typeface="Microsoft JhengHei"/>
                <a:ea typeface="Microsoft JhengHei"/>
              </a:rPr>
              <a:t>— Dan Kashtanov · 3D Mart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5157216"/>
            <a:ext cx="5486400" cy="1600200"/>
          </a:xfrm>
          <a:prstGeom prst="roundRect">
            <a:avLst/>
          </a:prstGeom>
          <a:solidFill>
            <a:srgbClr val="F4F9F8"/>
          </a:solidFill>
          <a:ln w="15240">
            <a:solidFill>
              <a:srgbClr val="0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64224" y="5294376"/>
            <a:ext cx="384048" cy="384048"/>
          </a:xfrm>
          <a:prstGeom prst="ellipse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2" y="532180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62B2A"/>
                </a:solidFill>
                <a:latin typeface="Microsoft JhengHei"/>
                <a:ea typeface="Microsoft JhengHei"/>
              </a:rPr>
              <a:t>「同佢哋合作對建立我哋無可比擬嘅網上形象至關重要，大大提升流量同互動。」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6300216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0B5E50"/>
                </a:solidFill>
                <a:latin typeface="Microsoft JhengHei"/>
                <a:ea typeface="Microsoft JhengHei"/>
              </a:rPr>
              <a:t>— Ava · spacio.sg 市場經理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80360"/>
            <a:ext cx="12191695" cy="91440"/>
          </a:xfrm>
          <a:prstGeom prst="rect">
            <a:avLst/>
          </a:prstGeom>
          <a:solidFill>
            <a:srgbClr val="FFA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</a:rPr>
              <a:t>Let’s make it 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FFAE00"/>
                </a:solidFill>
                <a:latin typeface="Microsoft JhengHei"/>
                <a:ea typeface="Microsoft JhengHei"/>
              </a:rPr>
              <a:t>需要網站、電商定數碼營銷？搵我哋傾下你嘅項目。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503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450" b="0">
                <a:solidFill>
                  <a:srgbClr val="E0F0EC"/>
                </a:solidFill>
                <a:latin typeface="Microsoft JhengHei"/>
                <a:ea typeface="Microsoft JhengHei"/>
              </a:rPr>
              <a:t>地址：香港新界葵涌葵興路 29–37 號興明工業大廈 8 字樓 B2 室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E0F0EC"/>
                </a:solidFill>
                <a:latin typeface="Microsoft JhengHei"/>
                <a:ea typeface="Microsoft JhengHei"/>
              </a:rPr>
              <a:t>電話：(852) 2127 0101　·　電郵：info@visibleone.com.hk</a:t>
            </a:r>
          </a:p>
          <a:p>
            <a:pPr algn="ctr">
              <a:spcAft>
                <a:spcPts val="800"/>
              </a:spcAft>
            </a:pPr>
            <a:r>
              <a:rPr sz="1450" b="0">
                <a:solidFill>
                  <a:srgbClr val="E0F0EC"/>
                </a:solidFill>
                <a:latin typeface="Microsoft JhengHei"/>
                <a:ea typeface="Microsoft JhengHei"/>
              </a:rPr>
              <a:t>網站：visibleone.com　·　Instagram：@visibleonehk　·　Facebook/LinkedIn：@VisibleOneHK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8FB8B4"/>
                </a:solidFill>
                <a:latin typeface="Microsoft JhengHei"/>
                <a:ea typeface="Microsoft JhengHei"/>
              </a:rPr>
              <a:t>資料來源：visibleone.com 官方網站及公開資料 · 圖片為各品牌商標，只作簡介用途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802</Words>
  <Application>Microsoft Office PowerPoint</Application>
  <PresentationFormat>寬螢幕</PresentationFormat>
  <Paragraphs>148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Cheuk Fung Chan</cp:lastModifiedBy>
  <cp:revision>1</cp:revision>
  <dcterms:created xsi:type="dcterms:W3CDTF">2013-01-27T09:14:16Z</dcterms:created>
  <dcterms:modified xsi:type="dcterms:W3CDTF">2026-09-01T04:45:18Z</dcterms:modified>
  <cp:category/>
</cp:coreProperties>
</file>