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120640"/>
            <a:ext cx="12191695" cy="17373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AWS 雲端服務估算與設定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400" b="0">
                <a:solidFill>
                  <a:srgbClr val="86EFAC"/>
                </a:solidFill>
                <a:latin typeface="Microsoft JhengHei"/>
                <a:ea typeface="Microsoft JhengHei"/>
              </a:rPr>
              <a:t>寶天醫館智能預約系統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3272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</a:rPr>
              <a:t>部署全套服務清單　·　每項詳細設定　·　成本估算　·　常用地雷提醒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A7F3D0"/>
                </a:solidFill>
                <a:latin typeface="Microsoft JhengHei"/>
                <a:ea typeface="Microsoft JhengHei"/>
              </a:rPr>
              <a:t>2026 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用咩服務 — 一覽表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所有項目＋每月估算成本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21945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AWS 服務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每月費用(USD)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Amazon EC2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行 Node.js server.js(全個系統)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~$18–20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Amazon EBS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伺服機磁碟 + 資料庫備份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~$3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Amazon S3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上傳圖片/影片/backup 儲存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~$1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Amazon Route 53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網域名 DNS + 指向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~$0.90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AWS Certificate Manager (ACM)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HTTPS 加密憑證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免費 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Amazon CloudWatch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監控 + server log + 警報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~$1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Amazon CloudTrail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審計記錄(政府項目準備)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免費 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Amazon SNS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警報發送(email)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免費 $0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855464"/>
            <a:ext cx="10607040" cy="47548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25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2"/>
            <a:ext cx="1024128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925F00"/>
                </a:solidFill>
                <a:latin typeface="Microsoft JhengHei"/>
                <a:ea typeface="Microsoft JhengHei"/>
              </a:rPr>
              <a:t>合計（每月）≈  USD 24–26／月　＝　約 HK$185–200／月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Microsoft JhengHei"/>
                <a:ea typeface="Microsoft JhengHei"/>
              </a:rPr>
              <a:t>* 初期未有政府要求：KMS 可唔用（慳 $2）；CloudTrail 可後補（都係 $0 但需時間設定）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Amazon EC2 — 伺服機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服務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揀「一般 Amazon EC2」＋ 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4864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設定項目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建議值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原因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位置/地區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ap-east-1(香港)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資料留港 + 低延遲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作業系統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Linux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Node.js/SQLite 原生支援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Instance 類型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t4g.small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2vCPU / 2GB RAM，夠診所用量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使用模式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Always running(730 小時)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系統 24 小時要接收預約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租用類型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共用(Shared)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專用主機貴幾倍，未需要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磁碟 EBS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30GB gp3(跟 EC2 揀)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SQLite + 程式碼儲存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備份 Snapshot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10GB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每日自動備份 database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Amazon EBS — 磁碟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服務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EC2 隻「C: 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4864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設定項目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建議值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原因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Volume 類型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gp3(通用 SSD)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預設、性價比最好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容量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30 GB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database + 程式碼 + 圖片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IOPS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3000(免費包)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唔使加錢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Throughput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125 MB/s(免費包)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唔使加錢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快照備份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10 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$0.05/GB ≈ $0.5/月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206240"/>
            <a:ext cx="1005840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DC2626"/>
                </a:solidFill>
                <a:latin typeface="Microsoft JhengHei"/>
                <a:ea typeface="Microsoft JhengHei"/>
              </a:rPr>
              <a:t>⚠ 快照係漸進式收費：內容冇大變只計差異，唔會日日加乘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</a:rPr>
              <a:t>⚠ 若部 EC2 重建，EBS 未備份嗰啲檔會冇晒 → 唔該經 S3 備份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Amazon S3 — 雲端儲存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服務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儲存上傳檔案＋備份(不屬任何一部機)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4864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設定項目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建議值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原因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Storage class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S3 Standard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成日讀寫，唔使冰川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儲存量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5 GB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uploads + backup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PUT 請求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5,000/月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上傳相/backup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GET 請求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10,000/月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瀏覽器睇相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出站傳輸(Internet)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5 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唯一收費嗰項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入站傳輸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上傳免費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S3 Select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唔會用 SQL 查 S3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62356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Microsoft JhengHei"/>
                <a:ea typeface="Microsoft JhengHei"/>
              </a:rPr>
              <a:t>⚠ 傳輸單位係 TB：5 唔係 5GB！填錯會變成 5TB(~$614/月)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</a:rPr>
              <a:t>⚠ Region 要同 EC2 一樣，內聯傳輸先免費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Amazon Route 53 — 網域 DNS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服務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網域名 → 指向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4864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設定項目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建議值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原因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託管區域(Hosted zones)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一個網域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其他記錄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唔會超過 1 萬筆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標準查詢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1(百萬次/月)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診所流量佪餘好大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流量流程 / 路由查詢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0 / 唔開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初期唔需要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DNS 狀態檢查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有 ALB 先考慮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Route 53 Resolver / 防火牆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唔開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VPC 專用，唔關你事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💰 託管區域 $0.50 + 查詢 $0.40 ≈ $0.90/月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</a:rPr>
              <a:t>※ 標準查詢欄只收整數，填 1 ＝ 100 萬次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AWS Certificate Manager (ACM) — HTTPS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服務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加密憑證（全免費）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34440"/>
            <a:ext cx="10881360" cy="9144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42416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800" b="1">
                <a:solidFill>
                  <a:srgbClr val="064E3B"/>
                </a:solidFill>
                <a:latin typeface="Microsoft JhengHei"/>
                <a:ea typeface="Microsoft JhengHei"/>
              </a:rPr>
              <a:t>公開憑證 100% 免費 $0 — 自動續期，唔使手動理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560320"/>
          <a:ext cx="10607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4864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設定項目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做法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原因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喺估價度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咩都唔使填 / 移除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免費所以唔會出現收費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部署時(Console)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Request → DNS 驗證 → Route 53 貼 CNAME → 等 Issued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完成 HTTPS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Exportable 證書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唔好揀！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嗰種先收費($600+)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502920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</a:rPr>
              <a:t>※ 你用緊 Caddy 會自動整 Let's Encrypt 證書，ACM 係準備俾 ALB/CloudFront 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Amazon CloudWatch — 監控＋警報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服務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機死/CPU爆/磁碟滿 自動通知你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4864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設定項目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建議值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原因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Metrics(指標)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EC2 基本 + 自訂，頭 10 個免費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API 請求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頭 100 萬免費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Logs 資料輸入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 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收集 server log(5GB 免費額內)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Database Insights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唔開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你係 SQLite 唔關事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Canaries / RUM / Insight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唔開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初期唔需要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Alarms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初期 1 個(當機)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免費額 10 個內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577840"/>
            <a:ext cx="1005840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>
                <a:solidFill>
                  <a:srgbClr val="064E3B"/>
                </a:solidFill>
                <a:latin typeface="Microsoft JhengHei"/>
                <a:ea typeface="Microsoft JhengHei"/>
              </a:rPr>
              <a:t>💰 約 $1/月 — 最值錢嗰項：EC2 死咗立即 Email 通知你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Microsoft JhengHei"/>
                <a:ea typeface="Microsoft JhengHei"/>
              </a:rPr>
              <a:t>建議警報：① 伺服器當機(status check) ② CPU&gt;90% ③ 磁碟&lt;20%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CloudTrail・SNS・KMS — 輔助服務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服務 7–9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審計 / 通知 / 加密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12064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服務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設定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費用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CloudTrail(審計)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1 trail + Management events(量填 1)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  — Data events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填 0，初期唔需要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SNS(通知)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Requests:1 ／ EMAIL:0 ／ 其他 0 ／ Data Transfer 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$0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KMS(加密)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初期唔用；政府合作先開 2 把 CMK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$0 或 $2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480560"/>
            <a:ext cx="10058400" cy="1645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28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· CloudTrail：記錄邊個幾時開/關/改咩資源 → 政府審計要用</a:t>
            </a:r>
          </a:p>
          <a:p>
            <a:pPr algn="l">
              <a:lnSpc>
                <a:spcPct val="106000"/>
              </a:lnSpc>
              <a:spcAft>
                <a:spcPts val="28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· SNS：CloudWatch 警報用嚟發 Email 俾你</a:t>
            </a:r>
          </a:p>
          <a:p>
            <a:pPr algn="l">
              <a:lnSpc>
                <a:spcPct val="106000"/>
              </a:lnSpc>
              <a:spcAft>
                <a:spcPts val="28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· KMS：想慳就唔加（用 AWS 免費托管金鑰）；政府要求先加 CMK $1/把</a:t>
            </a:r>
          </a:p>
          <a:p>
            <a:pPr algn="l">
              <a:lnSpc>
                <a:spcPct val="106000"/>
              </a:lnSpc>
              <a:spcAft>
                <a:spcPts val="2800"/>
              </a:spcAft>
            </a:pPr>
            <a:r>
              <a:rPr sz="1200" b="1">
                <a:solidFill>
                  <a:srgbClr val="DC2626"/>
                </a:solidFill>
                <a:latin typeface="Microsoft JhengHei"/>
                <a:ea typeface="Microsoft JhengHei"/>
              </a:rPr>
              <a:t>⚠ SNS Data Transfer 都係 TB 單位，填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總成本 ＋ 部署步驟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總結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每月約 USD 24–26（HK$185–200）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188720"/>
            <a:ext cx="5394960" cy="457200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2000" b="1">
                <a:solidFill>
                  <a:srgbClr val="86EFAC"/>
                </a:solidFill>
                <a:latin typeface="Microsoft JhengHei"/>
                <a:ea typeface="Microsoft JhengHei"/>
              </a:rPr>
              <a:t>每月成本拆解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</a:rPr>
              <a:t>EC2 t4g.small　HK 區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</a:rPr>
              <a:t>EBS 30GB gp3 + 快照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</a:rPr>
              <a:t>S3（儲存＋出站）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554480"/>
            <a:ext cx="731520" cy="1828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86EFAC"/>
                </a:solidFill>
                <a:latin typeface="Microsoft JhengHei"/>
                <a:ea typeface="Microsoft JhengHei"/>
              </a:rPr>
              <a:t>≈$18–20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86EFAC"/>
                </a:solidFill>
                <a:latin typeface="Microsoft JhengHei"/>
                <a:ea typeface="Microsoft JhengHei"/>
              </a:rPr>
              <a:t>≈$3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86EFAC"/>
                </a:solidFill>
                <a:latin typeface="Microsoft JhengHei"/>
                <a:ea typeface="Microsoft JhengHei"/>
              </a:rPr>
              <a:t>≈$1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8463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</a:rPr>
              <a:t>Route 53/CloudWatch/其他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846320"/>
            <a:ext cx="10972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86EFAC"/>
                </a:solidFill>
                <a:latin typeface="Microsoft JhengHei"/>
                <a:ea typeface="Microsoft JhengHei"/>
              </a:rPr>
              <a:t>≈$2–3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8872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800" b="1">
                <a:solidFill>
                  <a:srgbClr val="064E3B"/>
                </a:solidFill>
                <a:latin typeface="Microsoft JhengHei"/>
                <a:ea typeface="Microsoft JhengHei"/>
              </a:rPr>
              <a:t>部署步驟(Step-by-step)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411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  <a:ea typeface="Microsoft JhengHei"/>
              </a:rP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74519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開 EC2（t4g.small / Linux / 香港）＋ EBS 30GB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41448"/>
            <a:ext cx="411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  <a:ea typeface="Microsoft JhengHei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441448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安裝 Node.js → 跑你個 server.js（PM2）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08376"/>
            <a:ext cx="411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  <a:ea typeface="Microsoft JhengHei"/>
              </a:rP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008376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開 S3 bucket → 程式上傳圖片自動存過去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75304"/>
            <a:ext cx="411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  <a:ea typeface="Microsoft JhengHei"/>
              </a:rP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575304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註冊網域 → Route 53 Hosted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142232"/>
            <a:ext cx="411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  <a:ea typeface="Microsoft JhengHei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142232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開 ACM 免費證書 → 綁 HTTPS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09160"/>
            <a:ext cx="411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  <a:ea typeface="Microsoft JhengHei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開 CloudWatch log + 當機警報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276088"/>
            <a:ext cx="411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59669"/>
                </a:solidFill>
                <a:latin typeface="Microsoft JhengHei"/>
                <a:ea typeface="Microsoft JhengHei"/>
              </a:rP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5276088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</a:rPr>
              <a:t>每日備份 database → S3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常見地雷 — 記得避開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警告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填錯隨時貴 30 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2062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地雷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後果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點避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揀咗 Windows Server 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license 貴幾百/月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一定揀普通 Amazon EC2 + Linux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揀咗專用主機(Dedicated)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一部 $400+/月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揀共用(Shared)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Data Transfer 填咗 GB 當做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5 變 5TB ≈ $614/月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單位係 TB，診所填 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揀咗 Exportable ACM 證書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$600+/證書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揀標準免費公開證書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開 Route 53 Resolver/防火牆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多咗帳單又冇用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全部關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加 ALB / NAT / WAF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每項 $16–32/月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初期全部唔要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8016"/>
            <a:ext cx="12191695" cy="86868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後續：將來同政府合作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9264"/>
            <a:ext cx="1234440" cy="310896"/>
          </a:xfrm>
          <a:prstGeom prst="roundRect">
            <a:avLst/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23444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64E3B"/>
                </a:solidFill>
                <a:latin typeface="Microsoft JhengHei"/>
                <a:ea typeface="Microsoft JhengHei"/>
              </a:rPr>
              <a:t>前瞻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969264"/>
            <a:ext cx="9784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0">
                <a:solidFill>
                  <a:srgbClr val="86EFAC"/>
                </a:solidFill>
                <a:latin typeface="Microsoft JhengHei"/>
                <a:ea typeface="Microsoft JhengHei"/>
              </a:rPr>
              <a:t>唔使而家就揀貴套餐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寶天醫館 — AWS 服務費用估算與設定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6000"/>
              </a:lnSpc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</a:rP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607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4008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準備</a:t>
                      </a:r>
                    </a:p>
                  </a:txBody>
                  <a:tcPr marL="73152" marR="73152" marT="18288" marB="18288" anchor="ctr">
                    <a:solidFill>
                      <a:srgbClr val="064E3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資料留港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Region 揀 ap-east-1，數據不出港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加密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EBS/S3 開加密(EBS 加密＋S3 預設加密)，政府要求先加 KMS CMK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審計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開 CloudTrail(免費) 記錄登入/改動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存取控制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IAM 最小權限 + 密碼政策(你 repo 已有)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備份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每日 db 備份去 S3 + 快照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專用主機？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</a:rPr>
                        <a:t>合約明文要求先用，唔好預先俾貴錢</a:t>
                      </a:r>
                    </a:p>
                  </a:txBody>
                  <a:tcPr marL="73152" marR="73152" marT="18288" marB="18288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重點：政府合作講緊嘅係「安全、審計、留港、備份」— 呢啲共用 EC2 全部做到，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>
                <a:solidFill>
                  <a:srgbClr val="064E3B"/>
                </a:solidFill>
                <a:latin typeface="Microsoft JhengHei"/>
                <a:ea typeface="Microsoft JhengHei"/>
              </a:rPr>
              <a:t>唔使為咗「政府」而而家就租專用主機。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6000" b="1">
                <a:solidFill>
                  <a:srgbClr val="86EFAC"/>
                </a:solidFill>
                <a:latin typeface="Microsoft JhengHei"/>
                <a:ea typeface="Microsoft JhengHei"/>
              </a:rPr>
              <a:t>每月約 USD 24–26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</a:rPr>
              <a:t>= 約 HK$185–200／月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400" b="0">
                <a:solidFill>
                  <a:srgbClr val="A7F3D0"/>
                </a:solidFill>
                <a:latin typeface="Microsoft JhengHei"/>
                <a:ea typeface="Microsoft JhengHei"/>
              </a:rPr>
              <a:t>全套：EC2 + EBS + S3 + Route 53 + ACM + CloudWatch + SNS(CloudTrail 都係$0)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