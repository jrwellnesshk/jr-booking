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408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uk Fung Chan" userId="a5da67ef301a9997" providerId="LiveId" clId="{CDEAE2D2-8664-4EF7-8507-5F5EB2725EA6}"/>
    <pc:docChg chg="modSld">
      <pc:chgData name="Cheuk Fung Chan" userId="a5da67ef301a9997" providerId="LiveId" clId="{CDEAE2D2-8664-4EF7-8507-5F5EB2725EA6}" dt="2026-09-04T14:31:46.964" v="85" actId="1076"/>
      <pc:docMkLst>
        <pc:docMk/>
      </pc:docMkLst>
      <pc:sldChg chg="modSp mod">
        <pc:chgData name="Cheuk Fung Chan" userId="a5da67ef301a9997" providerId="LiveId" clId="{CDEAE2D2-8664-4EF7-8507-5F5EB2725EA6}" dt="2026-09-04T14:22:16.747" v="4" actId="1076"/>
        <pc:sldMkLst>
          <pc:docMk/>
          <pc:sldMk cId="0" sldId="257"/>
        </pc:sldMkLst>
        <pc:spChg chg="mod">
          <ac:chgData name="Cheuk Fung Chan" userId="a5da67ef301a9997" providerId="LiveId" clId="{CDEAE2D2-8664-4EF7-8507-5F5EB2725EA6}" dt="2026-09-04T14:21:51.458" v="1" actId="1076"/>
          <ac:spMkLst>
            <pc:docMk/>
            <pc:sldMk cId="0" sldId="257"/>
            <ac:spMk id="61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1:47.952" v="0" actId="1076"/>
          <ac:spMkLst>
            <pc:docMk/>
            <pc:sldMk cId="0" sldId="257"/>
            <ac:spMk id="68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1:54.153" v="2" actId="1076"/>
          <ac:spMkLst>
            <pc:docMk/>
            <pc:sldMk cId="0" sldId="257"/>
            <ac:spMk id="69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2:16.747" v="4" actId="1076"/>
          <ac:spMkLst>
            <pc:docMk/>
            <pc:sldMk cId="0" sldId="257"/>
            <ac:spMk id="70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4:22:40.845" v="7" actId="1076"/>
        <pc:sldMkLst>
          <pc:docMk/>
          <pc:sldMk cId="0" sldId="258"/>
        </pc:sldMkLst>
        <pc:spChg chg="mod">
          <ac:chgData name="Cheuk Fung Chan" userId="a5da67ef301a9997" providerId="LiveId" clId="{CDEAE2D2-8664-4EF7-8507-5F5EB2725EA6}" dt="2026-09-04T14:22:40.845" v="7" actId="1076"/>
          <ac:spMkLst>
            <pc:docMk/>
            <pc:sldMk cId="0" sldId="258"/>
            <ac:spMk id="9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2:37.689" v="6" actId="1076"/>
          <ac:spMkLst>
            <pc:docMk/>
            <pc:sldMk cId="0" sldId="258"/>
            <ac:spMk id="96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2:34.804" v="5" actId="1076"/>
          <ac:spMkLst>
            <pc:docMk/>
            <pc:sldMk cId="0" sldId="258"/>
            <ac:spMk id="97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4:23:11.518" v="9" actId="1076"/>
        <pc:sldMkLst>
          <pc:docMk/>
          <pc:sldMk cId="0" sldId="259"/>
        </pc:sldMkLst>
        <pc:spChg chg="mod">
          <ac:chgData name="Cheuk Fung Chan" userId="a5da67ef301a9997" providerId="LiveId" clId="{CDEAE2D2-8664-4EF7-8507-5F5EB2725EA6}" dt="2026-09-04T14:23:11.518" v="9" actId="107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Cheuk Fung Chan" userId="a5da67ef301a9997" providerId="LiveId" clId="{CDEAE2D2-8664-4EF7-8507-5F5EB2725EA6}" dt="2026-09-04T14:31:46.964" v="85" actId="1076"/>
        <pc:sldMkLst>
          <pc:docMk/>
          <pc:sldMk cId="0" sldId="260"/>
        </pc:sldMkLst>
        <pc:spChg chg="mod">
          <ac:chgData name="Cheuk Fung Chan" userId="a5da67ef301a9997" providerId="LiveId" clId="{CDEAE2D2-8664-4EF7-8507-5F5EB2725EA6}" dt="2026-09-04T14:29:30.802" v="5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6:55.555" v="16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6:52.722" v="15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04.696" v="18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00.372" v="17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12.351" v="20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09.259" v="19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19.696" v="22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16.599" v="21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25.234" v="24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22.739" v="23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31.355" v="26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28.061" v="25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37.764" v="28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35.039" v="27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44.252" v="30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40.212" v="29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50.190" v="32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47.487" v="31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56.479" v="34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7:54.018" v="33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02.935" v="36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00.331" v="35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09.301" v="38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06.503" v="37" actId="1076"/>
          <ac:spMkLst>
            <pc:docMk/>
            <pc:sldMk cId="0" sldId="260"/>
            <ac:spMk id="3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14.766" v="40" actId="1076"/>
          <ac:spMkLst>
            <pc:docMk/>
            <pc:sldMk cId="0" sldId="260"/>
            <ac:spMk id="36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12.247" v="39" actId="107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20.614" v="42" actId="1076"/>
          <ac:spMkLst>
            <pc:docMk/>
            <pc:sldMk cId="0" sldId="260"/>
            <ac:spMk id="38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18.740" v="41" actId="1076"/>
          <ac:spMkLst>
            <pc:docMk/>
            <pc:sldMk cId="0" sldId="260"/>
            <ac:spMk id="39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25.690" v="44" actId="1076"/>
          <ac:spMkLst>
            <pc:docMk/>
            <pc:sldMk cId="0" sldId="260"/>
            <ac:spMk id="40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23.810" v="43" actId="1076"/>
          <ac:spMkLst>
            <pc:docMk/>
            <pc:sldMk cId="0" sldId="260"/>
            <ac:spMk id="41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35.857" v="46" actId="1076"/>
          <ac:spMkLst>
            <pc:docMk/>
            <pc:sldMk cId="0" sldId="260"/>
            <ac:spMk id="42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38.956" v="47" actId="1076"/>
          <ac:spMkLst>
            <pc:docMk/>
            <pc:sldMk cId="0" sldId="260"/>
            <ac:spMk id="43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46.575" v="49" actId="1076"/>
          <ac:spMkLst>
            <pc:docMk/>
            <pc:sldMk cId="0" sldId="260"/>
            <ac:spMk id="4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8:44.536" v="48" actId="1076"/>
          <ac:spMkLst>
            <pc:docMk/>
            <pc:sldMk cId="0" sldId="260"/>
            <ac:spMk id="4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9:03.870" v="54" actId="1076"/>
          <ac:spMkLst>
            <pc:docMk/>
            <pc:sldMk cId="0" sldId="260"/>
            <ac:spMk id="46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9:11.143" v="55" actId="1076"/>
          <ac:spMkLst>
            <pc:docMk/>
            <pc:sldMk cId="0" sldId="260"/>
            <ac:spMk id="47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9:57.435" v="59" actId="1076"/>
          <ac:spMkLst>
            <pc:docMk/>
            <pc:sldMk cId="0" sldId="260"/>
            <ac:spMk id="48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01.509" v="60" actId="1076"/>
          <ac:spMkLst>
            <pc:docMk/>
            <pc:sldMk cId="0" sldId="260"/>
            <ac:spMk id="49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06.432" v="61" actId="1076"/>
          <ac:spMkLst>
            <pc:docMk/>
            <pc:sldMk cId="0" sldId="260"/>
            <ac:spMk id="50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09.758" v="62" actId="1076"/>
          <ac:spMkLst>
            <pc:docMk/>
            <pc:sldMk cId="0" sldId="260"/>
            <ac:spMk id="51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14.511" v="63" actId="1076"/>
          <ac:spMkLst>
            <pc:docMk/>
            <pc:sldMk cId="0" sldId="260"/>
            <ac:spMk id="52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18.395" v="64" actId="1076"/>
          <ac:spMkLst>
            <pc:docMk/>
            <pc:sldMk cId="0" sldId="260"/>
            <ac:spMk id="53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31.325" v="67" actId="1076"/>
          <ac:spMkLst>
            <pc:docMk/>
            <pc:sldMk cId="0" sldId="260"/>
            <ac:spMk id="5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6:33.422" v="14" actId="14100"/>
          <ac:spMkLst>
            <pc:docMk/>
            <pc:sldMk cId="0" sldId="260"/>
            <ac:spMk id="5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35.882" v="68" actId="1076"/>
          <ac:spMkLst>
            <pc:docMk/>
            <pc:sldMk cId="0" sldId="260"/>
            <ac:spMk id="56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39.158" v="69" actId="1076"/>
          <ac:spMkLst>
            <pc:docMk/>
            <pc:sldMk cId="0" sldId="260"/>
            <ac:spMk id="57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54.909" v="73" actId="1076"/>
          <ac:spMkLst>
            <pc:docMk/>
            <pc:sldMk cId="0" sldId="260"/>
            <ac:spMk id="58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03.033" v="74" actId="1076"/>
          <ac:spMkLst>
            <pc:docMk/>
            <pc:sldMk cId="0" sldId="260"/>
            <ac:spMk id="59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0:48.228" v="71" actId="1076"/>
          <ac:spMkLst>
            <pc:docMk/>
            <pc:sldMk cId="0" sldId="260"/>
            <ac:spMk id="60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06.501" v="75" actId="1076"/>
          <ac:spMkLst>
            <pc:docMk/>
            <pc:sldMk cId="0" sldId="260"/>
            <ac:spMk id="61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10.874" v="76" actId="1076"/>
          <ac:spMkLst>
            <pc:docMk/>
            <pc:sldMk cId="0" sldId="260"/>
            <ac:spMk id="62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17.020" v="77" actId="1076"/>
          <ac:spMkLst>
            <pc:docMk/>
            <pc:sldMk cId="0" sldId="260"/>
            <ac:spMk id="63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29.949" v="81" actId="1076"/>
          <ac:spMkLst>
            <pc:docMk/>
            <pc:sldMk cId="0" sldId="260"/>
            <ac:spMk id="6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27.355" v="80" actId="1076"/>
          <ac:spMkLst>
            <pc:docMk/>
            <pc:sldMk cId="0" sldId="260"/>
            <ac:spMk id="6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35.656" v="82" actId="1076"/>
          <ac:spMkLst>
            <pc:docMk/>
            <pc:sldMk cId="0" sldId="260"/>
            <ac:spMk id="66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39.611" v="83" actId="1076"/>
          <ac:spMkLst>
            <pc:docMk/>
            <pc:sldMk cId="0" sldId="260"/>
            <ac:spMk id="68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31:46.964" v="85" actId="1076"/>
          <ac:spMkLst>
            <pc:docMk/>
            <pc:sldMk cId="0" sldId="260"/>
            <ac:spMk id="70" creationId="{00000000-0000-0000-0000-000000000000}"/>
          </ac:spMkLst>
        </pc:spChg>
        <pc:spChg chg="mod">
          <ac:chgData name="Cheuk Fung Chan" userId="a5da67ef301a9997" providerId="LiveId" clId="{CDEAE2D2-8664-4EF7-8507-5F5EB2725EA6}" dt="2026-09-04T14:26:33.422" v="14" actId="14100"/>
          <ac:spMkLst>
            <pc:docMk/>
            <pc:sldMk cId="0" sldId="260"/>
            <ac:spMk id="7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FBB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💰 寶天醫館 — AWS 成本計劃書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我哋需要嘅費用：用咗邊度、第一年 vs 第二年分別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6F1"/>
                </a:solidFill>
              </a:defRPr>
            </a:pPr>
            <a:r>
              <a:t>全平台方案 ｜ 一年慳錢秘技 ｜ 防止天價帳單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114800"/>
            <a:ext cx="2468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</a:defRPr>
            </a:pPr>
            <a:r>
              <a:t>~$143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第 1 年全平台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4114800"/>
            <a:ext cx="2468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79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</a:defRPr>
            </a:pPr>
            <a:r>
              <a:t>~$239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第 2 年起全平台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114800"/>
            <a:ext cx="2468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79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~$19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第 1 年最平方案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114800"/>
            <a:ext cx="2468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~$140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第 2 年起最平方案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2026 年 9 月 ｜ GoDaddy + Cloudflare + 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📌 你嘅總開支一覽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10896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項目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188720"/>
            <a:ext cx="219456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332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第 1 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188720"/>
            <a:ext cx="219456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9788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第 2 年起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188720"/>
            <a:ext cx="3749039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91640"/>
            <a:ext cx="31089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76479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網站 AWS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69164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76479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~$6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69164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52159" y="176479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~$127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691640"/>
            <a:ext cx="3749039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9" y="17647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6"/>
                </a:solidFill>
              </a:defRPr>
            </a:pPr>
            <a:r>
              <a:t>免費層級屆滿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194560"/>
            <a:ext cx="31089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26771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域名 GoDaddy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194560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0" y="226771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2194560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59" y="226771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194560"/>
            <a:ext cx="3749039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9" y="226771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每年續期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97480"/>
            <a:ext cx="31089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277063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Cloudflare DNS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269748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27706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269748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52159" y="27706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2697480"/>
            <a:ext cx="3749039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19" y="277063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永久免費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200400"/>
            <a:ext cx="31089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27355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iOS 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200400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0" y="32735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$99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3200400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159" y="327355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$99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79" y="3200400"/>
            <a:ext cx="3749039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19" y="327355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6"/>
                </a:solidFill>
              </a:defRPr>
            </a:pPr>
            <a:r>
              <a:t>每年續費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703320"/>
            <a:ext cx="31089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377647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Android App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66160" y="370332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0" y="377647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$25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370332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52159" y="377647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79" y="3703320"/>
            <a:ext cx="3749039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46719" y="377647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只俾一次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206240"/>
            <a:ext cx="31089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427939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PWA 手機版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66160" y="4206240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0" y="427939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60720" y="4206240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52159" y="427939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55279" y="4206240"/>
            <a:ext cx="3749039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46719" y="42793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永久免費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709160"/>
            <a:ext cx="31089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479602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全年總計（全平台）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66160" y="470916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0" y="478231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~$143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60720" y="470916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852159" y="478231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~$239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5279" y="4709160"/>
            <a:ext cx="3749039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46719" y="478231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6"/>
                </a:solidFill>
              </a:defRPr>
            </a:pPr>
            <a:r>
              <a:t>差 ~$96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98185" y="5330952"/>
            <a:ext cx="11247120" cy="13716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31520" y="5349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rPr dirty="0"/>
              <a:t>💡 </a:t>
            </a:r>
            <a:r>
              <a:rPr dirty="0" err="1"/>
              <a:t>揀唔做</a:t>
            </a:r>
            <a:r>
              <a:rPr dirty="0"/>
              <a:t> App </a:t>
            </a:r>
            <a:r>
              <a:rPr dirty="0" err="1"/>
              <a:t>Store、只用</a:t>
            </a:r>
            <a:r>
              <a:rPr dirty="0"/>
              <a:t> PWA：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1263" y="619943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第 1 年：~$19（HK$150）｜ 第 2 年起：~$140（HK$1,090）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rPr dirty="0" err="1"/>
              <a:t>網頁</a:t>
            </a:r>
            <a:r>
              <a:rPr dirty="0"/>
              <a:t> + </a:t>
            </a:r>
            <a:r>
              <a:rPr dirty="0" err="1"/>
              <a:t>手機版</a:t>
            </a:r>
            <a:r>
              <a:rPr dirty="0"/>
              <a:t> </a:t>
            </a:r>
            <a:r>
              <a:rPr dirty="0" err="1"/>
              <a:t>立即上線，慳咗</a:t>
            </a:r>
            <a:r>
              <a:rPr dirty="0"/>
              <a:t> App Store </a:t>
            </a:r>
            <a:r>
              <a:rPr dirty="0" err="1"/>
              <a:t>上架費</a:t>
            </a:r>
            <a:r>
              <a:rPr dirty="0"/>
              <a:t> $124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🟢 第 1 年：AWS 免費層級內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C55E"/>
                </a:solidFill>
              </a:defRPr>
            </a:pPr>
            <a:r>
              <a:t>網站部署頭 12 個月基本免費 — 錢全數慳返！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92024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服務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188720"/>
            <a:ext cx="38404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60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用喺邊度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192024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免費額度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192024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你嘅用量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188720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9556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月費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EC2 t3.micro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1691640"/>
            <a:ext cx="38404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1764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網站伺服器(Node.js+SQLite)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9164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750 小時/月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69164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730 小時(24/7)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691640"/>
            <a:ext cx="164592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40" y="1764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19456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EBS gp3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2194560"/>
            <a:ext cx="38404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8880" y="2267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網站硬碟(存預約資料)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19456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30GB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19456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20GB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2194560"/>
            <a:ext cx="164592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49840" y="2267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69748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Data Transfer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0" y="2697480"/>
            <a:ext cx="38404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68880" y="2770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網民瀏覽流量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69748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100GB/月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269748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~10GB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2697480"/>
            <a:ext cx="164592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49840" y="2770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20040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273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77440" y="3200400"/>
            <a:ext cx="38404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6888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每日自動備份資料庫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320040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9360" y="3273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5GB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320040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0" y="3273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~1GB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0" y="3200400"/>
            <a:ext cx="164592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49840" y="3273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70332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3776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CloudWatch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77440" y="3703320"/>
            <a:ext cx="38404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68880" y="3776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睇 CPU/記憶體/流量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370332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09360" y="3776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 個實例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370332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29600" y="3776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 個實例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58400" y="3703320"/>
            <a:ext cx="164592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149840" y="3776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420624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Cloudflare DNS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4206240"/>
            <a:ext cx="38404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6888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域名解析+SSL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420624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09360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無限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38160" y="420624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29600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58400" y="4206240"/>
            <a:ext cx="164592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149840" y="4279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470916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864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PWA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77440" y="4709160"/>
            <a:ext cx="38404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468880" y="4782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手機網頁版(跟網站)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217920" y="470916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30936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138160" y="470916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2960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58400" y="4709160"/>
            <a:ext cx="164592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149840" y="47823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521208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" y="52852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合計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377440" y="5212080"/>
            <a:ext cx="38404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468880" y="5285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217920" y="521208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309360" y="52852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8138160" y="521208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229600" y="52852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10058400" y="5212080"/>
            <a:ext cx="164592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149840" y="52852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~$0 全免費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" y="5635493"/>
            <a:ext cx="11247120" cy="10972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31520" y="56464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rPr dirty="0"/>
              <a:t>✅ 第 1 年 AWS </a:t>
            </a:r>
            <a:r>
              <a:rPr dirty="0" err="1"/>
              <a:t>收費</a:t>
            </a:r>
            <a:r>
              <a:rPr dirty="0"/>
              <a:t>：~$0/</a:t>
            </a:r>
            <a:r>
              <a:rPr dirty="0" err="1"/>
              <a:t>月，全年</a:t>
            </a:r>
            <a:r>
              <a:rPr dirty="0"/>
              <a:t> ~$0 至 ~$6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608219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rPr dirty="0"/>
              <a:t>（</a:t>
            </a:r>
            <a:r>
              <a:rPr dirty="0" err="1"/>
              <a:t>有機會有極少量流量費，但基本上全免費</a:t>
            </a:r>
            <a:r>
              <a:rPr dirty="0"/>
              <a:t>）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🔴 第 2 年起：免費層級屆滿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77440" y="7818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F4444"/>
                </a:solidFill>
              </a:defRPr>
            </a:pPr>
            <a:r>
              <a:rPr dirty="0"/>
              <a:t>⚠️ </a:t>
            </a:r>
            <a:r>
              <a:rPr dirty="0" err="1"/>
              <a:t>免費層級只係首</a:t>
            </a:r>
            <a:r>
              <a:rPr dirty="0"/>
              <a:t> 12 </a:t>
            </a:r>
            <a:r>
              <a:rPr dirty="0" err="1"/>
              <a:t>個月，之後</a:t>
            </a:r>
            <a:r>
              <a:rPr dirty="0"/>
              <a:t> AWS </a:t>
            </a:r>
            <a:r>
              <a:rPr dirty="0" err="1"/>
              <a:t>開始收費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92024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服務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188720"/>
            <a:ext cx="38404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4600" y="12801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用喺邊度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192024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單價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192024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280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每月用量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188720"/>
            <a:ext cx="164592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95560" y="1280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月費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EC2 t3.micro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1691640"/>
            <a:ext cx="38404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68880" y="1764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網站伺服器(24/7)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69164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$0.0104/小時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69164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1764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730 小時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691640"/>
            <a:ext cx="164592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40" y="1764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$7.60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19456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EBS gp3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2194560"/>
            <a:ext cx="38404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8880" y="2267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網站硬碟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19456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$0.08/GB/月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19456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22677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20GB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2194560"/>
            <a:ext cx="164592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49840" y="22677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$1.60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69748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Data Transfer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0" y="2697480"/>
            <a:ext cx="38404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68880" y="2770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網民流量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269748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$0.09/GB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269748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27706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~10GB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2697480"/>
            <a:ext cx="164592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49840" y="2770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$0.90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20040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273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77440" y="3200400"/>
            <a:ext cx="38404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46888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每日備份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320040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09360" y="3273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$0.023/GB/月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320040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0" y="32735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~1GB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0" y="3200400"/>
            <a:ext cx="164592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49840" y="3273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$0.02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70332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3776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CloudWatch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77440" y="3703320"/>
            <a:ext cx="38404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68880" y="3776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監控告警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370332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09360" y="3776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付費 alarm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370332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29600" y="37764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 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58400" y="3703320"/>
            <a:ext cx="164592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149840" y="37764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~$0.50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420624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Cloudflare DNS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4206240"/>
            <a:ext cx="38404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6888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域名解析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420624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09360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免費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38160" y="4206240"/>
            <a:ext cx="19202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29600" y="4279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58400" y="4206240"/>
            <a:ext cx="164592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149840" y="42793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470916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864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合計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377440" y="4709160"/>
            <a:ext cx="38404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468880" y="4782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217920" y="470916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30936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138160" y="4709160"/>
            <a:ext cx="19202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229600" y="4782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10058400" y="4709160"/>
            <a:ext cx="164592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149840" y="478231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6"/>
                </a:solidFill>
              </a:defRPr>
            </a:pPr>
            <a:r>
              <a:t>~$10.62/月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5394960"/>
            <a:ext cx="11247120" cy="109728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152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🔴 第 2 年起 AWS 收費：~$10.62/月，全年 ~$127（約 HK$990）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CC16"/>
                </a:solidFill>
              </a:defRPr>
            </a:pPr>
            <a:r>
              <a:t>💡 可用 Savings Plans 慳 30-40%，全年可減到 ~$90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🌐 域名 + 📱 App 成本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🥇 域名（GoDaddy + Cloudflare）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GoDaddy 買網址（例如 potin.com.hk）</a:t>
            </a:r>
          </a:p>
          <a:p>
            <a:pPr>
              <a:spcAft>
                <a:spcPts val="400"/>
              </a:spcAft>
              <a:defRPr sz="1300" b="0">
                <a:solidFill>
                  <a:srgbClr val="FACC16"/>
                </a:solidFill>
              </a:defRPr>
            </a:pPr>
            <a:r>
              <a:t>  第 1 年：~$13（HK$100）</a:t>
            </a:r>
          </a:p>
          <a:p>
            <a:pPr>
              <a:spcAft>
                <a:spcPts val="400"/>
              </a:spcAft>
              <a:defRPr sz="1300" b="0">
                <a:solidFill>
                  <a:srgbClr val="FACC16"/>
                </a:solidFill>
              </a:defRPr>
            </a:pPr>
            <a:r>
              <a:t>  第 2 年起：~$13（HK$100）</a:t>
            </a:r>
          </a:p>
          <a:p>
            <a:pPr>
              <a:spcAft>
                <a:spcPts val="400"/>
              </a:spcAft>
              <a:defRPr sz="1300" b="1">
                <a:solidFill>
                  <a:srgbClr val="22C55E"/>
                </a:solidFill>
              </a:defRPr>
            </a:pPr>
            <a:r>
              <a:t>Cloudflare DNS + SSL：$0（永久免費）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慳返 SSL 證書錢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域名價格因後綴而異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📲 PWA 手機網頁版（立即上線）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開發：$0（跟網站一起做）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部署：$0（唔使 App Store）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維護：$0（自動更新）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22C55E"/>
                </a:solidFill>
              </a:defRPr>
            </a:pPr>
            <a:r>
              <a:t>✅ 永久免費</a:t>
            </a:r>
          </a:p>
          <a:p>
            <a:pPr>
              <a:spcAft>
                <a:spcPts val="400"/>
              </a:spcAft>
              <a:defRPr sz="1300" b="1">
                <a:solidFill>
                  <a:srgbClr val="22C55E"/>
                </a:solidFill>
              </a:defRPr>
            </a:pPr>
            <a:r>
              <a:t>✅ 病人用手機瀏覽器即刻用</a:t>
            </a:r>
          </a:p>
          <a:p>
            <a:pPr>
              <a:spcAft>
                <a:spcPts val="400"/>
              </a:spcAft>
              <a:defRPr sz="1300" b="1">
                <a:solidFill>
                  <a:srgbClr val="22C55E"/>
                </a:solidFill>
              </a:defRPr>
            </a:pPr>
            <a:r>
              <a:t>✅ 慳返 App Store 上架費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0248"/>
            <a:ext cx="11247120" cy="2560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📱 原生 App（iOS + Android）— 之後先做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420" y="4362872"/>
            <a:ext cx="182880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1772" y="4482956"/>
            <a:ext cx="158829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項目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0209" y="4362872"/>
            <a:ext cx="20116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0098" y="4465320"/>
            <a:ext cx="17751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 err="1"/>
              <a:t>用喺邊度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597879" y="4319346"/>
            <a:ext cx="2242293" cy="63713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4476041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0266" y="4327618"/>
            <a:ext cx="2242293" cy="63713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448690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Android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1329" y="4310581"/>
            <a:ext cx="2429151" cy="637138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448295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 err="1"/>
              <a:t>合計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98740" y="4954601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048672"/>
            <a:ext cx="168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開發(Expo)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42444" y="4901035"/>
            <a:ext cx="2055435" cy="63713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71649" y="5053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寫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1999" y="4991727"/>
            <a:ext cx="2242293" cy="63713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98233" y="506411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0266" y="5014966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81866" y="507301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$0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4826" y="5000517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52560" y="5099011"/>
            <a:ext cx="22422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$0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9642" y="5503437"/>
            <a:ext cx="1868578" cy="63713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8583" y="561291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 err="1"/>
              <a:t>上架費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2569270" y="5546459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63023" y="5666601"/>
            <a:ext cx="18685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放上 App Store/Play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91889" y="5592126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9904" y="5700622"/>
            <a:ext cx="2055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$99/年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41542" y="5612911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03695" y="5683506"/>
            <a:ext cx="2055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$25 </a:t>
            </a:r>
            <a:r>
              <a:rPr dirty="0" err="1"/>
              <a:t>一次性</a:t>
            </a:r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8961120" y="5557645"/>
            <a:ext cx="237744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76375" y="5697979"/>
            <a:ext cx="22422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6"/>
                </a:solidFill>
              </a:defRPr>
            </a:pPr>
            <a:r>
              <a:rPr dirty="0" err="1"/>
              <a:t>首年</a:t>
            </a:r>
            <a:r>
              <a:rPr dirty="0"/>
              <a:t> $124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9642" y="6132143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0040" y="6232862"/>
            <a:ext cx="168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EAS Build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19" y="6090378"/>
            <a:ext cx="2055435" cy="63713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60919" y="626705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自動打包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80950" y="622301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68283" y="6279205"/>
            <a:ext cx="2055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$0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59" y="6232862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15156" y="6346460"/>
            <a:ext cx="2055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$0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04826" y="6184053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052559" y="6335020"/>
            <a:ext cx="22422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$0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666059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5457" y="6753043"/>
            <a:ext cx="168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 err="1"/>
              <a:t>推送通知</a:t>
            </a:r>
            <a:endParaRPr dirty="0"/>
          </a:p>
        </p:txBody>
      </p:sp>
      <p:sp>
        <p:nvSpPr>
          <p:cNvPr id="54" name="Rounded Rectangle 53"/>
          <p:cNvSpPr/>
          <p:nvPr/>
        </p:nvSpPr>
        <p:spPr>
          <a:xfrm>
            <a:off x="2569270" y="677822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651760" y="7005339"/>
            <a:ext cx="18685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 err="1"/>
              <a:t>提醒預約</a:t>
            </a:r>
            <a:endParaRPr dirty="0"/>
          </a:p>
        </p:txBody>
      </p:sp>
      <p:sp>
        <p:nvSpPr>
          <p:cNvPr id="56" name="Rounded Rectangle 55"/>
          <p:cNvSpPr/>
          <p:nvPr/>
        </p:nvSpPr>
        <p:spPr>
          <a:xfrm>
            <a:off x="4572000" y="6753879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932786" y="6873280"/>
            <a:ext cx="2055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$0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41542" y="6786403"/>
            <a:ext cx="2194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10090" y="6896622"/>
            <a:ext cx="2055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$0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70069" y="6707900"/>
            <a:ext cx="2429151" cy="63713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06840" y="69224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5995" y="7189029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30545" y="7294854"/>
            <a:ext cx="1681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dirty="0"/>
              <a:t>第 2 </a:t>
            </a:r>
            <a:r>
              <a:rPr dirty="0" err="1"/>
              <a:t>年起</a:t>
            </a:r>
            <a:endParaRPr dirty="0"/>
          </a:p>
        </p:txBody>
      </p:sp>
      <p:sp>
        <p:nvSpPr>
          <p:cNvPr id="64" name="Rounded Rectangle 63"/>
          <p:cNvSpPr/>
          <p:nvPr/>
        </p:nvSpPr>
        <p:spPr>
          <a:xfrm>
            <a:off x="2564795" y="731988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671649" y="7623965"/>
            <a:ext cx="1868578" cy="34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4572000" y="731988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663440" y="7508259"/>
            <a:ext cx="2055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$99/年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766559" y="7269680"/>
            <a:ext cx="2194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57999" y="7508259"/>
            <a:ext cx="20554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$0(已付)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61120" y="7386901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052559" y="7508259"/>
            <a:ext cx="22422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6"/>
                </a:solidFill>
              </a:defRPr>
            </a:pPr>
            <a:r>
              <a:t>$99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🗓️ 第一年 vs 第二年 明細比較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0116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費用項目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188720"/>
            <a:ext cx="182880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0604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屬乜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182880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第 1 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188720"/>
            <a:ext cx="201168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第 2 年起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6616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分別解說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64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AWS EC2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169164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1764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伺服器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69164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7647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9164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764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6"/>
                </a:solidFill>
              </a:defRPr>
            </a:pPr>
            <a:r>
              <a:t>$91.20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691640"/>
            <a:ext cx="35661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176479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免費層級屆滿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9456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AWS EBS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219456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6032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硬碟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19456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2267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219456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2267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6"/>
                </a:solidFill>
              </a:defRPr>
            </a:pPr>
            <a:r>
              <a:t>$19.20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2194560"/>
            <a:ext cx="35661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0" y="226771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同上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69748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AWS 流量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269748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60320" y="2770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網民上網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269748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0" y="27706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269748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6"/>
                </a:solidFill>
              </a:defRPr>
            </a:pPr>
            <a:r>
              <a:t>~$11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2697480"/>
            <a:ext cx="35661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277063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同上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20040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AWS S3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68880" y="320040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60320" y="3273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每日備份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97680" y="320040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89120" y="3273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~$0.24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320040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~$0.24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3200400"/>
            <a:ext cx="35661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29600" y="327355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用量極少不變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370332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CloudWatch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68880" y="370332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60320" y="3776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監控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97680" y="370332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89120" y="3776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26480" y="370332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3776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38160" y="3703320"/>
            <a:ext cx="35661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29600" y="377647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免費 alarm 用完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420624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48640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Cloudflare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68880" y="420624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560320" y="4279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DNS+SSL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97680" y="420624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389120" y="42793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26480" y="420624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38160" y="4206240"/>
            <a:ext cx="35661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29600" y="427939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永久免費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470916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8640" y="4782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GoDaddy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468880" y="470916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560320" y="4782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域名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97680" y="470916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389120" y="47823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~$13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26480" y="470916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17920" y="4782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~$13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38160" y="4709160"/>
            <a:ext cx="35661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78231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每年續期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7200" y="521208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4864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iOS App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468880" y="521208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56032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App Store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297680" y="521208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389120" y="5285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6"/>
                </a:solidFill>
              </a:defRPr>
            </a:pPr>
            <a:r>
              <a:t>$99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26480" y="521208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0" y="52852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6"/>
                </a:solidFill>
              </a:defRPr>
            </a:pPr>
            <a:r>
              <a:t>$99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138160" y="5212080"/>
            <a:ext cx="35661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229600" y="528523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每年續費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571500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48640" y="5788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Android App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468880" y="571500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560320" y="5788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Play Store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297680" y="571500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389120" y="5788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$25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126480" y="571500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17920" y="5788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138160" y="5715000"/>
            <a:ext cx="35661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229600" y="578815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只俾一次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621792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48640" y="6291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PWA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468880" y="621792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560320" y="6291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手機版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297680" y="6217920"/>
            <a:ext cx="182880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389120" y="6291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126480" y="6217920"/>
            <a:ext cx="201168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17920" y="6291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138160" y="6217920"/>
            <a:ext cx="35661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229600" y="629107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永久免費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57200" y="672084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48640" y="6793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全年總計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468880" y="672084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560320" y="6793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4297680" y="6720840"/>
            <a:ext cx="182880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389120" y="6793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~$143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126480" y="6720840"/>
            <a:ext cx="201168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217920" y="6793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~$239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138160" y="6720840"/>
            <a:ext cx="35661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229600" y="679399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6"/>
                </a:solidFill>
              </a:defRPr>
            </a:pPr>
            <a:r>
              <a:t>差 ~$96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57200" y="5943600"/>
            <a:ext cx="11247120" cy="731520"/>
          </a:xfrm>
          <a:prstGeom prst="roundRect">
            <a:avLst/>
          </a:prstGeom>
          <a:solidFill>
            <a:srgbClr val="2A2A1A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6"/>
                </a:solidFill>
              </a:defRPr>
            </a:pPr>
            <a:r>
              <a:t>💡 點解第二年貴咁多？因為 AWS 免費層級得 12 個月（主要差額來自 EC2+EBS+流量 ~$115）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🧭 三種方案揀邊個？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29184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B. 全平台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網站 + PWA</a:t>
            </a:r>
            <a:br/>
            <a:r>
              <a:t>+ iOS/Android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~$143</a:t>
            </a:r>
            <a:br/>
            <a:r>
              <a:t>第 1 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1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6"/>
                </a:solidFill>
              </a:defRPr>
            </a:pPr>
            <a:r>
              <a:t>~$239</a:t>
            </a:r>
            <a:br/>
            <a:r>
              <a:t>第 2 年起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2 年起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HK$1,120 / HK$1,870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適合：想覆蓋手機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65760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1463040"/>
            <a:ext cx="329184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A. 最平（推薦）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網站 + PWA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~$19</a:t>
            </a:r>
            <a:br/>
            <a:r>
              <a:t>第 1 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1 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6"/>
                </a:solidFill>
              </a:defRPr>
            </a:pPr>
            <a:r>
              <a:t>~$140</a:t>
            </a:r>
            <a:br/>
            <a:r>
              <a:t>第 2 年起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2 年起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HK$150 / HK$1,090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適合：想快平開始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280160"/>
            <a:ext cx="3657600" cy="5120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21040" y="1463040"/>
            <a:ext cx="329184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C. 純展示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945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淨係網站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91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~$19</a:t>
            </a:r>
            <a:br/>
            <a:r>
              <a:t>第 1 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1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6"/>
                </a:solidFill>
              </a:defRPr>
            </a:pPr>
            <a:r>
              <a:t>~$140</a:t>
            </a:r>
            <a:br/>
            <a:r>
              <a:t>第 2 年起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2 年起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HK$150 / HK$1,090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適合：只宣傳唔落單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446520"/>
            <a:ext cx="11247120" cy="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💰 省錢秘技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AWS 省錢（第 2 年起用）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7772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Savings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慳 30-40%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470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承諾 1 年 EC2 用量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5029200" cy="7772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Reserved Instances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慳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614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預付 1 年 EC2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029200" cy="7772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只喺營業時間開機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慳 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67588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夜晚/假期關機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80560"/>
            <a:ext cx="5029200" cy="7772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用 SQLite 內建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慳 EBS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5902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唔使另外租 RDS 資料庫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6"/>
                </a:solidFill>
              </a:defRPr>
            </a:pPr>
            <a:r>
              <a:t>💡 範例：方案 A 第 2 年用 Savings Plans，~$140 可減到 ~$95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188720"/>
            <a:ext cx="54864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App 省錢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737360"/>
            <a:ext cx="5029200" cy="7772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先做 PWA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214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慳 $124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8470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唔使 App Store 上架費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651760"/>
            <a:ext cx="5029200" cy="7772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用 Expo 免費版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035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7614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每月 30 次構建免費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566160"/>
            <a:ext cx="5029200" cy="7772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用 EAS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67588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每月 1000 次更新免費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480560"/>
            <a:ext cx="5029200" cy="7772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自己用 API 推送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慳推送費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5902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Firebase 免費版夠用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6"/>
                </a:solidFill>
              </a:defRPr>
            </a:pPr>
            <a:r>
              <a:t>💡 PWA + Expo 基本零成本做到晒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⚠️ 防止天價帳單（必做！）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73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7315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91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AWS &gt; Budgets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444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① 設定預算告警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55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AWS Console → Budgets → 設 $10/月上限 + 電郵告警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109728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267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② 關閉冇用資源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5786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刪除唔用嘅 EC2 / EBS / Elastic 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109728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090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③ 定期睇 Cost Explorer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015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AWS → Cost Explorer → 每週檢查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109728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④ 唔好開多個實例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24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只用 1 個 t3.micro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109728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7548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736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⑤ 刪除舊快照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0474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Elastic Block Store → Snapshots 都要收錢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🏆 目標：全年帳單控制喺你預算內，唔會被突發費用嚇親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264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設定後 AWS 會自動電郵提醒你，唔使日日上去睇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📊 成本回報（值得嗎？）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FBB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2356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投入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188720"/>
            <a:ext cx="562356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得到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5623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網站 ~$6/年（第 1 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91640"/>
            <a:ext cx="5623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76479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24/7 網上預約，病人隨時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94560"/>
            <a:ext cx="5623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PWA $0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194560"/>
            <a:ext cx="5623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72200" y="226771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手機直接用，唔使裝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97480"/>
            <a:ext cx="5623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77063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App ~$124 首年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697480"/>
            <a:ext cx="5623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77063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上 App Store 增加可信度 + 推送提醒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00400"/>
            <a:ext cx="5623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27355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🌐 域名 ~$13/年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200400"/>
            <a:ext cx="5623560" cy="5029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327355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專業網址，易記易宣傳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03320"/>
            <a:ext cx="5623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77647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4444"/>
                </a:solidFill>
              </a:defRPr>
            </a:pPr>
            <a:r>
              <a:t>總計 ~$143/年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703320"/>
            <a:ext cx="562356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377647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全平台（網 + 手機 + App）覆蓋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FBB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6"/>
                </a:solidFill>
              </a:defRPr>
            </a:pPr>
            <a:r>
              <a:t>💡 對比外面市價：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static 整網站一個起碼 $3,000-5,000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開發人工一個月過萬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22C55E"/>
                </a:solidFill>
              </a:defRPr>
            </a:pPr>
            <a:r>
              <a:t>你俾 ~$143/年 就搞掂全年所有雲端 + App 費用 → CP 值極高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💬 常見問題 + 🎯 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💬 常見問題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Q: 免費層級唔收錢？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A: 係，EC2+EBS+流量頭12個月免費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500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Q: 超出免費額度？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A: AWS 會電郵通知，可升級或減用量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083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Q: 域名要另外俾？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64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A: GoDaddy ~$13/年，DNS+SSL 免費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667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Q: 只做 PWA 得唔得？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22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A: 得！$0 仲識自動更新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25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Q: 第二年好貴？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811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A: 用 Savings Plans 慳 30-40%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48640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🎯 最終建議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2C55E"/>
                </a:solidFill>
              </a:defRPr>
            </a:pPr>
            <a:r>
              <a:t>先用「方案 A」立即上線：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 網站 + PWA，第 1 年只係 ~$19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</a:defRPr>
            </a:pPr>
            <a:r>
              <a:t>病人用到先升級做 App：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 iOS + Android，第 1 年 ~$143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400" b="1">
                <a:solidFill>
                  <a:srgbClr val="22C55E"/>
                </a:solidFill>
              </a:defRPr>
            </a:pPr>
            <a:r>
              <a:t>必做：</a:t>
            </a:r>
          </a:p>
          <a:p>
            <a:pPr>
              <a:spcAft>
                <a:spcPts val="500"/>
              </a:spcAft>
              <a:defRPr sz="1400" b="0">
                <a:solidFill>
                  <a:srgbClr val="94A3B8"/>
                </a:solidFill>
              </a:defRPr>
            </a:pPr>
            <a:r>
              <a:t> 設 AWS 預算告警，防止天價帳單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11247120" cy="137160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FBB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B24"/>
                </a:solidFill>
              </a:defRPr>
            </a:pPr>
            <a:r>
              <a:t>💰 全年開支一頁總結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最平方案：第 1 年 ~$19 (HK$150) ｜ 第 2 年起 ~$140 (HK$1,090)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全平台：第 1 年 ~$143 (HK$1,120) ｜ 第 2 年起 ~$239 (HK$1,870)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ACC16"/>
                </a:solidFill>
              </a:defRPr>
            </a:pPr>
            <a:r>
              <a:t>🏆 記住：先平後升級 + 設預算告警，就唔會俾帳單嚇親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1228</Words>
  <Application>Microsoft Office PowerPoint</Application>
  <PresentationFormat>寬螢幕</PresentationFormat>
  <Paragraphs>370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Cheuk Fung Chan</cp:lastModifiedBy>
  <cp:revision>1</cp:revision>
  <dcterms:created xsi:type="dcterms:W3CDTF">2013-01-27T09:14:16Z</dcterms:created>
  <dcterms:modified xsi:type="dcterms:W3CDTF">2026-09-04T14:31:52Z</dcterms:modified>
  <cp:category/>
</cp:coreProperties>
</file>