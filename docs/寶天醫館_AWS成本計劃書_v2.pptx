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uk Fung Chan" userId="a5da67ef301a9997" providerId="LiveId" clId="{CDEAE2D2-8664-4EF7-8507-5F5EB2725EA6}"/>
    <pc:docChg chg="custSel modSld">
      <pc:chgData name="Cheuk Fung Chan" userId="a5da67ef301a9997" providerId="LiveId" clId="{CDEAE2D2-8664-4EF7-8507-5F5EB2725EA6}" dt="2026-09-06T06:26:56.818" v="7" actId="1076"/>
      <pc:docMkLst>
        <pc:docMk/>
      </pc:docMkLst>
      <pc:sldChg chg="delSp modSp mod">
        <pc:chgData name="Cheuk Fung Chan" userId="a5da67ef301a9997" providerId="LiveId" clId="{CDEAE2D2-8664-4EF7-8507-5F5EB2725EA6}" dt="2026-09-06T06:26:56.818" v="7" actId="1076"/>
        <pc:sldMkLst>
          <pc:docMk/>
          <pc:sldMk cId="0" sldId="264"/>
        </pc:sldMkLst>
        <pc:spChg chg="del mod">
          <ac:chgData name="Cheuk Fung Chan" userId="a5da67ef301a9997" providerId="LiveId" clId="{CDEAE2D2-8664-4EF7-8507-5F5EB2725EA6}" dt="2026-09-06T06:26:48.806" v="4" actId="478"/>
          <ac:spMkLst>
            <pc:docMk/>
            <pc:sldMk cId="0" sldId="264"/>
            <ac:spMk id="4" creationId="{00000000-0000-0000-0000-000000000000}"/>
          </ac:spMkLst>
        </pc:spChg>
        <pc:spChg chg="mod">
          <ac:chgData name="Cheuk Fung Chan" userId="a5da67ef301a9997" providerId="LiveId" clId="{CDEAE2D2-8664-4EF7-8507-5F5EB2725EA6}" dt="2026-09-06T06:25:28.141" v="0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Cheuk Fung Chan" userId="a5da67ef301a9997" providerId="LiveId" clId="{CDEAE2D2-8664-4EF7-8507-5F5EB2725EA6}" dt="2026-09-06T06:26:56.818" v="7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Cheuk Fung Chan" userId="a5da67ef301a9997" providerId="LiveId" clId="{CDEAE2D2-8664-4EF7-8507-5F5EB2725EA6}" dt="2026-09-06T06:26:53.401" v="5" actId="1076"/>
          <ac:spMkLst>
            <pc:docMk/>
            <pc:sldMk cId="0" sldId="264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FBB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82296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💰 寶天醫館 — AWS 成本計劃書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6517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t>我哋需要嘅費用：用咗邊度、第一年 vs 第二年分別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366F1"/>
                </a:solidFill>
              </a:defRPr>
            </a:pPr>
            <a:r>
              <a:t>全平台方案 ｜ 一年慳錢秘技 ｜ 防止天價帳單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114800"/>
            <a:ext cx="24688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2C55E"/>
                </a:solidFill>
              </a:defRPr>
            </a:pPr>
            <a:r>
              <a:t>~$143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第 1 年全平台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4114800"/>
            <a:ext cx="24688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79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2C55E"/>
                </a:solidFill>
              </a:defRPr>
            </a:pPr>
            <a:r>
              <a:t>~$239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第 2 年起全平台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4114800"/>
            <a:ext cx="24688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79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6B6D4"/>
                </a:solidFill>
              </a:defRPr>
            </a:pPr>
            <a:r>
              <a:t>~$19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第 1 年最平方案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4114800"/>
            <a:ext cx="2468880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6B6D4"/>
                </a:solidFill>
              </a:defRPr>
            </a:pPr>
            <a:r>
              <a:t>~$140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709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第 2 年起最平方案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2026 年 9 月 ｜ GoDaddy + Cloudflare + AWS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📌 你嘅總開支一覽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310896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項目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234440"/>
            <a:ext cx="219456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39312" y="1289304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第 1 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234440"/>
            <a:ext cx="219456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33872" y="1289304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第 2 年起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234440"/>
            <a:ext cx="3749039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28431" y="1289304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分別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00200"/>
            <a:ext cx="310896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1673352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網站 AWS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1600200"/>
            <a:ext cx="219456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1673352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C55E"/>
                </a:solidFill>
              </a:defRPr>
            </a:pPr>
            <a:r>
              <a:t>~$6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1600200"/>
            <a:ext cx="219456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33872" y="1673352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F4444"/>
                </a:solidFill>
              </a:defRPr>
            </a:pPr>
            <a:r>
              <a:t>~$127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600200"/>
            <a:ext cx="3749039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28431" y="1673352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ACC16"/>
                </a:solidFill>
              </a:defRPr>
            </a:pPr>
            <a:r>
              <a:t>免費層級屆滿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002536"/>
            <a:ext cx="310896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2075688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域名 GoDaddy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2002536"/>
            <a:ext cx="219456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39312" y="2075688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~$13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2002536"/>
            <a:ext cx="219456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33872" y="2075688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~$13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2002536"/>
            <a:ext cx="3749039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28431" y="2075688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每年續期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404872"/>
            <a:ext cx="310896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" y="2478024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Cloudflare DNS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2404872"/>
            <a:ext cx="219456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39312" y="2478024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2404872"/>
            <a:ext cx="219456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33872" y="2478024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79" y="2404872"/>
            <a:ext cx="3749039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28431" y="2478024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2C55E"/>
                </a:solidFill>
              </a:defRPr>
            </a:pPr>
            <a:r>
              <a:t>永久免費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2807208"/>
            <a:ext cx="310896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2880360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iOS App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2807208"/>
            <a:ext cx="219456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39312" y="2880360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F4444"/>
                </a:solidFill>
              </a:defRPr>
            </a:pPr>
            <a:r>
              <a:t>$99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0" y="2807208"/>
            <a:ext cx="219456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33872" y="2880360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F4444"/>
                </a:solidFill>
              </a:defRPr>
            </a:pPr>
            <a:r>
              <a:t>$99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55279" y="2807208"/>
            <a:ext cx="3749039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28431" y="2880360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ACC16"/>
                </a:solidFill>
              </a:defRPr>
            </a:pPr>
            <a:r>
              <a:t>每年續費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209544"/>
            <a:ext cx="310896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3282696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Android App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66160" y="3209544"/>
            <a:ext cx="219456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39312" y="3282696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$25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60720" y="3209544"/>
            <a:ext cx="219456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833872" y="3282696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5279" y="3209544"/>
            <a:ext cx="3749039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28431" y="3282696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2C55E"/>
                </a:solidFill>
              </a:defRPr>
            </a:pPr>
            <a:r>
              <a:t>只俾一次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611880"/>
            <a:ext cx="310896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30352" y="3685032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PWA 手機版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566160" y="3611880"/>
            <a:ext cx="219456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639312" y="3685032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760720" y="3611880"/>
            <a:ext cx="219456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833872" y="3685032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955279" y="3611880"/>
            <a:ext cx="3749039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28431" y="3685032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22C55E"/>
                </a:solidFill>
              </a:defRPr>
            </a:pPr>
            <a:r>
              <a:t>永久免費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4014216"/>
            <a:ext cx="310896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30352" y="4087368"/>
            <a:ext cx="2962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F4444"/>
                </a:solidFill>
              </a:defRPr>
            </a:pPr>
            <a:r>
              <a:t>全年總計(全平台)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566160" y="4014216"/>
            <a:ext cx="219456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639312" y="4087368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F4444"/>
                </a:solidFill>
              </a:defRPr>
            </a:pPr>
            <a:r>
              <a:t>~$143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760720" y="4014216"/>
            <a:ext cx="219456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833872" y="4087368"/>
            <a:ext cx="2048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F4444"/>
                </a:solidFill>
              </a:defRPr>
            </a:pPr>
            <a:r>
              <a:t>~$239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955279" y="4014216"/>
            <a:ext cx="3749039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28431" y="4087368"/>
            <a:ext cx="360273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ACC16"/>
                </a:solidFill>
              </a:defRPr>
            </a:pPr>
            <a:r>
              <a:t>差 ~$96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4645152"/>
            <a:ext cx="11247120" cy="11887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31520" y="476402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</a:defRPr>
            </a:pPr>
            <a:r>
              <a:t>💡 揀唔做 App Store、只用 PWA：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51023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</a:defRPr>
            </a:pPr>
            <a:r>
              <a:t>第 1 年：~$19（HK$150）｜ 第 2 年起：~$140（HK$1,090）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1520" y="540410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網頁 + 手機版立即上線，慳咗 App Store 上架費 $124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🟢 第 1 年：AWS 免費層級內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網站部署頭 12 個月基本免費 — 錢全數慳返！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201168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38074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服務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325880"/>
            <a:ext cx="39319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380744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用喺邊度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25880"/>
            <a:ext cx="182880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38074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免費額度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25880"/>
            <a:ext cx="182880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138074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你嘅用量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1325880"/>
            <a:ext cx="16459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31552" y="138074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月費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01168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1764792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EC2 t3.micro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1691640"/>
            <a:ext cx="393192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42032" y="1764792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網站伺服器(Node.js+SQLite)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691640"/>
            <a:ext cx="182880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176479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750 小時/月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691640"/>
            <a:ext cx="182880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176479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730 小時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1691640"/>
            <a:ext cx="164592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31552" y="1764792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093976"/>
            <a:ext cx="201168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216712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EBS gp3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2093976"/>
            <a:ext cx="393192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42032" y="2167128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網站硬碟(存預約資料)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093976"/>
            <a:ext cx="182880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216712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30GB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2093976"/>
            <a:ext cx="182880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02752" y="216712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20GB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2093976"/>
            <a:ext cx="164592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31552" y="2167128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496312"/>
            <a:ext cx="201168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256946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Data Transfer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68880" y="2496312"/>
            <a:ext cx="393192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542032" y="2569464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網民瀏覽流量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2496312"/>
            <a:ext cx="182880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73952" y="256946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100GB/月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2496312"/>
            <a:ext cx="182880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02752" y="256946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~10GB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58400" y="2496312"/>
            <a:ext cx="164592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131552" y="256946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898648"/>
            <a:ext cx="201168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2971800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S3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68880" y="2898648"/>
            <a:ext cx="393192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42032" y="2971800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每日自動備份資料庫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2898648"/>
            <a:ext cx="182880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3952" y="2971800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5GB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0" y="2898648"/>
            <a:ext cx="182880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02752" y="2971800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~1GB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58400" y="2898648"/>
            <a:ext cx="164592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131552" y="2971800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3300984"/>
            <a:ext cx="201168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0352" y="3374136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CloudWatch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468880" y="3300984"/>
            <a:ext cx="393192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542032" y="3374136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睇 CPU/記憶體/流量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3300984"/>
            <a:ext cx="182880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73952" y="3374136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1 個實例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3300984"/>
            <a:ext cx="182880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02752" y="3374136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rPr dirty="0"/>
              <a:t>1 </a:t>
            </a:r>
            <a:r>
              <a:rPr dirty="0" err="1"/>
              <a:t>個實例</a:t>
            </a:r>
            <a:endParaRPr dirty="0"/>
          </a:p>
        </p:txBody>
      </p:sp>
      <p:sp>
        <p:nvSpPr>
          <p:cNvPr id="63" name="Rounded Rectangle 62"/>
          <p:cNvSpPr/>
          <p:nvPr/>
        </p:nvSpPr>
        <p:spPr>
          <a:xfrm>
            <a:off x="10058400" y="3300984"/>
            <a:ext cx="164592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131552" y="3374136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3703320"/>
            <a:ext cx="201168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30352" y="3776472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Cloudflare DNS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468880" y="3703320"/>
            <a:ext cx="393192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542032" y="3776472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域名解析+SSL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0" y="3703320"/>
            <a:ext cx="182880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73952" y="377647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無限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29600" y="3703320"/>
            <a:ext cx="182880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302752" y="377647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 —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058400" y="3703320"/>
            <a:ext cx="164592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131552" y="3776472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4105656"/>
            <a:ext cx="201168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0352" y="417880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PWA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468880" y="4105656"/>
            <a:ext cx="393192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542032" y="4178808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手機網頁版(跟網站)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00800" y="4105656"/>
            <a:ext cx="182880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473952" y="417880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 —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229600" y="4105656"/>
            <a:ext cx="182880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302752" y="417880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 —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058400" y="4105656"/>
            <a:ext cx="164592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131552" y="4178808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4507992"/>
            <a:ext cx="201168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30352" y="458114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F4444"/>
                </a:solidFill>
              </a:defRPr>
            </a:pPr>
            <a:r>
              <a:t>合計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468880" y="4507992"/>
            <a:ext cx="393192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2542032" y="4581144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6400800" y="4507992"/>
            <a:ext cx="182880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473952" y="458114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8229600" y="4507992"/>
            <a:ext cx="182880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302752" y="458114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10058400" y="4507992"/>
            <a:ext cx="164592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131552" y="458114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$0 全免費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7200" y="5111496"/>
            <a:ext cx="11247120" cy="105156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31520" y="52303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</a:defRPr>
            </a:pPr>
            <a:r>
              <a:t>✅ 第 1 年 AWS 收費：~$0/月，全年 ~$0 至 ~$6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1520" y="55686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（有機會有極少量流量費，但基本上全免費）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🔴 第 2 年起：免費層級屆滿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</a:defRPr>
            </a:pPr>
            <a:r>
              <a:t>⚠️ 免費層級只係首 12 個月，之後 AWS 開始收費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201168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138074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服務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325880"/>
            <a:ext cx="39319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380744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用喺邊度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25880"/>
            <a:ext cx="182880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38074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單價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325880"/>
            <a:ext cx="182880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138074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每月用量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1325880"/>
            <a:ext cx="16459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31552" y="138074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月費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01168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1764792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EC2 t3.micro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0" y="1691640"/>
            <a:ext cx="393192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42032" y="1764792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網站伺服器(24/7)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691640"/>
            <a:ext cx="182880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176479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$0.0104/時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691640"/>
            <a:ext cx="182880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176479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730 小時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1691640"/>
            <a:ext cx="164592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31552" y="1764792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$7.60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093976"/>
            <a:ext cx="201168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216712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EBS gp3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2093976"/>
            <a:ext cx="393192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42032" y="2167128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網站硬碟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093976"/>
            <a:ext cx="182880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216712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$0.08/GB/月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2093976"/>
            <a:ext cx="182880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02752" y="216712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20GB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2093976"/>
            <a:ext cx="164592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31552" y="2167128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$1.60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496312"/>
            <a:ext cx="201168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256946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Data Transfer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68880" y="2496312"/>
            <a:ext cx="393192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542032" y="2569464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網民流量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2496312"/>
            <a:ext cx="182880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73952" y="256946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$0.09/GB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2496312"/>
            <a:ext cx="182880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02752" y="2569464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~10GB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58400" y="2496312"/>
            <a:ext cx="164592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131552" y="256946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$0.90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898648"/>
            <a:ext cx="201168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" y="2971800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S3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468880" y="2898648"/>
            <a:ext cx="393192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42032" y="2971800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每日備份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2898648"/>
            <a:ext cx="182880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3952" y="2971800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$0.023/GB/月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0" y="2898648"/>
            <a:ext cx="182880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02752" y="2971800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~1GB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58400" y="2898648"/>
            <a:ext cx="164592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131552" y="2971800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$0.02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3300984"/>
            <a:ext cx="201168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0352" y="3374136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CloudWatch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468880" y="3300984"/>
            <a:ext cx="393192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542032" y="3374136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監控告警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3300984"/>
            <a:ext cx="182880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73952" y="3374136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付費 alarm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3300984"/>
            <a:ext cx="182880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302752" y="3374136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2 個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058400" y="3300984"/>
            <a:ext cx="164592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131552" y="3374136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~$0.50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3703320"/>
            <a:ext cx="201168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30352" y="3776472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Cloudflare DNS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468880" y="3703320"/>
            <a:ext cx="393192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542032" y="3776472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域名解析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0" y="3703320"/>
            <a:ext cx="182880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473952" y="377647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免費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29600" y="3703320"/>
            <a:ext cx="182880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302752" y="3776472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 —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058400" y="3703320"/>
            <a:ext cx="1645920" cy="402336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131552" y="3776472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4105656"/>
            <a:ext cx="201168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30352" y="417880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F4444"/>
                </a:solidFill>
              </a:defRPr>
            </a:pPr>
            <a:r>
              <a:t>合計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2468880" y="4105656"/>
            <a:ext cx="393192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542032" y="4178808"/>
            <a:ext cx="37856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6400800" y="4105656"/>
            <a:ext cx="182880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473952" y="417880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8229600" y="4105656"/>
            <a:ext cx="182880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302752" y="4178808"/>
            <a:ext cx="16824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10058400" y="4105656"/>
            <a:ext cx="1645920" cy="402336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131552" y="4178808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~$10.62/月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57200" y="4709159"/>
            <a:ext cx="11247120" cy="1051560"/>
          </a:xfrm>
          <a:prstGeom prst="roundRect">
            <a:avLst/>
          </a:prstGeom>
          <a:solidFill>
            <a:srgbClr val="2A1A1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31520" y="4828031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4444"/>
                </a:solidFill>
              </a:defRPr>
            </a:pPr>
            <a:r>
              <a:t>🔴 第 2 年起 AWS 收費：~$10.62/月，全年 ~$127（約 HK$990）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516635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ACC16"/>
                </a:solidFill>
              </a:defRPr>
            </a:pPr>
            <a:r>
              <a:t>💡 可用 Savings Plans 慳 30-40%，全年可減到 ~$90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🌐 域名 + 📱 App 成本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</a:defRPr>
            </a:pPr>
            <a:r>
              <a:t>🥇 域名（GoDaddy + Cloudflare）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94A3B8"/>
                </a:solidFill>
              </a:defRPr>
            </a:pPr>
            <a:r>
              <a:t>GoDaddy 買網址（如 potin.com.hk）</a:t>
            </a:r>
          </a:p>
          <a:p>
            <a:pPr>
              <a:spcAft>
                <a:spcPts val="500"/>
              </a:spcAft>
              <a:defRPr sz="1250" b="1">
                <a:solidFill>
                  <a:srgbClr val="FACC16"/>
                </a:solidFill>
              </a:defRPr>
            </a:pPr>
            <a:r>
              <a:t>  第 1 年：~$13（HK$100）</a:t>
            </a:r>
          </a:p>
          <a:p>
            <a:pPr>
              <a:spcAft>
                <a:spcPts val="500"/>
              </a:spcAft>
              <a:defRPr sz="1250" b="1">
                <a:solidFill>
                  <a:srgbClr val="FACC16"/>
                </a:solidFill>
              </a:defRPr>
            </a:pPr>
            <a:r>
              <a:t>  第 2 年起：~$13（HK$100）</a:t>
            </a:r>
          </a:p>
          <a:p>
            <a:pPr>
              <a:spcAft>
                <a:spcPts val="500"/>
              </a:spcAft>
              <a:defRPr sz="1250" b="1">
                <a:solidFill>
                  <a:srgbClr val="22C55E"/>
                </a:solidFill>
              </a:defRPr>
            </a:pPr>
            <a:r>
              <a:t>Cloudflare DNS + SSL：$0 永久免費</a:t>
            </a:r>
          </a:p>
          <a:p>
            <a:pPr>
              <a:spcAft>
                <a:spcPts val="500"/>
              </a:spcAft>
              <a:defRPr sz="1250" b="0">
                <a:solidFill>
                  <a:srgbClr val="94A3B8"/>
                </a:solidFill>
              </a:defRPr>
            </a:pPr>
            <a:r>
              <a:t>  慳返 SSL 證書錢，域名價因後綴而異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246888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</a:defRPr>
            </a:pPr>
            <a:r>
              <a:t>📲 PWA 手機網頁版（立即上線）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 b="0">
                <a:solidFill>
                  <a:srgbClr val="94A3B8"/>
                </a:solidFill>
              </a:defRPr>
            </a:pPr>
            <a:r>
              <a:t>開發：$0（跟網站一起做）</a:t>
            </a:r>
          </a:p>
          <a:p>
            <a:pPr>
              <a:spcAft>
                <a:spcPts val="500"/>
              </a:spcAft>
              <a:defRPr sz="1250" b="0">
                <a:solidFill>
                  <a:srgbClr val="94A3B8"/>
                </a:solidFill>
              </a:defRPr>
            </a:pPr>
            <a:r>
              <a:t>部署：$0（唔使 App Store）</a:t>
            </a:r>
          </a:p>
          <a:p>
            <a:pPr>
              <a:spcAft>
                <a:spcPts val="500"/>
              </a:spcAft>
              <a:defRPr sz="1250" b="0">
                <a:solidFill>
                  <a:srgbClr val="94A3B8"/>
                </a:solidFill>
              </a:defRPr>
            </a:pPr>
            <a:r>
              <a:t>維護：$0（自動更新）</a:t>
            </a:r>
          </a:p>
          <a:p>
            <a:pPr>
              <a:spcAft>
                <a:spcPts val="500"/>
              </a:spcAft>
              <a:defRPr sz="1250" b="1">
                <a:solidFill>
                  <a:srgbClr val="22C55E"/>
                </a:solidFill>
              </a:defRPr>
            </a:pPr>
            <a:r>
              <a:t>✅ 永久免費</a:t>
            </a:r>
          </a:p>
          <a:p>
            <a:pPr>
              <a:spcAft>
                <a:spcPts val="500"/>
              </a:spcAft>
              <a:defRPr sz="1250" b="1">
                <a:solidFill>
                  <a:srgbClr val="22C55E"/>
                </a:solidFill>
              </a:defRPr>
            </a:pPr>
            <a:r>
              <a:t>✅ 病人用手機瀏覽器即刻用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49039"/>
            <a:ext cx="11247120" cy="2743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66F1"/>
                </a:solidFill>
              </a:defRPr>
            </a:pPr>
            <a:r>
              <a:t>📱 原生 App（iOS + Android）— 之後先做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16459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430682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項目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4251960"/>
            <a:ext cx="21031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50592" y="4306824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用喺邊度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251960"/>
            <a:ext cx="201168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430682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4251960"/>
            <a:ext cx="228600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4306824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Android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4251960"/>
            <a:ext cx="228600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51392" y="4306824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合計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17720"/>
            <a:ext cx="164592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4681728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開發(Expo)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7440" y="4617720"/>
            <a:ext cx="210312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50592" y="4681728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寫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4617720"/>
            <a:ext cx="201168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4681728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617720"/>
            <a:ext cx="228600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65392" y="4681728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8240" y="4617720"/>
            <a:ext cx="228600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51392" y="4681728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001768"/>
            <a:ext cx="1645920" cy="384048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4672" y="5065776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上架費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77440" y="5001768"/>
            <a:ext cx="2103120" cy="384048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450592" y="5065776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放上 App Store/Play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59" y="5001768"/>
            <a:ext cx="2011680" cy="384048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53712" y="5065776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$99/年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5001768"/>
            <a:ext cx="2286000" cy="384048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65392" y="506577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$25 一次性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0" y="5001768"/>
            <a:ext cx="2286000" cy="384048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851392" y="5065776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ACC16"/>
                </a:solidFill>
              </a:defRPr>
            </a:pPr>
            <a:r>
              <a:t>首年 $124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385816"/>
            <a:ext cx="164592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2" y="544982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EAS Build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77440" y="5385816"/>
            <a:ext cx="210312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450592" y="5449824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自動打包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80559" y="5385816"/>
            <a:ext cx="201168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53712" y="544982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92240" y="5385816"/>
            <a:ext cx="228600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65392" y="5449824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78240" y="5385816"/>
            <a:ext cx="228600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51392" y="5449824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5769864"/>
            <a:ext cx="1645920" cy="384048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04672" y="5833872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推送通知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77440" y="5769864"/>
            <a:ext cx="2103120" cy="384048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450592" y="5833872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提醒預約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59" y="5769864"/>
            <a:ext cx="2011680" cy="384048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53712" y="5833872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92240" y="5769864"/>
            <a:ext cx="2286000" cy="384048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565392" y="5833872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778240" y="5769864"/>
            <a:ext cx="2286000" cy="384048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851392" y="5833872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20" y="6153912"/>
            <a:ext cx="164592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04672" y="6217920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第 2 年起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377440" y="6153912"/>
            <a:ext cx="210312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450592" y="6217920"/>
            <a:ext cx="19568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4480559" y="6153912"/>
            <a:ext cx="201168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53712" y="6217920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$99/年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92240" y="6153912"/>
            <a:ext cx="228600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565392" y="621792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C55E"/>
                </a:solidFill>
              </a:defRPr>
            </a:pPr>
            <a:r>
              <a:t>$0(已付)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778240" y="6153912"/>
            <a:ext cx="228600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851392" y="6217920"/>
            <a:ext cx="21396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ACC16"/>
                </a:solidFill>
              </a:defRPr>
            </a:pPr>
            <a:r>
              <a:t>$99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🗓️ 第一年 vs 第二年 明細比較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201168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費用項目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143000"/>
            <a:ext cx="164592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42032" y="119786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屬乜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143000"/>
            <a:ext cx="173736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87952" y="1197864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第 1 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143000"/>
            <a:ext cx="201168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25312" y="119786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第 2 年起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143000"/>
            <a:ext cx="384048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6992" y="1197864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分別解說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508760"/>
            <a:ext cx="20116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" y="156362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AWS EC2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1508760"/>
            <a:ext cx="164592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42032" y="156362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伺服器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1508760"/>
            <a:ext cx="173736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87952" y="1563624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1508760"/>
            <a:ext cx="20116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25312" y="156362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ACC16"/>
                </a:solidFill>
              </a:defRPr>
            </a:pPr>
            <a:r>
              <a:t>$91.20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1508760"/>
            <a:ext cx="38404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36992" y="1563624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免費層級屆滿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1874519"/>
            <a:ext cx="201168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192938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AWS EBS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68880" y="1874519"/>
            <a:ext cx="164592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42032" y="192938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硬碟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1874519"/>
            <a:ext cx="173736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87952" y="1929384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874519"/>
            <a:ext cx="201168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25312" y="192938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ACC16"/>
                </a:solidFill>
              </a:defRPr>
            </a:pPr>
            <a:r>
              <a:t>$19.20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1874519"/>
            <a:ext cx="384048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36992" y="1929384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同上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240280"/>
            <a:ext cx="20116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229514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AWS 流量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0" y="2240280"/>
            <a:ext cx="164592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42032" y="229514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網民上網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0" y="2240280"/>
            <a:ext cx="173736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87952" y="2295144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52160" y="2240280"/>
            <a:ext cx="20116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25312" y="229514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ACC16"/>
                </a:solidFill>
              </a:defRPr>
            </a:pPr>
            <a:r>
              <a:t>~$11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0" y="2240280"/>
            <a:ext cx="38404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36992" y="2295144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同上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2606040"/>
            <a:ext cx="201168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30352" y="266090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AWS S3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468880" y="2606040"/>
            <a:ext cx="164592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542032" y="266090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每日備份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0" y="2606040"/>
            <a:ext cx="173736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87952" y="2660904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~$0.24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52160" y="2606040"/>
            <a:ext cx="201168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25312" y="266090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~$0.24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63840" y="2606040"/>
            <a:ext cx="384048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936992" y="2660904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用量極少不變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2971800"/>
            <a:ext cx="20116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30352" y="302666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CloudWatch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468880" y="2971800"/>
            <a:ext cx="164592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42032" y="302666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監控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14800" y="2971800"/>
            <a:ext cx="173736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187952" y="3026664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$0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852160" y="2971800"/>
            <a:ext cx="20116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25312" y="302666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~$6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63840" y="2971800"/>
            <a:ext cx="38404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936992" y="3026664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免費 alarm 用完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3337560"/>
            <a:ext cx="201168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30352" y="339242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Cloudflare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468880" y="3337560"/>
            <a:ext cx="164592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2542032" y="339242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DNS+SSL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14800" y="3337560"/>
            <a:ext cx="173736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187952" y="3392424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852160" y="3337560"/>
            <a:ext cx="201168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25312" y="339242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863840" y="3337560"/>
            <a:ext cx="384048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936992" y="3392424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永久免費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3703320"/>
            <a:ext cx="20116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30352" y="375818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GoDaddy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468880" y="3703320"/>
            <a:ext cx="164592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2542032" y="375818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域名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114800" y="3703320"/>
            <a:ext cx="173736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187952" y="3758184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~$13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852160" y="3703320"/>
            <a:ext cx="20116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925312" y="375818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~$13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863840" y="3703320"/>
            <a:ext cx="38404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936992" y="3758184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每年續期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57200" y="4069080"/>
            <a:ext cx="201168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30352" y="412394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iOS App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468880" y="4069080"/>
            <a:ext cx="164592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2542032" y="412394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App Store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114800" y="4069080"/>
            <a:ext cx="173736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187952" y="4123944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ACC16"/>
                </a:solidFill>
              </a:defRPr>
            </a:pPr>
            <a:r>
              <a:t>$99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852160" y="4069080"/>
            <a:ext cx="201168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925312" y="412394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ACC16"/>
                </a:solidFill>
              </a:defRPr>
            </a:pPr>
            <a:r>
              <a:t>$99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863840" y="4069080"/>
            <a:ext cx="384048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7936992" y="4123944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每年續費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200" y="4434840"/>
            <a:ext cx="20116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30352" y="4489703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Android App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468880" y="4434840"/>
            <a:ext cx="164592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542032" y="4489703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Play Store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114800" y="4434840"/>
            <a:ext cx="173736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187952" y="4489703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$25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852160" y="4434840"/>
            <a:ext cx="20116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925312" y="4489703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863840" y="4434840"/>
            <a:ext cx="38404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936992" y="4489703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只俾一次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4800600"/>
            <a:ext cx="201168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30352" y="485546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PWA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468880" y="4800600"/>
            <a:ext cx="164592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2542032" y="485546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手機版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114800" y="4800600"/>
            <a:ext cx="173736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187952" y="4855464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852160" y="4800600"/>
            <a:ext cx="201168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925312" y="485546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2C55E"/>
                </a:solidFill>
              </a:defRPr>
            </a:pPr>
            <a:r>
              <a:t>$0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863840" y="4800600"/>
            <a:ext cx="3840480" cy="36576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936992" y="4855464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永久免費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57200" y="5166360"/>
            <a:ext cx="20116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30352" y="522122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F4444"/>
                </a:solidFill>
              </a:defRPr>
            </a:pPr>
            <a:r>
              <a:t>全年總計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2468880" y="5166360"/>
            <a:ext cx="164592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2542032" y="5221224"/>
            <a:ext cx="1499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4114800" y="5166360"/>
            <a:ext cx="173736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187952" y="5221224"/>
            <a:ext cx="1591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~$143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852160" y="5166360"/>
            <a:ext cx="20116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925312" y="5221224"/>
            <a:ext cx="18653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EF4444"/>
                </a:solidFill>
              </a:defRPr>
            </a:pPr>
            <a:r>
              <a:t>~$239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863840" y="5166360"/>
            <a:ext cx="3840480" cy="365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7936992" y="5221224"/>
            <a:ext cx="36941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ACC16"/>
                </a:solidFill>
              </a:defRPr>
            </a:pPr>
            <a:r>
              <a:t>差 ~$96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57200" y="5715000"/>
            <a:ext cx="11247120" cy="731520"/>
          </a:xfrm>
          <a:prstGeom prst="roundRect">
            <a:avLst/>
          </a:prstGeom>
          <a:solidFill>
            <a:srgbClr val="2A2A1A"/>
          </a:solidFill>
          <a:ln w="19050">
            <a:solidFill>
              <a:srgbClr val="FA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31520" y="5852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ACC16"/>
                </a:solidFill>
              </a:defRPr>
            </a:pPr>
            <a:r>
              <a:t>💡 點解第二年貴咁多？因為 AWS 免費層級得 12 個月（差額主要來自 EC2+EBS+流量 ~$115）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🧭 三種方案揀邊個？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29184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A. 最平（推薦）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網站 + PWA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HK$150 / HK$1,090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~$19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第 1 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6"/>
                </a:solidFill>
              </a:defRPr>
            </a:pPr>
            <a:r>
              <a:t>~$140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第 2 年起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適合：想快平開始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188720"/>
            <a:ext cx="36576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80560" y="1371600"/>
            <a:ext cx="3291840" cy="5486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B. 全平台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03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網站 + PWA +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HK$1,120 / HK$1,870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00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~$143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第 1 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389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6"/>
                </a:solidFill>
              </a:defRPr>
            </a:pPr>
            <a:r>
              <a:t>~$239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第 2 年起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適合：想覆蓋手機 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188720"/>
            <a:ext cx="3657600" cy="48463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21040" y="1371600"/>
            <a:ext cx="329184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C. 純展示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103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淨係網站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HK$150 / HK$1,090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200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t>~$19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第 1 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3891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6"/>
                </a:solidFill>
              </a:defRPr>
            </a:pPr>
            <a:r>
              <a:t>~$140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212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第 2 年起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適合：只宣傳唔落單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💰 省錢秘技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</a:defRPr>
            </a:pPr>
            <a:r>
              <a:t>AWS 省錢（第 2 年起用）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7315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Savings Plans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慳 30-40%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37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承諾 1 年 EC2 用量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5029200" cy="7315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Reserved Instances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慳 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06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預付 1 年 EC2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5029200" cy="7315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只喺營業時間開機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49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慳 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474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夜晚/假期關機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51959"/>
            <a:ext cx="5029200" cy="7315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325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用 SQLite 內建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t>慳 EBS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34339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唔使另外租 RDS 資料庫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ACC16"/>
                </a:solidFill>
              </a:defRPr>
            </a:pPr>
            <a:r>
              <a:t>💡 方案 A 第 2 年用 Savings Plans：~$140 → ~$95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097280"/>
            <a:ext cx="54864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</a:defRPr>
            </a:pPr>
            <a:r>
              <a:t>App 省錢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645920"/>
            <a:ext cx="5029200" cy="7315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1719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先做 PWA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慳 $124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17373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唔使 App Store 上架費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514600"/>
            <a:ext cx="5029200" cy="7315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25877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用 Expo 免費版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880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6060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每月 30 次構建免費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383280"/>
            <a:ext cx="5029200" cy="7315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34564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用 EAS Update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749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474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每月 1000 次更新免費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251959"/>
            <a:ext cx="5029200" cy="73152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4325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自己用 API 推送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</a:defRPr>
            </a:pPr>
            <a:r>
              <a:t>慳推送費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4343399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Firebase 免費版夠用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ACC16"/>
                </a:solidFill>
              </a:defRPr>
            </a:pPr>
            <a:r>
              <a:t>💡 PWA + Expo 基本零成本做到晒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rPr dirty="0"/>
              <a:t>⚠️ </a:t>
            </a:r>
            <a:r>
              <a:rPr dirty="0" err="1"/>
              <a:t>防止天價帳單（必做</a:t>
            </a:r>
            <a:r>
              <a:rPr dirty="0"/>
              <a:t>！）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9339" y="5257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36566" y="135262"/>
            <a:ext cx="4572000" cy="365760"/>
          </a:xfrm>
          <a:prstGeom prst="roundRect">
            <a:avLst/>
          </a:prstGeom>
          <a:solidFill>
            <a:srgbClr val="0F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80760" y="11726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rPr dirty="0"/>
              <a:t>AWS &gt; Budgets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9728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5361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設定預算告警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84708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AWS Console → Budgets → 設 $10/月上限 + 電郵告警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109728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3591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關閉冇用資源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67004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刪除唔用嘅 EC2 / EBS / Elastic 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08960"/>
            <a:ext cx="1097280" cy="6400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2004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182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定期睇 Cost Explorer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49300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AWS → Cost Explorer → 每週檢查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1097280" cy="6400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0233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005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唔好開多個實例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31596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只用 1 個 t3.micro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54880"/>
            <a:ext cx="1097280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8280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刪除舊快照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138928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Elastic Block Store → Snapshots 都收錢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2A1A1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760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EF4444"/>
                </a:solidFill>
              </a:defRPr>
            </a:pPr>
            <a:r>
              <a:t>🏆 目標：全年帳單控制喺你預算內，唔會被突發費用嚇親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1081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94A3B8"/>
                </a:solidFill>
              </a:defRPr>
            </a:pPr>
            <a:r>
              <a:t>設定後 AWS 會自動電郵提醒你，唔使日日上去睇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📊 成本回報（值得嗎？）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FBB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62356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289304"/>
            <a:ext cx="5477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投入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60" y="1234440"/>
            <a:ext cx="5623560" cy="365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153912" y="1289304"/>
            <a:ext cx="5477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得到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562356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746504"/>
            <a:ext cx="5477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網站 ~$6/年（第 1 年）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600200"/>
            <a:ext cx="562356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53912" y="1746504"/>
            <a:ext cx="5477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24/7 網上預約，病人隨時 book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48840"/>
            <a:ext cx="5623560" cy="54864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295144"/>
            <a:ext cx="5477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</a:defRPr>
            </a:pPr>
            <a:r>
              <a:t>PWA $0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148840"/>
            <a:ext cx="5623560" cy="54864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53912" y="2295144"/>
            <a:ext cx="5477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手機直接用，唔使裝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97480"/>
            <a:ext cx="562356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2843784"/>
            <a:ext cx="5477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App ~$124 首年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2697480"/>
            <a:ext cx="562356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53912" y="2843784"/>
            <a:ext cx="5477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上 App Store 增加可信度 + 推送提醒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46120"/>
            <a:ext cx="5623560" cy="54864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3392424"/>
            <a:ext cx="5477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</a:defRPr>
            </a:pPr>
            <a:r>
              <a:t>🌐 域名 ~$13/年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3246120"/>
            <a:ext cx="5623560" cy="548640"/>
          </a:xfrm>
          <a:prstGeom prst="roundRect">
            <a:avLst/>
          </a:prstGeom>
          <a:solidFill>
            <a:srgbClr val="182238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53912" y="3392424"/>
            <a:ext cx="5477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專業網址，易記易宣傳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794760"/>
            <a:ext cx="562356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941064"/>
            <a:ext cx="5477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F4444"/>
                </a:solidFill>
              </a:defRPr>
            </a:pPr>
            <a:r>
              <a:t>總計 ~$143/年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3794760"/>
            <a:ext cx="5623560" cy="5486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A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53912" y="3941064"/>
            <a:ext cx="5477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</a:defRPr>
            </a:pPr>
            <a:r>
              <a:t>全平台（網+手機+App）覆蓋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572000"/>
            <a:ext cx="11247120" cy="155448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FBB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6908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FACC16"/>
                </a:solidFill>
              </a:defRPr>
            </a:pPr>
            <a:r>
              <a:t>💡 對比外面市價：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29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 b="0">
                <a:solidFill>
                  <a:srgbClr val="94A3B8"/>
                </a:solidFill>
              </a:defRPr>
            </a:pPr>
            <a:r>
              <a:t>static 整網站一個起碼 $3,000-5,000</a:t>
            </a:r>
          </a:p>
          <a:p>
            <a:pPr>
              <a:spcAft>
                <a:spcPts val="400"/>
              </a:spcAft>
              <a:defRPr sz="1250" b="0">
                <a:solidFill>
                  <a:srgbClr val="94A3B8"/>
                </a:solidFill>
              </a:defRPr>
            </a:pPr>
            <a:r>
              <a:t>開發人工一個月過萬</a:t>
            </a:r>
          </a:p>
          <a:p>
            <a:pPr>
              <a:spcAft>
                <a:spcPts val="400"/>
              </a:spcAft>
              <a:defRPr sz="1250" b="1">
                <a:solidFill>
                  <a:srgbClr val="22C55E"/>
                </a:solidFill>
              </a:defRPr>
            </a:pPr>
            <a:r>
              <a:t>你俾 ~$143/年 就搞掂全年所有雲端 + App 費用 → CP 值極高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💬 常見問題 + 🎯 總結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3566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</a:defRPr>
            </a:pPr>
            <a:r>
              <a:t>💬 常見問題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</a:defRPr>
            </a:pPr>
            <a:r>
              <a:t>Q: 免費層級唔收錢？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A: 係，EC2+EBS+流量頭 12 個月免費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21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</a:defRPr>
            </a:pPr>
            <a:r>
              <a:t>Q: 超出免費額度？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505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rPr dirty="0"/>
              <a:t>A: AWS </a:t>
            </a:r>
            <a:r>
              <a:t>會電郵通知，可升級或減用量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28437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</a:defRPr>
            </a:pPr>
            <a:r>
              <a:t>Q: 域名要另外俾？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723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A: GoDaddy ~$13/年，DNS+SSL 免費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655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</a:defRPr>
            </a:pPr>
            <a:r>
              <a:t>Q: 只做 PWA 得唔得？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941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A: 得！$0 仲識自動更新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</a:defRPr>
            </a:pPr>
            <a:r>
              <a:t>Q: 第二年好貴？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159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A: 用 Savings Plans 慳 30-40%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097280"/>
            <a:ext cx="5486400" cy="3566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</a:defRPr>
            </a:pPr>
            <a:r>
              <a:t>🎯 最終建議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002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先用「方案 A」立即上線：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 網站 + PWA，第 1 年只係 ~$19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病人用到先升級做 App：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 iOS + Android，第 1 年 ~$143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endParaRPr/>
          </a:p>
          <a:p>
            <a:pPr>
              <a:spcAft>
                <a:spcPts val="400"/>
              </a:spcAft>
              <a:defRPr sz="1300" b="1">
                <a:solidFill>
                  <a:srgbClr val="22C55E"/>
                </a:solidFill>
              </a:defRPr>
            </a:pPr>
            <a:r>
              <a:t>必做：設 AWS 預算告警</a:t>
            </a:r>
          </a:p>
          <a:p>
            <a:pPr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  防止天價帳單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1A2A1A"/>
          </a:solidFill>
          <a:ln w="19050">
            <a:solidFill>
              <a:srgbClr val="FBBB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B24"/>
                </a:solidFill>
              </a:defRPr>
            </a:pPr>
            <a:r>
              <a:t>💰 全年開支一頁總結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t>最平方案：第 1 年 ~$19 (HK$150) ｜ 第 2 年起 ~$140 (HK$1,090)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94A3B8"/>
                </a:solidFill>
              </a:defRPr>
            </a:pPr>
            <a:r>
              <a:t>全平台：第 1 年 ~$143 (HK$1,120) ｜ 第 2 年起 ~$239 (HK$1,870)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ACC16"/>
                </a:solidFill>
              </a:defRPr>
            </a:pPr>
            <a:r>
              <a:t>🏆 記住：先平後升級 + 設預算告警，就唔會俾帳單嚇親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1186</Words>
  <Application>Microsoft Office PowerPoint</Application>
  <PresentationFormat>寬螢幕</PresentationFormat>
  <Paragraphs>366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Cheuk Fung Chan</cp:lastModifiedBy>
  <cp:revision>1</cp:revision>
  <dcterms:created xsi:type="dcterms:W3CDTF">2013-01-27T09:14:16Z</dcterms:created>
  <dcterms:modified xsi:type="dcterms:W3CDTF">2026-09-06T06:27:04Z</dcterms:modified>
  <cp:category/>
</cp:coreProperties>
</file>