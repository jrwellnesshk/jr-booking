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73152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🍎 Mac 機 + AWS 雲端部署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56032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366F1"/>
                </a:solidFill>
              </a:defRPr>
            </a:pPr>
            <a:r>
              <a:t>寶天醫館智能預約系統 — 完整教程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29184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</a:defRPr>
            </a:pPr>
            <a:r>
              <a:t>Mac Terminal 原生支援 SSH + Linux 命令，部署更簡單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4023360"/>
            <a:ext cx="164592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0" y="4069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</a:defRPr>
            </a:pPr>
            <a:r>
              <a:t>🖥️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45262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MacBook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4023360"/>
            <a:ext cx="164592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0" y="4069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</a:defRPr>
            </a:pPr>
            <a:r>
              <a:t>☁️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45262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AWS EC2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4023360"/>
            <a:ext cx="164592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0" y="4069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</a:defRPr>
            </a:pPr>
            <a:r>
              <a:t>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45262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Docker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4023360"/>
            <a:ext cx="164592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19" y="4069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</a:defRPr>
            </a:pPr>
            <a:r>
              <a:t>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19" y="45262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HTTPS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0" y="4023360"/>
            <a:ext cx="164592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19" y="4069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</a:defRPr>
            </a:pPr>
            <a:r>
              <a:t>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19" y="45262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PWA App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0" y="566928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</a:defRPr>
            </a:pPr>
            <a:r>
              <a:t>2026 年 9 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🍎 點解 Mac 機更好？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8288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47120" cy="438912"/>
          </a:xfrm>
          <a:prstGeom prst="roundRect">
            <a:avLst/>
          </a:prstGeom>
          <a:solidFill>
            <a:srgbClr val="6366F1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</a:defRPr>
            </a:pPr>
            <a:r>
              <a:t>項目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234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</a:defRPr>
            </a:pPr>
            <a:r>
              <a:t>🪟 Windows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234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</a:defRPr>
            </a:pPr>
            <a:r>
              <a:t>🍎 Mac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12344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勝出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719072"/>
            <a:ext cx="11247120" cy="43891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647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SSH 連接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7647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PowerShell / PuTTY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647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6B6D4"/>
                </a:solidFill>
              </a:defRPr>
            </a:pPr>
            <a:r>
              <a:t>Terminal 原生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17647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2C55E"/>
                </a:solidFill>
              </a:defRPr>
            </a:pPr>
            <a:r>
              <a:t>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249424"/>
            <a:ext cx="11247120" cy="43891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29514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Linux 命令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29514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部分唔兼容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29514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6B6D4"/>
                </a:solidFill>
              </a:defRPr>
            </a:pPr>
            <a:r>
              <a:t>100% 兼容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22951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2C55E"/>
                </a:solidFill>
              </a:defRPr>
            </a:pPr>
            <a:r>
              <a:t>🍎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779776"/>
            <a:ext cx="11247120" cy="43891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82549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Docker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282549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較慢 (Hyper-V)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82549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6B6D4"/>
                </a:solidFill>
              </a:defRPr>
            </a:pPr>
            <a:r>
              <a:t>更快更穩定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282549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2C55E"/>
                </a:solidFill>
              </a:defRPr>
            </a:pPr>
            <a:r>
              <a:t>🍎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310128"/>
            <a:ext cx="11247120" cy="43891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3558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文件權限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33558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icacls (複雜)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3558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6B6D4"/>
                </a:solidFill>
              </a:defRPr>
            </a:pPr>
            <a:r>
              <a:t>chmod (簡單)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335584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ACC16"/>
                </a:solidFill>
              </a:defRPr>
            </a:pPr>
            <a:r>
              <a:t>ergus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840480"/>
            <a:ext cx="11247120" cy="43891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886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開發環境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3886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額外安裝設定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886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6B6D4"/>
                </a:solidFill>
              </a:defRPr>
            </a:pPr>
            <a:r>
              <a:t>開箱即用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0" y="38862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2C55E"/>
                </a:solidFill>
              </a:defRPr>
            </a:pPr>
            <a:r>
              <a:t>🍎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370831"/>
            <a:ext cx="11247120" cy="43891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416551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穩定性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7520" y="4416551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偶爾更新重啟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416551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6B6D4"/>
                </a:solidFill>
              </a:defRPr>
            </a:pPr>
            <a:r>
              <a:t>更穩定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0" y="4416551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ACC16"/>
                </a:solidFill>
              </a:defRPr>
            </a:pPr>
            <a:r>
              <a:t>ergus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901183"/>
            <a:ext cx="11247120" cy="43891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946903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價格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17520" y="4946903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較平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4946903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6B6D4"/>
                </a:solidFill>
              </a:defRPr>
            </a:pPr>
            <a:r>
              <a:t>較貴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75520" y="4946903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ACC16"/>
                </a:solidFill>
              </a:defRPr>
            </a:pPr>
            <a:r>
              <a:t>🪟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5431536"/>
            <a:ext cx="11247120" cy="43891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5477255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遊戲支援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17520" y="5477255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完整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5477255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6B6D4"/>
                </a:solidFill>
              </a:defRPr>
            </a:pPr>
            <a:r>
              <a:t>幾乎冇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75520" y="5477255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ACC16"/>
                </a:solidFill>
              </a:defRPr>
            </a:pPr>
            <a:r>
              <a:t>🪟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6035040"/>
            <a:ext cx="11247120" cy="640080"/>
          </a:xfrm>
          <a:prstGeom prst="roundRect">
            <a:avLst/>
          </a:prstGeom>
          <a:solidFill>
            <a:srgbClr val="1A2A1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6126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t>💡 結論：Mac Terminal 同 AWS Linux 伺服器幾乎一樣，學一次就識兩個平台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🍎 Mac 部署 10 步曲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8288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457200" cy="4572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898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325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建立 AWS 帳戶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691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2C55E"/>
                </a:solidFill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188720"/>
            <a:ext cx="54864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37960" y="1389888"/>
            <a:ext cx="457200" cy="4572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3898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325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設定 VPC 網絡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1691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10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2C55E"/>
                </a:solidFill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240280"/>
            <a:ext cx="54864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2441448"/>
            <a:ext cx="457200" cy="4572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4414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2377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啟動 EC2 伺服器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2743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10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2423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2C55E"/>
                </a:solidFill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240280"/>
            <a:ext cx="54864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37960" y="2441448"/>
            <a:ext cx="457200" cy="4572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4414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2377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Mac Terminal 連接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2743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3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2423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6B6D4"/>
                </a:solidFill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291839"/>
            <a:ext cx="54864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94360" y="3493008"/>
            <a:ext cx="457200" cy="4572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34930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342899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安裝 Docker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379475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10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6B6D4"/>
                </a:solidFill>
              </a:defRPr>
            </a:pPr>
            <a: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3291839"/>
            <a:ext cx="54864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537960" y="3493008"/>
            <a:ext cx="45720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34930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342899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部署預約系統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379475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15 min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47120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6366F1"/>
                </a:solidFill>
              </a:defRPr>
            </a:pPr>
            <a: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4343400"/>
            <a:ext cx="54864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94360" y="4544568"/>
            <a:ext cx="45720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45445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8720" y="4480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域名 + HTTPS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88720" y="4846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20 min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03520" y="4526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6366F1"/>
                </a:solidFill>
              </a:defRPr>
            </a:pPr>
            <a:r>
              <a:t>→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0" y="4343400"/>
            <a:ext cx="54864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537960" y="4544568"/>
            <a:ext cx="457200" cy="4572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37960" y="45445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32320" y="4480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自動備份 S3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32320" y="4846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15 min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247120" y="4526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97316"/>
                </a:solidFill>
              </a:defRPr>
            </a:pPr>
            <a:r>
              <a:t>→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5394959"/>
            <a:ext cx="54864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594360" y="5596127"/>
            <a:ext cx="457200" cy="4572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4360" y="5596127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88720" y="5532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監控告警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88720" y="58978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10 min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03520" y="5577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97316"/>
                </a:solidFill>
              </a:defRPr>
            </a:pPr>
            <a:r>
              <a:t>→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00800" y="5394959"/>
            <a:ext cx="548640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537960" y="5596127"/>
            <a:ext cx="457200" cy="4572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37960" y="5596127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32320" y="5532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安全加固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132320" y="58978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15 min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247120" y="5577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F4444"/>
                </a:solidFill>
              </a:defRPr>
            </a:pPr>
            <a:r>
              <a:t>→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743200" y="640080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ACC16"/>
                </a:solidFill>
              </a:defRPr>
            </a:pPr>
            <a:r>
              <a:t>⏱️ 總時間：約 2 小時（Mac Terminal 比 Windows 快 30%）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28600"/>
            <a:ext cx="45720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926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Mac 預備工作 — 打開 Terminal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22960"/>
            <a:ext cx="11247120" cy="4114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932688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932688"/>
            <a:ext cx="164592" cy="164592"/>
          </a:xfrm>
          <a:prstGeom prst="ellipse">
            <a:avLst/>
          </a:prstGeom>
          <a:solidFill>
            <a:srgbClr val="FA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8719" y="932688"/>
            <a:ext cx="164592" cy="16459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868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Terminal — zsh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34440"/>
            <a:ext cx="11247120" cy="534924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258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94A3B8"/>
                </a:solidFill>
              </a:defRPr>
            </a:pPr>
            <a:r>
              <a:t># Mac Terminal 就係你嘅部署工具</a:t>
            </a:r>
          </a:p>
          <a:p>
            <a:pPr>
              <a:spcAft>
                <a:spcPts val="300"/>
              </a:spcAft>
              <a:defRPr sz="1200" b="1">
                <a:solidFill>
                  <a:srgbClr val="06B6D4"/>
                </a:solidFill>
              </a:defRPr>
            </a:pPr>
            <a:r>
              <a:t># 打開方式：Spotlight 搜尋 Terminal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</a:p>
          <a:p>
            <a:pPr>
              <a:spcAft>
                <a:spcPts val="300"/>
              </a:spcAft>
              <a:defRPr sz="1200" b="1">
                <a:solidFill>
                  <a:srgbClr val="06B6D4"/>
                </a:solidFill>
              </a:defRPr>
            </a:pPr>
            <a:r>
              <a:t>$ which ssh</a:t>
            </a:r>
          </a:p>
          <a:p>
            <a:pPr>
              <a:spcAft>
                <a:spcPts val="300"/>
              </a:spcAft>
              <a:defRPr sz="1200" b="0">
                <a:solidFill>
                  <a:srgbClr val="22C55E"/>
                </a:solidFill>
              </a:defRPr>
            </a:pPr>
            <a:r>
              <a:t>/usr/bin/ssh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</a:p>
          <a:p>
            <a:pPr>
              <a:spcAft>
                <a:spcPts val="300"/>
              </a:spcAft>
              <a:defRPr sz="1200" b="1">
                <a:solidFill>
                  <a:srgbClr val="06B6D4"/>
                </a:solidFill>
              </a:defRPr>
            </a:pPr>
            <a:r>
              <a:t>$ which git</a:t>
            </a:r>
          </a:p>
          <a:p>
            <a:pPr>
              <a:spcAft>
                <a:spcPts val="300"/>
              </a:spcAft>
              <a:defRPr sz="1200" b="0">
                <a:solidFill>
                  <a:srgbClr val="22C55E"/>
                </a:solidFill>
              </a:defRPr>
            </a:pPr>
            <a:r>
              <a:t>/usr/bin/git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</a:p>
          <a:p>
            <a:pPr>
              <a:spcAft>
                <a:spcPts val="300"/>
              </a:spcAft>
              <a:defRPr sz="1200" b="1">
                <a:solidFill>
                  <a:srgbClr val="06B6D4"/>
                </a:solidFill>
              </a:defRPr>
            </a:pPr>
            <a:r>
              <a:t>$ which docker</a:t>
            </a:r>
          </a:p>
          <a:p>
            <a:pPr>
              <a:spcAft>
                <a:spcPts val="300"/>
              </a:spcAft>
              <a:defRPr sz="1200" b="0">
                <a:solidFill>
                  <a:srgbClr val="22C55E"/>
                </a:solidFill>
              </a:defRPr>
            </a:pPr>
            <a:r>
              <a:t>/usr/local/bin/docker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</a:p>
          <a:p>
            <a:pPr>
              <a:spcAft>
                <a:spcPts val="300"/>
              </a:spcAft>
              <a:defRPr sz="1200" b="1">
                <a:solidFill>
                  <a:srgbClr val="06B6D4"/>
                </a:solidFill>
              </a:defRPr>
            </a:pPr>
            <a:r>
              <a:t>$ sw_vers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t>ProductName:    macOS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t>ProductVersion: 15.0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</a:p>
          <a:p>
            <a:pPr>
              <a:spcAft>
                <a:spcPts val="300"/>
              </a:spcAft>
              <a:defRPr sz="1200" b="1">
                <a:solidFill>
                  <a:srgbClr val="22C55E"/>
                </a:solidFill>
              </a:defRPr>
            </a:pPr>
            <a:r>
              <a:t># ✅ Mac 預裝了 SSH、Git</a:t>
            </a:r>
          </a:p>
          <a:p>
            <a:pPr>
              <a:spcAft>
                <a:spcPts val="300"/>
              </a:spcAft>
              <a:defRPr sz="1200" b="1">
                <a:solidFill>
                  <a:srgbClr val="22C55E"/>
                </a:solidFill>
              </a:defRPr>
            </a:pPr>
            <a:r>
              <a:t># ✅ Docker 需要額外安裝（之後教你）</a:t>
            </a:r>
          </a:p>
          <a:p>
            <a:pPr>
              <a:spcAft>
                <a:spcPts val="300"/>
              </a:spcAft>
              <a:defRPr sz="1200" b="1">
                <a:solidFill>
                  <a:srgbClr val="22C55E"/>
                </a:solidFill>
              </a:defRPr>
            </a:pPr>
            <a:r>
              <a:t># ✅ 所有 Linux 命令直接可用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303520"/>
            <a:ext cx="5029200" cy="1188720"/>
          </a:xfrm>
          <a:prstGeom prst="roundRect">
            <a:avLst/>
          </a:prstGeom>
          <a:solidFill>
            <a:srgbClr val="1A2A1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394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</a:defRPr>
            </a:pPr>
            <a:r>
              <a:t>🍎 Mac Terminal 開啟方式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7607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94A3B8"/>
                </a:solidFill>
              </a:defRPr>
            </a:pPr>
            <a:r>
              <a:t>① Cmd + Space → 輸入 Terminal → Enter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② 應用程式 → 工具程式 → Terminal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③ Finder → 前往 → 工具程式 → Terminal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0" y="5303520"/>
            <a:ext cx="5943600" cy="1188720"/>
          </a:xfrm>
          <a:prstGeom prst="roundRect">
            <a:avLst/>
          </a:prstGeom>
          <a:solidFill>
            <a:srgbClr val="1A1A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53949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366F1"/>
                </a:solidFill>
              </a:defRPr>
            </a:pPr>
            <a:r>
              <a:t>⚡ Mac 嘅好處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57607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✅ SSH 原生支援，唔使裝 PuTTY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✅ 所有 Linux 命令直接可用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✅ 文件權限 chmod 同伺服器一樣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28600"/>
            <a:ext cx="45720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926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建立 AWS 帳戶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11247120" cy="5760720"/>
          </a:xfrm>
          <a:prstGeom prst="roundRect">
            <a:avLst/>
          </a:prstGeom>
          <a:solidFill>
            <a:srgbClr val="232F3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822960"/>
            <a:ext cx="11247120" cy="4572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☁ amazon web services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solidFill>
            <a:srgbClr val="1A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82880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The world's most comprehensive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3774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and broadly adopted cloud platform.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3200400"/>
            <a:ext cx="3931920" cy="64008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324612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Create an AWS Account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931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ACC16"/>
                </a:solidFill>
              </a:defRPr>
            </a:pPr>
            <a:r>
              <a:t>👉 點擊呢個！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463040"/>
            <a:ext cx="5029200" cy="4572000"/>
          </a:xfrm>
          <a:prstGeom prst="roundRect">
            <a:avLst/>
          </a:prstGeom>
          <a:solidFill>
            <a:srgbClr val="1A2A1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1554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✅ 註冊步驟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196596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① 去 aws.amazon.com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② 點擊 Create an AWS Account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③ 填寫 Email + 密碼 + 帳號名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④ 選擇 Personal（個人）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⑤ 填寫聯絡資料（英文）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⑥ 輸入信用卡（免費唔扣錢）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⑦ 手機 SMS 驗證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⑧ 揀 Basic Support（免費）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EF4444"/>
                </a:solidFill>
              </a:defRPr>
            </a:pPr>
            <a:r>
              <a:t>⚠️ 之後要設預算告警：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  Budgets → $10 USD 月費上限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  防止意外扣費！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28600"/>
            <a:ext cx="45720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926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建立 VPC 網絡安全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731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aws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73152"/>
            <a:ext cx="4572000" cy="365760"/>
          </a:xfrm>
          <a:prstGeom prst="round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914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VPC &gt; Create VPC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822960"/>
            <a:ext cx="6400800" cy="5760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9144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Create VPC — 填寫以下內容：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3716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</a:defRPr>
            </a:pPr>
            <a:r>
              <a:t>Name tag: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1371600"/>
            <a:ext cx="3474720" cy="347472"/>
          </a:xfrm>
          <a:prstGeom prst="round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38074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potin-vpc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8470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</a:defRPr>
            </a:pPr>
            <a:r>
              <a:t>IPv4 CIDR: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34640" y="1847088"/>
            <a:ext cx="3474720" cy="347472"/>
          </a:xfrm>
          <a:prstGeom prst="round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1856231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10.0.0.0/16（保持預設）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32257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</a:defRPr>
            </a:pPr>
            <a:r>
              <a:t>Public subnets: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34640" y="2322576"/>
            <a:ext cx="3474720" cy="347472"/>
          </a:xfrm>
          <a:prstGeom prst="round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0" y="2331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1（保持預設）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79806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</a:defRPr>
            </a:pPr>
            <a:r>
              <a:t>Private subnets: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34640" y="2798064"/>
            <a:ext cx="3474720" cy="347472"/>
          </a:xfrm>
          <a:prstGeom prst="round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26080" y="28072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C55E"/>
                </a:solidFill>
              </a:defRPr>
            </a:pPr>
            <a:r>
              <a:t>0 ← 改成 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2735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</a:defRPr>
            </a:pPr>
            <a:r>
              <a:t>NAT gateways: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34640" y="3273552"/>
            <a:ext cx="3474720" cy="347472"/>
          </a:xfrm>
          <a:prstGeom prst="round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26080" y="328269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C55E"/>
                </a:solidFill>
              </a:defRPr>
            </a:pPr>
            <a:r>
              <a:t>None ← 最平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74903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</a:defRPr>
            </a:pPr>
            <a:r>
              <a:t>VPC endpoints: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34640" y="3749039"/>
            <a:ext cx="3474720" cy="347472"/>
          </a:xfrm>
          <a:prstGeom prst="round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26080" y="3758183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C55E"/>
                </a:solidFill>
              </a:defRPr>
            </a:pPr>
            <a:r>
              <a:t>None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2245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</a:defRPr>
            </a:pPr>
            <a:r>
              <a:t>DNS hostnames: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34640" y="4224528"/>
            <a:ext cx="3474720" cy="347472"/>
          </a:xfrm>
          <a:prstGeom prst="round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26080" y="42336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☑️ 勾選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70001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</a:defRPr>
            </a:pPr>
            <a:r>
              <a:t>DNS resolution: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834640" y="4700016"/>
            <a:ext cx="3474720" cy="347472"/>
          </a:xfrm>
          <a:prstGeom prst="round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26080" y="4709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☑️ 勾選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286000" y="5303520"/>
            <a:ext cx="2286000" cy="502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86000" y="533095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Create VPC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5349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ACC16"/>
                </a:solidFill>
              </a:defRPr>
            </a:pPr>
            <a:r>
              <a:t>👉 點擊呢個！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32320" y="822960"/>
            <a:ext cx="4572000" cy="5760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0" y="914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</a:defRPr>
            </a:pPr>
            <a:r>
              <a:t>🛡️ Security Group 設定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1371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4A3B8"/>
                </a:solidFill>
              </a:defRPr>
            </a:pPr>
            <a:r>
              <a:t>Name: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0" y="1371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potin-web-sg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18288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4A3B8"/>
                </a:solidFill>
              </a:defRPr>
            </a:pPr>
            <a:r>
              <a:t>Description: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61120" y="1828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Web server for Potin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2286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4A3B8"/>
                </a:solidFill>
              </a:defRPr>
            </a:pPr>
            <a:r>
              <a:t>VPC: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61120" y="2286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potin-vpc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0" y="28346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ACC16"/>
                </a:solidFill>
              </a:defRPr>
            </a:pPr>
            <a:r>
              <a:t>Inbound Rules：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0" y="3200400"/>
            <a:ext cx="1097280" cy="3200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60920" y="32004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SSH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03920" y="32004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22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26880" y="3200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C55E"/>
                </a:solidFill>
              </a:defRPr>
            </a:pPr>
            <a:r>
              <a:t>My IP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315200" y="3611880"/>
            <a:ext cx="1097280" cy="320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60920" y="36118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HTTP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03920" y="36118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80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26880" y="3611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0.0.0.0/0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315200" y="4023360"/>
            <a:ext cx="1097280" cy="320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60920" y="40233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HTTPS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03920" y="40233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443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26880" y="4023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0.0.0.0/0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315200" y="4754880"/>
            <a:ext cx="4114800" cy="1645920"/>
          </a:xfrm>
          <a:prstGeom prst="roundRect">
            <a:avLst/>
          </a:prstGeom>
          <a:solidFill>
            <a:srgbClr val="2A1A1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498079" y="4846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</a:defRPr>
            </a:pPr>
            <a:r>
              <a:t>🚨 SSH 安全警告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98079" y="521208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94A3B8"/>
                </a:solidFill>
              </a:defRPr>
            </a:pPr>
            <a:r>
              <a:t>Port 22 嘅 Source 千祈唔好用</a:t>
            </a:r>
          </a:p>
          <a:p>
            <a:pPr>
              <a:spcAft>
                <a:spcPts val="400"/>
              </a:spcAft>
              <a:defRPr sz="1200" b="0">
                <a:solidFill>
                  <a:srgbClr val="94A3B8"/>
                </a:solidFill>
              </a:defRPr>
            </a:pPr>
            <a:r>
              <a:t>0.0.0.0/0！一定要用 My IP</a:t>
            </a:r>
          </a:p>
          <a:p>
            <a:pPr>
              <a:spcAft>
                <a:spcPts val="400"/>
              </a:spcAft>
              <a:defRPr sz="1200" b="0">
                <a:solidFill>
                  <a:srgbClr val="94A3B8"/>
                </a:solidFill>
              </a:defRPr>
            </a:pPr>
            <a:r>
              <a:t>只允許你部 Mac 連接伺服器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28600"/>
            <a:ext cx="45720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926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啟動 EC2 伺服器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731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aws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73152"/>
            <a:ext cx="4572000" cy="365760"/>
          </a:xfrm>
          <a:prstGeom prst="round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914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EC2 &gt; Launch an instance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822960"/>
            <a:ext cx="11247120" cy="5760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Launch an instance — 每一個欄位點樣填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371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</a:defRPr>
            </a:pPr>
            <a:r>
              <a:t>Name: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80" y="1371600"/>
            <a:ext cx="3657600" cy="347472"/>
          </a:xfrm>
          <a:prstGeom prst="round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0" y="138074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C55E"/>
                </a:solidFill>
              </a:defRPr>
            </a:pPr>
            <a:r>
              <a:t>potin-web-server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371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自己起個名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84708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</a:defRPr>
            </a:pPr>
            <a:r>
              <a:t>AMI: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68880" y="1847088"/>
            <a:ext cx="3657600" cy="347472"/>
          </a:xfrm>
          <a:prstGeom prst="round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0" y="1856231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Ubuntu Server 22.04 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8470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Free tier 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32257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</a:defRPr>
            </a:pPr>
            <a:r>
              <a:t>Instance type: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68880" y="2322576"/>
            <a:ext cx="3657600" cy="347472"/>
          </a:xfrm>
          <a:prstGeom prst="round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0320" y="23317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t3.micro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32257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免費層級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279806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</a:defRPr>
            </a:pPr>
            <a:r>
              <a:t>Key pair: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68880" y="2798064"/>
            <a:ext cx="3657600" cy="347472"/>
          </a:xfrm>
          <a:prstGeom prst="round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60320" y="280720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C55E"/>
                </a:solidFill>
              </a:defRPr>
            </a:pPr>
            <a:r>
              <a:t>Create new → potin-key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279806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RSA + .pem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2735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</a:defRPr>
            </a:pPr>
            <a:r>
              <a:t>VPC: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468880" y="3273552"/>
            <a:ext cx="3657600" cy="347472"/>
          </a:xfrm>
          <a:prstGeom prst="round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60320" y="328269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C55E"/>
                </a:solidFill>
              </a:defRPr>
            </a:pPr>
            <a:r>
              <a:t>potin-vpc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32735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你剛建嘅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374903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</a:defRPr>
            </a:pPr>
            <a:r>
              <a:t>Subnet: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468880" y="3749039"/>
            <a:ext cx="3657600" cy="347472"/>
          </a:xfrm>
          <a:prstGeom prst="round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60320" y="3758183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Public subnet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37490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公有子網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422452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</a:defRPr>
            </a:pPr>
            <a:r>
              <a:t>Public IP: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468880" y="4224528"/>
            <a:ext cx="3657600" cy="347472"/>
          </a:xfrm>
          <a:prstGeom prst="round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60320" y="423367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C55E"/>
                </a:solidFill>
              </a:defRPr>
            </a:pPr>
            <a:r>
              <a:t>Enable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4224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必須！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70001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</a:defRPr>
            </a:pPr>
            <a:r>
              <a:t>Security: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468880" y="4700016"/>
            <a:ext cx="3657600" cy="347472"/>
          </a:xfrm>
          <a:prstGeom prst="round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60320" y="47091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C55E"/>
                </a:solidFill>
              </a:defRPr>
            </a:pPr>
            <a:r>
              <a:t>potin-web-sg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470001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你剛建嘅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517550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</a:defRPr>
            </a:pPr>
            <a:r>
              <a:t>Storage: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468880" y="5175504"/>
            <a:ext cx="3657600" cy="347472"/>
          </a:xfrm>
          <a:prstGeom prst="round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560320" y="518464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20 GB gp3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517550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足夠用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200400" y="5760720"/>
            <a:ext cx="2743200" cy="50292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0" y="57881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🚀 Launch instance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5806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ACC16"/>
                </a:solidFill>
              </a:defRPr>
            </a:pPr>
            <a:r>
              <a:t>👉 點擊 Launch instance！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15200" y="1371600"/>
            <a:ext cx="4389120" cy="228600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98079" y="14630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366F1"/>
                </a:solidFill>
              </a:defRPr>
            </a:pPr>
            <a:r>
              <a:t>🔑 Key Pair 設定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98079" y="1920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Name: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61120" y="1920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potin-key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98079" y="2331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Type: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61120" y="2331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RSA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98079" y="2743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Format: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61120" y="2743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.pem（Mac 用呢個）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315200" y="3840480"/>
            <a:ext cx="4389120" cy="2560320"/>
          </a:xfrm>
          <a:prstGeom prst="roundRect">
            <a:avLst/>
          </a:prstGeom>
          <a:solidFill>
            <a:srgbClr val="2A2A1A"/>
          </a:solidFill>
          <a:ln w="19050">
            <a:solidFill>
              <a:srgbClr val="FA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98079" y="393192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ACC16"/>
                </a:solidFill>
              </a:defRPr>
            </a:pPr>
            <a:r>
              <a:t>⚠️ .pem 文件會自動下載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98079" y="4297680"/>
            <a:ext cx="4023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94A3B8"/>
                </a:solidFill>
              </a:defRPr>
            </a:pPr>
            <a:r>
              <a:t>下載到 ~/Downloads/potin-key.pem</a:t>
            </a:r>
          </a:p>
          <a:p>
            <a:pPr>
              <a:spcAft>
                <a:spcPts val="300"/>
              </a:spcAft>
              <a:defRPr sz="1200" b="0">
                <a:solidFill>
                  <a:srgbClr val="94A3B8"/>
                </a:solidFill>
              </a:defRPr>
            </a:pPr>
          </a:p>
          <a:p>
            <a:pPr>
              <a:spcAft>
                <a:spcPts val="300"/>
              </a:spcAft>
              <a:defRPr sz="1200" b="0">
                <a:solidFill>
                  <a:srgbClr val="94A3B8"/>
                </a:solidFill>
              </a:defRPr>
            </a:pPr>
            <a:r>
              <a:t>Mac 要設權限：</a:t>
            </a:r>
          </a:p>
          <a:p>
            <a:pPr>
              <a:spcAft>
                <a:spcPts val="300"/>
              </a:spcAft>
              <a:defRPr sz="1200" b="1">
                <a:solidFill>
                  <a:srgbClr val="94A3B8"/>
                </a:solidFill>
              </a:defRPr>
            </a:pPr>
            <a:r>
              <a:t>  chmod 400 ~/Downloads/potin-key.pem</a:t>
            </a:r>
          </a:p>
          <a:p>
            <a:pPr>
              <a:spcAft>
                <a:spcPts val="300"/>
              </a:spcAft>
              <a:defRPr sz="1200" b="0">
                <a:solidFill>
                  <a:srgbClr val="94A3B8"/>
                </a:solidFill>
              </a:defRPr>
            </a:pPr>
          </a:p>
          <a:p>
            <a:pPr>
              <a:spcAft>
                <a:spcPts val="300"/>
              </a:spcAft>
              <a:defRPr sz="1200" b="1">
                <a:solidFill>
                  <a:srgbClr val="94A3B8"/>
                </a:solidFill>
              </a:defRPr>
            </a:pPr>
            <a:r>
              <a:t>之後要記低 Public IP！</a:t>
            </a:r>
          </a:p>
          <a:p>
            <a:pPr>
              <a:spcAft>
                <a:spcPts val="300"/>
              </a:spcAft>
              <a:defRPr sz="1200" b="0">
                <a:solidFill>
                  <a:srgbClr val="94A3B8"/>
                </a:solidFill>
              </a:defRPr>
            </a:pPr>
            <a:r>
              <a:t>  例如：54.123.45.67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28600"/>
            <a:ext cx="45720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926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Mac Terminal 連接伺服器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22960"/>
            <a:ext cx="11247120" cy="4114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932688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932688"/>
            <a:ext cx="164592" cy="164592"/>
          </a:xfrm>
          <a:prstGeom prst="ellipse">
            <a:avLst/>
          </a:prstGeom>
          <a:solidFill>
            <a:srgbClr val="FA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8719" y="932688"/>
            <a:ext cx="164592" cy="16459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868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Terminal — SSH Connection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34440"/>
            <a:ext cx="11247120" cy="534924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258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94A3B8"/>
                </a:solidFill>
              </a:defRPr>
            </a:pPr>
            <a:r>
              <a:t># ① 去到 .pem 文件目錄</a:t>
            </a:r>
          </a:p>
          <a:p>
            <a:pPr>
              <a:spcAft>
                <a:spcPts val="300"/>
              </a:spcAft>
              <a:defRPr sz="1200" b="1">
                <a:solidFill>
                  <a:srgbClr val="06B6D4"/>
                </a:solidFill>
              </a:defRPr>
            </a:pPr>
            <a:r>
              <a:t>$ cd Downloads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</a:p>
          <a:p>
            <a:pPr>
              <a:spcAft>
                <a:spcPts val="300"/>
              </a:spcAft>
              <a:defRPr sz="1200" b="0">
                <a:solidFill>
                  <a:srgbClr val="94A3B8"/>
                </a:solidFill>
              </a:defRPr>
            </a:pPr>
            <a:r>
              <a:t># ② 設定 .pem 權限（Mac 必須！）</a:t>
            </a:r>
          </a:p>
          <a:p>
            <a:pPr>
              <a:spcAft>
                <a:spcPts val="300"/>
              </a:spcAft>
              <a:defRPr sz="1200" b="1">
                <a:solidFill>
                  <a:srgbClr val="06B6D4"/>
                </a:solidFill>
              </a:defRPr>
            </a:pPr>
            <a:r>
              <a:t>$ chmod 400 potin-key.pem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</a:p>
          <a:p>
            <a:pPr>
              <a:spcAft>
                <a:spcPts val="300"/>
              </a:spcAft>
              <a:defRPr sz="1200" b="0">
                <a:solidFill>
                  <a:srgbClr val="94A3B8"/>
                </a:solidFill>
              </a:defRPr>
            </a:pPr>
            <a:r>
              <a:t># ③ 連接伺服器</a:t>
            </a:r>
          </a:p>
          <a:p>
            <a:pPr>
              <a:spcAft>
                <a:spcPts val="300"/>
              </a:spcAft>
              <a:defRPr sz="1200" b="1">
                <a:solidFill>
                  <a:srgbClr val="06B6D4"/>
                </a:solidFill>
              </a:defRPr>
            </a:pPr>
            <a:r>
              <a:t>$ ssh -i potin-key.pem ubuntu@54.123.45.67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</a:p>
          <a:p>
            <a:pPr>
              <a:spcAft>
                <a:spcPts val="300"/>
              </a:spcAft>
              <a:defRPr sz="1200" b="0">
                <a:solidFill>
                  <a:srgbClr val="FACC16"/>
                </a:solidFill>
              </a:defRPr>
            </a:pPr>
            <a:r>
              <a:t>The authenticity of host '54.123.45.67' can't be established.</a:t>
            </a:r>
          </a:p>
          <a:p>
            <a:pPr>
              <a:spcAft>
                <a:spcPts val="300"/>
              </a:spcAft>
              <a:defRPr sz="1200" b="0">
                <a:solidFill>
                  <a:srgbClr val="FACC16"/>
                </a:solidFill>
              </a:defRPr>
            </a:pPr>
            <a:r>
              <a:t>ECDSA key fingerprint is SHA256:xxxxxx...</a:t>
            </a:r>
          </a:p>
          <a:p>
            <a:pPr>
              <a:spcAft>
                <a:spcPts val="300"/>
              </a:spcAft>
              <a:defRPr sz="1200" b="1">
                <a:solidFill>
                  <a:srgbClr val="22C55E"/>
                </a:solidFill>
              </a:defRPr>
            </a:pPr>
            <a:r>
              <a:t>Are you sure you want to continue connecting (yes/no)? yes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</a:p>
          <a:p>
            <a:pPr>
              <a:spcAft>
                <a:spcPts val="300"/>
              </a:spcAft>
              <a:defRPr sz="1200" b="0">
                <a:solidFill>
                  <a:srgbClr val="94A3B8"/>
                </a:solidFill>
              </a:defRPr>
            </a:pPr>
            <a:r>
              <a:t>Warning: Permanently added '54.123.45.67' to known hosts.</a:t>
            </a:r>
          </a:p>
          <a:p>
            <a:pPr>
              <a:spcAft>
                <a:spcPts val="300"/>
              </a:spcAft>
              <a:defRPr sz="1200" b="1">
                <a:solidFill>
                  <a:srgbClr val="22C55E"/>
                </a:solidFill>
              </a:defRPr>
            </a:pPr>
            <a:r>
              <a:t>Welcome to Ubuntu 22.04.5 LTS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</a:p>
          <a:p>
            <a:pPr>
              <a:spcAft>
                <a:spcPts val="300"/>
              </a:spcAft>
              <a:defRPr sz="1200" b="0">
                <a:solidFill>
                  <a:srgbClr val="94A3B8"/>
                </a:solidFill>
              </a:defRPr>
            </a:pPr>
            <a:r>
              <a:t> Last login: Thu Sep  4 10:00:00 2026 from 192.168.1.100</a:t>
            </a:r>
          </a:p>
          <a:p>
            <a:pPr>
              <a:spcAft>
                <a:spcPts val="300"/>
              </a:spcAft>
              <a:defRPr sz="1200" b="1">
                <a:solidFill>
                  <a:srgbClr val="22C55E"/>
                </a:solidFill>
              </a:defRPr>
            </a:pPr>
            <a:r>
              <a:t>ubuntu@ip-10-0-1-123:~$ _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</a:p>
          <a:p>
            <a:pPr>
              <a:spcAft>
                <a:spcPts val="300"/>
              </a:spcAft>
              <a:defRPr sz="1200" b="1">
                <a:solidFill>
                  <a:srgbClr val="22C55E"/>
                </a:solidFill>
              </a:defRPr>
            </a:pPr>
            <a:r>
              <a:t># ✅ 成功連接！你而家喺 AWS 伺服器入面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303520"/>
            <a:ext cx="11247120" cy="1280160"/>
          </a:xfrm>
          <a:prstGeom prst="roundRect">
            <a:avLst/>
          </a:prstGeom>
          <a:solidFill>
            <a:srgbClr val="1A2A1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3949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</a:defRPr>
            </a:pPr>
            <a:r>
              <a:t>✅ Mac SSH 連接成功！比 Windows 簡單：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7607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6B6D4"/>
                </a:solidFill>
              </a:defRPr>
            </a:pPr>
            <a:r>
              <a:t>Mac：chmod 400 key.pem → ssh -i key.pem user@ip    (2 個命令)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035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Windows：要開 PowerShell → cd Downloads → ssh -i key.pem user@ip    (3 個命令)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28600"/>
            <a:ext cx="45720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926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安裝 Docker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22960"/>
            <a:ext cx="11247120" cy="4114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932688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932688"/>
            <a:ext cx="164592" cy="164592"/>
          </a:xfrm>
          <a:prstGeom prst="ellipse">
            <a:avLst/>
          </a:prstGeom>
          <a:solidFill>
            <a:srgbClr val="FA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8719" y="932688"/>
            <a:ext cx="164592" cy="16459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868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Terminal — Install Docker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34440"/>
            <a:ext cx="11247120" cy="534924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258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94A3B8"/>
                </a:solidFill>
              </a:defRPr>
            </a:pPr>
            <a:r>
              <a:t># ① 更新系統</a:t>
            </a:r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</a:defRPr>
            </a:pPr>
            <a:r>
              <a:t>$ sudo apt update &amp;&amp; sudo apt upgrade -y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</a:p>
          <a:p>
            <a:pPr>
              <a:spcAft>
                <a:spcPts val="200"/>
              </a:spcAft>
              <a:defRPr sz="1100" b="0">
                <a:solidFill>
                  <a:srgbClr val="94A3B8"/>
                </a:solidFill>
              </a:defRPr>
            </a:pPr>
            <a:r>
              <a:t># ② 安裝 Docker 工具</a:t>
            </a:r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</a:defRPr>
            </a:pPr>
            <a:r>
              <a:t>$ sudo apt install -y ca-certificates curl gnupg lsb-release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</a:p>
          <a:p>
            <a:pPr>
              <a:spcAft>
                <a:spcPts val="200"/>
              </a:spcAft>
              <a:defRPr sz="1100" b="0">
                <a:solidFill>
                  <a:srgbClr val="94A3B8"/>
                </a:solidFill>
              </a:defRPr>
            </a:pPr>
            <a:r>
              <a:t># ③ 添加 Docker GPG key</a:t>
            </a:r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</a:defRPr>
            </a:pPr>
            <a:r>
              <a:t>$ sudo mkdir -p /etc/apt/keyrings</a:t>
            </a:r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</a:defRPr>
            </a:pPr>
            <a:r>
              <a:t>$ curl -fsSL https://download.docker.com/linux/ubuntu/gpg \</a:t>
            </a:r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</a:defRPr>
            </a:pPr>
            <a:r>
              <a:t>  | sudo gpg --dearmor -o /etc/apt/keyrings/docker.gpg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</a:p>
          <a:p>
            <a:pPr>
              <a:spcAft>
                <a:spcPts val="200"/>
              </a:spcAft>
              <a:defRPr sz="1100" b="0">
                <a:solidFill>
                  <a:srgbClr val="94A3B8"/>
                </a:solidFill>
              </a:defRPr>
            </a:pPr>
            <a:r>
              <a:t># ④ 設置 Docker 倉庫</a:t>
            </a:r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</a:defRPr>
            </a:pPr>
            <a:r>
              <a:t>$ echo "deb [arch=amd64 signed-by=/etc/apt/keyrings/docker.gpg] \</a:t>
            </a:r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</a:defRPr>
            </a:pPr>
            <a:r>
              <a:t>  https://download.docker.com/linux/ubuntu jammy stable" | \</a:t>
            </a:r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</a:defRPr>
            </a:pPr>
            <a:r>
              <a:t>  sudo tee /etc/apt/sources.list.d/docker.list &gt; /dev/null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</a:p>
          <a:p>
            <a:pPr>
              <a:spcAft>
                <a:spcPts val="200"/>
              </a:spcAft>
              <a:defRPr sz="1100" b="0">
                <a:solidFill>
                  <a:srgbClr val="94A3B8"/>
                </a:solidFill>
              </a:defRPr>
            </a:pPr>
            <a:r>
              <a:t># ⑤ 安裝 Docker</a:t>
            </a:r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</a:defRPr>
            </a:pPr>
            <a:r>
              <a:t>$ sudo apt update</a:t>
            </a:r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</a:defRPr>
            </a:pPr>
            <a:r>
              <a:t>$ sudo apt install -y docker-ce docker-ce-cli containerd.io docker-compose-plugin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</a:p>
          <a:p>
            <a:pPr>
              <a:spcAft>
                <a:spcPts val="200"/>
              </a:spcAft>
              <a:defRPr sz="1100" b="0">
                <a:solidFill>
                  <a:srgbClr val="94A3B8"/>
                </a:solidFill>
              </a:defRPr>
            </a:pPr>
            <a:r>
              <a:t># ⑥ 加入 docker 群組</a:t>
            </a:r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</a:defRPr>
            </a:pPr>
            <a:r>
              <a:t>$ sudo usermod -aG docker $USER</a:t>
            </a:r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</a:defRPr>
            </a:pPr>
            <a:r>
              <a:t>$ newgrp docker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</a:p>
          <a:p>
            <a:pPr>
              <a:spcAft>
                <a:spcPts val="200"/>
              </a:spcAft>
              <a:defRPr sz="1100" b="0">
                <a:solidFill>
                  <a:srgbClr val="94A3B8"/>
                </a:solidFill>
              </a:defRPr>
            </a:pPr>
            <a:r>
              <a:t># ⑦ 驗證</a:t>
            </a:r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</a:defRPr>
            </a:pPr>
            <a:r>
              <a:t>$ docker --version</a:t>
            </a:r>
          </a:p>
          <a:p>
            <a:pPr>
              <a:spcAft>
                <a:spcPts val="200"/>
              </a:spcAft>
              <a:defRPr sz="1100" b="1">
                <a:solidFill>
                  <a:srgbClr val="22C55E"/>
                </a:solidFill>
              </a:defRPr>
            </a:pPr>
            <a:r>
              <a:t>Docker version 24.0.7</a:t>
            </a:r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</a:defRPr>
            </a:pPr>
            <a:r>
              <a:t>$ docker run hello-world</a:t>
            </a:r>
          </a:p>
          <a:p>
            <a:pPr>
              <a:spcAft>
                <a:spcPts val="200"/>
              </a:spcAft>
              <a:defRPr sz="1100" b="1">
                <a:solidFill>
                  <a:srgbClr val="22C55E"/>
                </a:solidFill>
              </a:defRPr>
            </a:pPr>
            <a:r>
              <a:t>Hello from Docker! 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669280"/>
            <a:ext cx="11247120" cy="914400"/>
          </a:xfrm>
          <a:prstGeom prst="roundRect">
            <a:avLst/>
          </a:prstGeom>
          <a:solidFill>
            <a:srgbClr val="1A2A1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760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</a:defRPr>
            </a:pPr>
            <a:r>
              <a:t>💡 Mac 小提示：呢啲命令全部都係喺 SSH 連接後嘅伺服器上執行，唔係喺你部 Mac 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080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Mac Terminal → SSH 連接 → 伺服器上執行命令（同 Windows 一樣，但 Terminal 更順手）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28600"/>
            <a:ext cx="45720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926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部署預約系統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22960"/>
            <a:ext cx="11247120" cy="4114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932688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932688"/>
            <a:ext cx="164592" cy="164592"/>
          </a:xfrm>
          <a:prstGeom prst="ellipse">
            <a:avLst/>
          </a:prstGeom>
          <a:solidFill>
            <a:srgbClr val="FA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8719" y="932688"/>
            <a:ext cx="164592" cy="16459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868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Terminal — Deploy App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34440"/>
            <a:ext cx="11247120" cy="534924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2588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94A3B8"/>
                </a:solidFill>
              </a:defRPr>
            </a:pPr>
            <a:r>
              <a:t># ① 安裝 Git</a:t>
            </a:r>
          </a:p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$ sudo apt install -y git</a:t>
            </a:r>
          </a:p>
          <a:p>
            <a:pPr>
              <a:spcAft>
                <a:spcPts val="200"/>
              </a:spcAft>
              <a:defRPr sz="1000" b="0">
                <a:solidFill>
                  <a:srgbClr val="FFFFFF"/>
                </a:solidFill>
              </a:defRPr>
            </a:pPr>
          </a:p>
          <a:p>
            <a:pPr>
              <a:spcAft>
                <a:spcPts val="200"/>
              </a:spcAft>
              <a:defRPr sz="1000" b="0">
                <a:solidFill>
                  <a:srgbClr val="94A3B8"/>
                </a:solidFill>
              </a:defRPr>
            </a:pPr>
            <a:r>
              <a:t># ② 拉取代碼</a:t>
            </a:r>
          </a:p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$ git clone https://github.com/user/booking-aurora.git</a:t>
            </a:r>
          </a:p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$ cd booking-aurora</a:t>
            </a:r>
          </a:p>
          <a:p>
            <a:pPr>
              <a:spcAft>
                <a:spcPts val="200"/>
              </a:spcAft>
              <a:defRPr sz="1000" b="0">
                <a:solidFill>
                  <a:srgbClr val="FFFFFF"/>
                </a:solidFill>
              </a:defRPr>
            </a:pPr>
          </a:p>
          <a:p>
            <a:pPr>
              <a:spcAft>
                <a:spcPts val="200"/>
              </a:spcAft>
              <a:defRPr sz="1000" b="0">
                <a:solidFill>
                  <a:srgbClr val="94A3B8"/>
                </a:solidFill>
              </a:defRPr>
            </a:pPr>
            <a:r>
              <a:t># ③ 建立 .env</a:t>
            </a:r>
          </a:p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$ cp .env.example .env</a:t>
            </a:r>
          </a:p>
          <a:p>
            <a:pPr>
              <a:spcAft>
                <a:spcPts val="200"/>
              </a:spcAft>
              <a:defRPr sz="1000" b="1">
                <a:solidFill>
                  <a:srgbClr val="FACC16"/>
                </a:solidFill>
              </a:defRPr>
            </a:pPr>
            <a:r>
              <a:t>$ nano .env    ← 填寫配置（見右邊指引）</a:t>
            </a:r>
          </a:p>
          <a:p>
            <a:pPr>
              <a:spcAft>
                <a:spcPts val="200"/>
              </a:spcAft>
              <a:defRPr sz="1000" b="0">
                <a:solidFill>
                  <a:srgbClr val="FFFFFF"/>
                </a:solidFill>
              </a:defRPr>
            </a:pPr>
          </a:p>
          <a:p>
            <a:pPr>
              <a:spcAft>
                <a:spcPts val="200"/>
              </a:spcAft>
              <a:defRPr sz="1000" b="0">
                <a:solidFill>
                  <a:srgbClr val="94A3B8"/>
                </a:solidFill>
              </a:defRPr>
            </a:pPr>
            <a:r>
              <a:t># ④ 生成 SESSION_SECRET</a:t>
            </a:r>
          </a:p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$ SESSION_SECRET=$(node -e "console.log(require('crypto')</a:t>
            </a:r>
          </a:p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  .randomBytes(48).toString('base64url'))")</a:t>
            </a:r>
          </a:p>
          <a:p>
            <a:pPr>
              <a:spcAft>
                <a:spcPts val="200"/>
              </a:spcAft>
              <a:defRPr sz="1000" b="0">
                <a:solidFill>
                  <a:srgbClr val="FFFFFF"/>
                </a:solidFill>
              </a:defRPr>
            </a:pPr>
          </a:p>
          <a:p>
            <a:pPr>
              <a:spcAft>
                <a:spcPts val="200"/>
              </a:spcAft>
              <a:defRPr sz="1000" b="0">
                <a:solidFill>
                  <a:srgbClr val="94A3B8"/>
                </a:solidFill>
              </a:defRPr>
            </a:pPr>
            <a:r>
              <a:t># ⑤ 設定權限</a:t>
            </a:r>
          </a:p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$ chmod 700 .env</a:t>
            </a:r>
          </a:p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$ mkdir -p data logs backups</a:t>
            </a:r>
          </a:p>
          <a:p>
            <a:pPr>
              <a:spcAft>
                <a:spcPts val="200"/>
              </a:spcAft>
              <a:defRPr sz="1000" b="0">
                <a:solidFill>
                  <a:srgbClr val="FFFFFF"/>
                </a:solidFill>
              </a:defRPr>
            </a:pPr>
          </a:p>
          <a:p>
            <a:pPr>
              <a:spcAft>
                <a:spcPts val="200"/>
              </a:spcAft>
              <a:defRPr sz="1000" b="0">
                <a:solidFill>
                  <a:srgbClr val="94A3B8"/>
                </a:solidFill>
              </a:defRPr>
            </a:pPr>
            <a:r>
              <a:t># ⑥ 編輯 Caddyfile</a:t>
            </a:r>
          </a:p>
          <a:p>
            <a:pPr>
              <a:spcAft>
                <a:spcPts val="200"/>
              </a:spcAft>
              <a:defRPr sz="1000" b="1">
                <a:solidFill>
                  <a:srgbClr val="FACC16"/>
                </a:solidFill>
              </a:defRPr>
            </a:pPr>
            <a:r>
              <a:t>$ nano Caddyfile    ← 改域名（見右邊）</a:t>
            </a:r>
          </a:p>
          <a:p>
            <a:pPr>
              <a:spcAft>
                <a:spcPts val="200"/>
              </a:spcAft>
              <a:defRPr sz="1000" b="0">
                <a:solidFill>
                  <a:srgbClr val="FFFFFF"/>
                </a:solidFill>
              </a:defRPr>
            </a:pPr>
          </a:p>
          <a:p>
            <a:pPr>
              <a:spcAft>
                <a:spcPts val="200"/>
              </a:spcAft>
              <a:defRPr sz="1000" b="0">
                <a:solidFill>
                  <a:srgbClr val="94A3B8"/>
                </a:solidFill>
              </a:defRPr>
            </a:pPr>
            <a:r>
              <a:t># ⑦ 構建同啟動</a:t>
            </a:r>
          </a:p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$ docker compose up -d --build</a:t>
            </a:r>
          </a:p>
          <a:p>
            <a:pPr>
              <a:spcAft>
                <a:spcPts val="200"/>
              </a:spcAft>
              <a:defRPr sz="1000" b="0">
                <a:solidFill>
                  <a:srgbClr val="22C55E"/>
                </a:solidFill>
              </a:defRPr>
            </a:pPr>
            <a:r>
              <a:t>[+] Building 45.2s  FINISHED</a:t>
            </a:r>
          </a:p>
          <a:p>
            <a:pPr>
              <a:spcAft>
                <a:spcPts val="200"/>
              </a:spcAft>
              <a:defRPr sz="1000" b="1">
                <a:solidFill>
                  <a:srgbClr val="22C55E"/>
                </a:solidFill>
              </a:defRPr>
            </a:pPr>
            <a:r>
              <a:t>✔ Container aurora-app    Started</a:t>
            </a:r>
          </a:p>
          <a:p>
            <a:pPr>
              <a:spcAft>
                <a:spcPts val="200"/>
              </a:spcAft>
              <a:defRPr sz="1000" b="1">
                <a:solidFill>
                  <a:srgbClr val="22C55E"/>
                </a:solidFill>
              </a:defRPr>
            </a:pPr>
            <a:r>
              <a:t>✔ Container aurora-caddy  Started</a:t>
            </a:r>
          </a:p>
          <a:p>
            <a:pPr>
              <a:spcAft>
                <a:spcPts val="200"/>
              </a:spcAft>
              <a:defRPr sz="1000" b="0">
                <a:solidFill>
                  <a:srgbClr val="FFFFFF"/>
                </a:solidFill>
              </a:defRPr>
            </a:pPr>
          </a:p>
          <a:p>
            <a:pPr>
              <a:spcAft>
                <a:spcPts val="200"/>
              </a:spcAft>
              <a:defRPr sz="1000" b="0">
                <a:solidFill>
                  <a:srgbClr val="94A3B8"/>
                </a:solidFill>
              </a:defRPr>
            </a:pPr>
            <a:r>
              <a:t># ⑧ 確認運行</a:t>
            </a:r>
          </a:p>
          <a:p>
            <a:pPr>
              <a:spcAft>
                <a:spcPts val="200"/>
              </a:spcAft>
              <a:defRPr sz="1000" b="1">
                <a:solidFill>
                  <a:srgbClr val="06B6D4"/>
                </a:solidFill>
              </a:defRPr>
            </a:pPr>
            <a:r>
              <a:t>$ docker compose ps</a:t>
            </a:r>
          </a:p>
          <a:p>
            <a:pPr>
              <a:spcAft>
                <a:spcPts val="200"/>
              </a:spcAft>
              <a:defRPr sz="1000" b="1">
                <a:solidFill>
                  <a:srgbClr val="22C55E"/>
                </a:solidFill>
              </a:defRPr>
            </a:pPr>
            <a:r>
              <a:t>NAME          STATUS    aurora-app  Up 2 min</a:t>
            </a:r>
          </a:p>
          <a:p>
            <a:pPr>
              <a:spcAft>
                <a:spcPts val="200"/>
              </a:spcAft>
              <a:defRPr sz="1000" b="0">
                <a:solidFill>
                  <a:srgbClr val="22C55E"/>
                </a:solidFill>
              </a:defRPr>
            </a:pPr>
            <a:r>
              <a:t>              aurora-caddy Up 2 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822960"/>
            <a:ext cx="3931920" cy="2926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A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914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ACC16"/>
                </a:solidFill>
              </a:defRPr>
            </a:pPr>
            <a:r>
              <a:t>📝 .env 填寫指引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1325880"/>
            <a:ext cx="36576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FFFFFF"/>
                </a:solidFill>
              </a:defRPr>
            </a:pPr>
            <a:r>
              <a:t>SESSION_SECRET=你嘅字串</a:t>
            </a:r>
          </a:p>
          <a:p>
            <a:pPr>
              <a:spcAft>
                <a:spcPts val="300"/>
              </a:spcAft>
              <a:defRPr sz="1100" b="0">
                <a:solidFill>
                  <a:srgbClr val="FFFFFF"/>
                </a:solidFill>
              </a:defRPr>
            </a:pPr>
            <a:r>
              <a:t>NODE_ENV=production</a:t>
            </a:r>
          </a:p>
          <a:p>
            <a:pPr>
              <a:spcAft>
                <a:spcPts val="300"/>
              </a:spcAft>
              <a:defRPr sz="1100" b="0">
                <a:solidFill>
                  <a:srgbClr val="FFFFFF"/>
                </a:solidFill>
              </a:defRPr>
            </a:pPr>
            <a:r>
              <a:t>PORT=4000</a:t>
            </a:r>
          </a:p>
          <a:p>
            <a:pPr>
              <a:spcAft>
                <a:spcPts val="300"/>
              </a:spcAft>
              <a:defRPr sz="1100" b="0">
                <a:solidFill>
                  <a:srgbClr val="FFFFFF"/>
                </a:solidFill>
              </a:defRPr>
            </a:pPr>
            <a:r>
              <a:t>ADMIN_PASSWORD=強密碼12位</a:t>
            </a:r>
          </a:p>
          <a:p>
            <a:pPr>
              <a:spcAft>
                <a:spcPts val="300"/>
              </a:spcAft>
              <a:defRPr sz="1100" b="0">
                <a:solidFill>
                  <a:srgbClr val="FFFFFF"/>
                </a:solidFill>
              </a:defRPr>
            </a:pPr>
            <a:r>
              <a:t>DB_PATH=/app/data/database.db</a:t>
            </a:r>
          </a:p>
          <a:p>
            <a:pPr>
              <a:spcAft>
                <a:spcPts val="300"/>
              </a:spcAft>
              <a:defRPr sz="1100" b="0">
                <a:solidFill>
                  <a:srgbClr val="FFFFFF"/>
                </a:solidFill>
              </a:defRPr>
            </a:pPr>
            <a:r>
              <a:t>EMAIL_USER=你嘅Gmail</a:t>
            </a:r>
          </a:p>
          <a:p>
            <a:pPr>
              <a:spcAft>
                <a:spcPts val="300"/>
              </a:spcAft>
              <a:defRPr sz="1100" b="0">
                <a:solidFill>
                  <a:srgbClr val="FFFFFF"/>
                </a:solidFill>
              </a:defRPr>
            </a:pPr>
            <a:r>
              <a:t>EMAIL_PASS=Gmail App Password</a:t>
            </a:r>
          </a:p>
          <a:p>
            <a:pPr>
              <a:spcAft>
                <a:spcPts val="300"/>
              </a:spcAft>
              <a:defRPr sz="1100" b="0">
                <a:solidFill>
                  <a:srgbClr val="FFFFFF"/>
                </a:solidFill>
              </a:defRPr>
            </a:pPr>
            <a:r>
              <a:t>SITE_DOMAIN=你嘅域名.com</a:t>
            </a:r>
          </a:p>
          <a:p>
            <a:pPr>
              <a:spcAft>
                <a:spcPts val="300"/>
              </a:spcAft>
              <a:defRPr sz="1100" b="0">
                <a:solidFill>
                  <a:srgbClr val="FFFFFF"/>
                </a:solidFill>
              </a:defRPr>
            </a:pPr>
          </a:p>
          <a:p>
            <a:pPr>
              <a:spcAft>
                <a:spcPts val="300"/>
              </a:spcAft>
              <a:defRPr sz="1100" b="0">
                <a:solidFill>
                  <a:srgbClr val="FFFFFF"/>
                </a:solidFill>
              </a:defRPr>
            </a:pPr>
            <a:r>
              <a:t>⚠️ 千祈唔好留</a:t>
            </a:r>
          </a:p>
          <a:p>
            <a:pPr>
              <a:spcAft>
                <a:spcPts val="300"/>
              </a:spcAft>
              <a:defRPr sz="1100" b="1">
                <a:solidFill>
                  <a:srgbClr val="EF4444"/>
                </a:solidFill>
              </a:defRPr>
            </a:pPr>
            <a:r>
              <a:t>CAPTCHA_TEST_BYPASS！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3931920"/>
            <a:ext cx="393192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4023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</a:defRPr>
            </a:pPr>
            <a:r>
              <a:t>📝 Caddyfile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438912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94A3B8"/>
                </a:solidFill>
              </a:defRPr>
            </a:pPr>
            <a:r>
              <a:t>{</a:t>
            </a:r>
          </a:p>
          <a:p>
            <a:pPr>
              <a:spcAft>
                <a:spcPts val="200"/>
              </a:spcAft>
              <a:defRPr sz="1100" b="0">
                <a:solidFill>
                  <a:srgbClr val="94A3B8"/>
                </a:solidFill>
              </a:defRPr>
            </a:pPr>
            <a:r>
              <a:t>  email admin@你的域名.com</a:t>
            </a:r>
          </a:p>
          <a:p>
            <a:pPr>
              <a:spcAft>
                <a:spcPts val="200"/>
              </a:spcAft>
              <a:defRPr sz="1100" b="0">
                <a:solidFill>
                  <a:srgbClr val="94A3B8"/>
                </a:solidFill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100" b="0">
                <a:solidFill>
                  <a:srgbClr val="94A3B8"/>
                </a:solidFill>
              </a:defRPr>
            </a:pPr>
            <a:r>
              <a:t>你的域名.com {</a:t>
            </a:r>
          </a:p>
          <a:p>
            <a:pPr>
              <a:spcAft>
                <a:spcPts val="200"/>
              </a:spcAft>
              <a:defRPr sz="1100" b="0">
                <a:solidFill>
                  <a:srgbClr val="94A3B8"/>
                </a:solidFill>
              </a:defRPr>
            </a:pPr>
            <a:r>
              <a:t>  reverse_proxy app:4000</a:t>
            </a:r>
          </a:p>
          <a:p>
            <a:pPr>
              <a:spcAft>
                <a:spcPts val="200"/>
              </a:spcAft>
              <a:defRPr sz="1100" b="0">
                <a:solidFill>
                  <a:srgbClr val="94A3B8"/>
                </a:solidFill>
              </a:defRPr>
            </a:pPr>
            <a:r>
              <a:t>}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5486400"/>
            <a:ext cx="3931920" cy="1097280"/>
          </a:xfrm>
          <a:prstGeom prst="roundRect">
            <a:avLst/>
          </a:prstGeom>
          <a:solidFill>
            <a:srgbClr val="1A2A1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79" y="5577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✅ 部署成功！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58978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Mac 瀏覽器打開：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126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ACC16"/>
                </a:solidFill>
              </a:defRPr>
            </a:pPr>
            <a:r>
              <a:t>http://你的公開IP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28600"/>
            <a:ext cx="45720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926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配置域名 + HTTPS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5486400" cy="3200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97316"/>
                </a:solidFill>
              </a:defRPr>
            </a:pPr>
            <a:r>
              <a:t>☁ Cloudflare DNS 設定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① 註冊 Cloudflare（免費）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② 添加域名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③ 改 Nameserver（去域名商）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④ DNS 記錄：</a:t>
            </a:r>
          </a:p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  A  @    → 你的EC2 IP  ✓ Proxy</a:t>
            </a:r>
          </a:p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  A  www  → 你的EC2 IP  ✓ Proxy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⑤ SSL/TLS: Full (Strict)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⑥ Always Use HTTPS: 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206240"/>
            <a:ext cx="548640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97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🍎 Mac 上更新域名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091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06B6D4"/>
                </a:solidFill>
              </a:defRPr>
            </a:pPr>
            <a:r>
              <a:t>$ ssh -i potin-key.pem ubuntu@你的IP</a:t>
            </a:r>
          </a:p>
          <a:p>
            <a:pPr>
              <a:spcAft>
                <a:spcPts val="300"/>
              </a:spcAft>
              <a:defRPr sz="1200" b="1">
                <a:solidFill>
                  <a:srgbClr val="06B6D4"/>
                </a:solidFill>
              </a:defRPr>
            </a:pPr>
            <a:r>
              <a:t>$ cd ~/booking-aurora</a:t>
            </a:r>
          </a:p>
          <a:p>
            <a:pPr>
              <a:spcAft>
                <a:spcPts val="300"/>
              </a:spcAft>
              <a:defRPr sz="1200" b="1">
                <a:solidFill>
                  <a:srgbClr val="06B6D4"/>
                </a:solidFill>
              </a:defRPr>
            </a:pPr>
            <a:r>
              <a:t>$ nano .env</a:t>
            </a:r>
          </a:p>
          <a:p>
            <a:pPr>
              <a:spcAft>
                <a:spcPts val="300"/>
              </a:spcAft>
              <a:defRPr sz="1200" b="0">
                <a:solidFill>
                  <a:srgbClr val="94A3B8"/>
                </a:solidFill>
              </a:defRPr>
            </a:pPr>
            <a:r>
              <a:t>  改 SITE_DOMAIN=你的域名.com</a:t>
            </a:r>
          </a:p>
          <a:p>
            <a:pPr>
              <a:spcAft>
                <a:spcPts val="300"/>
              </a:spcAft>
              <a:defRPr sz="1200" b="1">
                <a:solidFill>
                  <a:srgbClr val="06B6D4"/>
                </a:solidFill>
              </a:defRPr>
            </a:pPr>
            <a:r>
              <a:t>$ docker compose down</a:t>
            </a:r>
          </a:p>
          <a:p>
            <a:pPr>
              <a:spcAft>
                <a:spcPts val="300"/>
              </a:spcAft>
              <a:defRPr sz="1200" b="1">
                <a:solidFill>
                  <a:srgbClr val="06B6D4"/>
                </a:solidFill>
              </a:defRPr>
            </a:pPr>
            <a:r>
              <a:t>$ docker compose up -d</a:t>
            </a:r>
          </a:p>
          <a:p>
            <a:pPr>
              <a:spcAft>
                <a:spcPts val="300"/>
              </a:spcAft>
              <a:defRPr sz="1200" b="0">
                <a:solidFill>
                  <a:srgbClr val="94A3B8"/>
                </a:solidFill>
              </a:defRPr>
            </a:pPr>
          </a:p>
          <a:p>
            <a:pPr>
              <a:spcAft>
                <a:spcPts val="300"/>
              </a:spcAft>
              <a:defRPr sz="1200" b="1">
                <a:solidFill>
                  <a:srgbClr val="06B6D4"/>
                </a:solidFill>
              </a:defRPr>
            </a:pPr>
            <a:r>
              <a:t>$ open https://你的域名.com  ← Mac 專用！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822960"/>
            <a:ext cx="5486400" cy="5760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914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</a:defRPr>
            </a:pPr>
            <a:r>
              <a:t>📋 域名配置完整步驟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t>① 購買域名（Cloudflare ~HK$80/年）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</a:defRPr>
            </a:pPr>
            <a:r>
              <a:t>② 註冊 Cloudflare → 添加域名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</a:defRPr>
            </a:pPr>
            <a:r>
              <a:t>③ 改 Nameserver（去你嘅域名商）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</a:defRPr>
            </a:pPr>
            <a:r>
              <a:t>④ 設定 DNS 記錄（見左邊）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</a:defRPr>
            </a:pPr>
            <a:r>
              <a:t>⑤ SSL/TLS 設定為 Full (Strict)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</a:defRPr>
            </a:pPr>
            <a:r>
              <a:t>⑥ 在 Mac Terminal：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</a:defRPr>
            </a:pPr>
            <a:r>
              <a:t>   ssh -i potin-key.pem ubuntu@你的IP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</a:defRPr>
            </a:pPr>
            <a:r>
              <a:t>   cd ~/booking-aurora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</a:defRPr>
            </a:pPr>
            <a:r>
              <a:t>   nano .env → 改 SITE_DOMAIN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</a:defRPr>
            </a:pPr>
            <a:r>
              <a:t>   docker compose down &amp;&amp; docker compose up -d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</a:defRPr>
            </a:pPr>
            <a:r>
              <a:t>⑦ Mac 瀏覽器打開 https://你的域名.com</a:t>
            </a:r>
          </a:p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t>⑧ 應該見到 🔒 鎖頭圖標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28600"/>
            <a:ext cx="45720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926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自動備份 + 監控告警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5486400" cy="2743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97316"/>
                </a:solidFill>
              </a:defRPr>
            </a:pPr>
            <a:r>
              <a:t>💾 步驟 8：S3 自動備份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</a:defRPr>
            </a:pPr>
            <a:r>
              <a:t>① AWS Console → S3 → Create bucket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t>  Region: Asia Pacific (Hong Kong)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t>② IAM → Users → Create user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t>  附予 AmazonS3FullAccess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t>③ Mac Terminal：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t>  sudo apt install -y awscli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t>  aws configure（輸入 Key）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t>  建立 ~/backup-aurora.sh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t>  crontab -e → 0 4 * * * ~/backup-aurora.sh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749039"/>
            <a:ext cx="5486400" cy="2834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</a:defRPr>
            </a:pPr>
            <a:r>
              <a:t>📊 步驟 9：CloudWatch 監控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976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</a:defRPr>
            </a:pPr>
            <a:r>
              <a:t>① AWS Console → CloudWatch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t>② Alarms → Create alarm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t>③ EC2 → CPU Utilization &gt; 80%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t>④ Email 通知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t>⑤ Mac Terminal 健康檢查：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t>  建立 ~/health-check.sh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t>  cron: */5 * * * *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</a:p>
          <a:p>
            <a:pPr>
              <a:spcAft>
                <a:spcPts val="300"/>
              </a:spcAft>
              <a:defRPr sz="1200" b="1">
                <a:solidFill>
                  <a:srgbClr val="FACC16"/>
                </a:solidFill>
              </a:defRPr>
            </a:pPr>
            <a:r>
              <a:t>📊 Mac 專用成本查看：</a:t>
            </a:r>
          </a:p>
          <a:p>
            <a:pPr>
              <a:spcAft>
                <a:spcPts val="300"/>
              </a:spcAft>
              <a:defRPr sz="1200" b="0">
                <a:solidFill>
                  <a:srgbClr val="06B6D4"/>
                </a:solidFill>
              </a:defRPr>
            </a:pPr>
            <a:r>
              <a:t>  aws ce get-cost-and-usage \</a:t>
            </a:r>
          </a:p>
          <a:p>
            <a:pPr>
              <a:spcAft>
                <a:spcPts val="300"/>
              </a:spcAft>
              <a:defRPr sz="1200" b="0">
                <a:solidFill>
                  <a:srgbClr val="FFFFFF"/>
                </a:solidFill>
              </a:defRPr>
            </a:pPr>
            <a:r>
              <a:t>    --time-period Start=2026-09-01,End=2026-09-30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822960"/>
            <a:ext cx="5486400" cy="576072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914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</a:defRPr>
            </a:pPr>
            <a:r>
              <a:t>🏗️ 完整架構圖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63040"/>
            <a:ext cx="2560320" cy="548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508760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0D158"/>
                </a:solidFill>
              </a:defRPr>
            </a:pPr>
            <a:r>
              <a:t>🍎 Mac Terminal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194560"/>
            <a:ext cx="2560320" cy="548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2240279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366F1"/>
                </a:solidFill>
              </a:defRPr>
            </a:pPr>
            <a:r>
              <a:t>📱 手機 App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926080"/>
            <a:ext cx="2560320" cy="548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2971800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📲 PWA 網頁版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3657600"/>
            <a:ext cx="2560320" cy="548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3703320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</a:defRPr>
            </a:pPr>
            <a:r>
              <a:t>💻 瀏覽器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480560"/>
            <a:ext cx="2560320" cy="548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4526280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97316"/>
                </a:solidFill>
              </a:defRPr>
            </a:pPr>
            <a:r>
              <a:t>☁️ Route 53 + Cloudflare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5212080"/>
            <a:ext cx="1828800" cy="457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5257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366F1"/>
                </a:solidFill>
              </a:defRPr>
            </a:pPr>
            <a:r>
              <a:t>🖥️ EC2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5212080"/>
            <a:ext cx="1371600" cy="457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0" y="5257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</a:defRPr>
            </a:pPr>
            <a:r>
              <a:t>Caddy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332720" y="5212080"/>
            <a:ext cx="1188720" cy="457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24160" y="52578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Node.js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28600"/>
            <a:ext cx="45720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926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安全加固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22960"/>
            <a:ext cx="11247120" cy="4114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932688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932688"/>
            <a:ext cx="164592" cy="164592"/>
          </a:xfrm>
          <a:prstGeom prst="ellipse">
            <a:avLst/>
          </a:prstGeom>
          <a:solidFill>
            <a:srgbClr val="FA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8719" y="932688"/>
            <a:ext cx="164592" cy="16459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868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Terminal — Security Hardening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34440"/>
            <a:ext cx="11247120" cy="534924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2588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94A3B8"/>
                </a:solidFill>
              </a:defRPr>
            </a:pPr>
            <a:r>
              <a:t># SSH 安全設定</a:t>
            </a:r>
          </a:p>
          <a:p>
            <a:pPr>
              <a:spcAft>
                <a:spcPts val="300"/>
              </a:spcAft>
              <a:defRPr sz="1100" b="1">
                <a:solidFill>
                  <a:srgbClr val="06B6D4"/>
                </a:solidFill>
              </a:defRPr>
            </a:pPr>
            <a:r>
              <a:t>$ sudo nano /etc/ssh/sshd_config</a:t>
            </a:r>
          </a:p>
          <a:p>
            <a:pPr>
              <a:spcAft>
                <a:spcPts val="300"/>
              </a:spcAft>
              <a:defRPr sz="1100" b="1">
                <a:solidFill>
                  <a:srgbClr val="22C55E"/>
                </a:solidFill>
              </a:defRPr>
            </a:pPr>
            <a:r>
              <a:t>  PermitRootLogin no</a:t>
            </a:r>
          </a:p>
          <a:p>
            <a:pPr>
              <a:spcAft>
                <a:spcPts val="300"/>
              </a:spcAft>
              <a:defRPr sz="1100" b="1">
                <a:solidFill>
                  <a:srgbClr val="22C55E"/>
                </a:solidFill>
              </a:defRPr>
            </a:pPr>
            <a:r>
              <a:t>  AllowUsers ubuntu</a:t>
            </a:r>
          </a:p>
          <a:p>
            <a:pPr>
              <a:spcAft>
                <a:spcPts val="300"/>
              </a:spcAft>
              <a:defRPr sz="1100" b="1">
                <a:solidFill>
                  <a:srgbClr val="22C55E"/>
                </a:solidFill>
              </a:defRPr>
            </a:pPr>
            <a:r>
              <a:t>  PasswordAuthentication no</a:t>
            </a:r>
          </a:p>
          <a:p>
            <a:pPr>
              <a:spcAft>
                <a:spcPts val="300"/>
              </a:spcAft>
              <a:defRPr sz="1100" b="1">
                <a:solidFill>
                  <a:srgbClr val="22C55E"/>
                </a:solidFill>
              </a:defRPr>
            </a:pPr>
            <a:r>
              <a:t>  Protocol 2</a:t>
            </a:r>
          </a:p>
          <a:p>
            <a:pPr>
              <a:spcAft>
                <a:spcPts val="300"/>
              </a:spcAft>
              <a:defRPr sz="1100" b="1">
                <a:solidFill>
                  <a:srgbClr val="06B6D4"/>
                </a:solidFill>
              </a:defRPr>
            </a:pPr>
            <a:r>
              <a:t>$ sudo systemctl restart sshd</a:t>
            </a:r>
          </a:p>
          <a:p>
            <a:pPr>
              <a:spcAft>
                <a:spcPts val="300"/>
              </a:spcAft>
              <a:defRPr sz="1100" b="0">
                <a:solidFill>
                  <a:srgbClr val="FFFFFF"/>
                </a:solidFill>
              </a:defRPr>
            </a:pPr>
          </a:p>
          <a:p>
            <a:pPr>
              <a:spcAft>
                <a:spcPts val="300"/>
              </a:spcAft>
              <a:defRPr sz="1100" b="0">
                <a:solidFill>
                  <a:srgbClr val="94A3B8"/>
                </a:solidFill>
              </a:defRPr>
            </a:pPr>
            <a:r>
              <a:t># 防火牆</a:t>
            </a:r>
          </a:p>
          <a:p>
            <a:pPr>
              <a:spcAft>
                <a:spcPts val="300"/>
              </a:spcAft>
              <a:defRPr sz="1100" b="1">
                <a:solidFill>
                  <a:srgbClr val="06B6D4"/>
                </a:solidFill>
              </a:defRPr>
            </a:pPr>
            <a:r>
              <a:t>$ sudo apt install -y ufw</a:t>
            </a:r>
          </a:p>
          <a:p>
            <a:pPr>
              <a:spcAft>
                <a:spcPts val="300"/>
              </a:spcAft>
              <a:defRPr sz="1100" b="1">
                <a:solidFill>
                  <a:srgbClr val="06B6D4"/>
                </a:solidFill>
              </a:defRPr>
            </a:pPr>
            <a:r>
              <a:t>$ sudo ufw allow ssh</a:t>
            </a:r>
          </a:p>
          <a:p>
            <a:pPr>
              <a:spcAft>
                <a:spcPts val="300"/>
              </a:spcAft>
              <a:defRPr sz="1100" b="1">
                <a:solidFill>
                  <a:srgbClr val="06B6D4"/>
                </a:solidFill>
              </a:defRPr>
            </a:pPr>
            <a:r>
              <a:t>$ sudo ufw allow http</a:t>
            </a:r>
          </a:p>
          <a:p>
            <a:pPr>
              <a:spcAft>
                <a:spcPts val="300"/>
              </a:spcAft>
              <a:defRPr sz="1100" b="1">
                <a:solidFill>
                  <a:srgbClr val="06B6D4"/>
                </a:solidFill>
              </a:defRPr>
            </a:pPr>
            <a:r>
              <a:t>$ sudo ufw allow https</a:t>
            </a:r>
          </a:p>
          <a:p>
            <a:pPr>
              <a:spcAft>
                <a:spcPts val="300"/>
              </a:spcAft>
              <a:defRPr sz="1100" b="1">
                <a:solidFill>
                  <a:srgbClr val="06B6D4"/>
                </a:solidFill>
              </a:defRPr>
            </a:pPr>
            <a:r>
              <a:t>$ sudo ufw enable</a:t>
            </a:r>
          </a:p>
          <a:p>
            <a:pPr>
              <a:spcAft>
                <a:spcPts val="300"/>
              </a:spcAft>
              <a:defRPr sz="1100" b="1">
                <a:solidFill>
                  <a:srgbClr val="06B6D4"/>
                </a:solidFill>
              </a:defRPr>
            </a:pPr>
            <a:r>
              <a:t>$ sudo ufw status</a:t>
            </a:r>
          </a:p>
          <a:p>
            <a:pPr>
              <a:spcAft>
                <a:spcPts val="300"/>
              </a:spcAft>
              <a:defRPr sz="1100" b="1">
                <a:solidFill>
                  <a:srgbClr val="22C55E"/>
                </a:solidFill>
              </a:defRPr>
            </a:pPr>
            <a:r>
              <a:t>Status: active  22/tcp ALLOW  80/tcp ALLOW  443/tcp ALLOW</a:t>
            </a:r>
          </a:p>
          <a:p>
            <a:pPr>
              <a:spcAft>
                <a:spcPts val="300"/>
              </a:spcAft>
              <a:defRPr sz="1100" b="0">
                <a:solidFill>
                  <a:srgbClr val="FFFFFF"/>
                </a:solidFill>
              </a:defRPr>
            </a:pPr>
          </a:p>
          <a:p>
            <a:pPr>
              <a:spcAft>
                <a:spcPts val="300"/>
              </a:spcAft>
              <a:defRPr sz="1100" b="0">
                <a:solidFill>
                  <a:srgbClr val="94A3B8"/>
                </a:solidFill>
              </a:defRPr>
            </a:pPr>
            <a:r>
              <a:t># 自動更新</a:t>
            </a:r>
          </a:p>
          <a:p>
            <a:pPr>
              <a:spcAft>
                <a:spcPts val="300"/>
              </a:spcAft>
              <a:defRPr sz="1100" b="1">
                <a:solidFill>
                  <a:srgbClr val="06B6D4"/>
                </a:solidFill>
              </a:defRPr>
            </a:pPr>
            <a:r>
              <a:t>$ sudo apt install -y unattended-upgrades</a:t>
            </a:r>
          </a:p>
          <a:p>
            <a:pPr>
              <a:spcAft>
                <a:spcPts val="300"/>
              </a:spcAft>
              <a:defRPr sz="1100" b="1">
                <a:solidFill>
                  <a:srgbClr val="06B6D4"/>
                </a:solidFill>
              </a:defRPr>
            </a:pPr>
            <a:r>
              <a:t>$ sudo dpkg-reconfigure -plow unattended-upgrades  # 選 Yes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822960"/>
            <a:ext cx="3931920" cy="5760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914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</a:defRPr>
            </a:pPr>
            <a:r>
              <a:t>🔒 安全檢查清單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1371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</a:defRPr>
            </a:pPr>
            <a:r>
              <a:t>🔴 嚴重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169164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☐ .env 沒有 CAPTCHA_TEST_BYPASS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94767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☐ SESSION_SECRET 已設定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203704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☐ ADMIN_PASSWORD 強密碼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459736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☐ SSH 禁止 root 登入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28529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</a:defRPr>
            </a:pPr>
            <a:r>
              <a:t>🟡 重要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3172968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☐ S3 備份已設定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342900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☐ .env 權限 700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68503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☐ CloudWatch 告警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3941064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☐ 自動備份運行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433425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</a:defRPr>
            </a:pPr>
            <a:r>
              <a:t>🟢 建議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4654296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☐ PWA 已設定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910328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☐ App Store 審核通過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516636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☐ UFW 防火牆啟用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542239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☐ 自動更新已設定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📱 PWA 手機網頁版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8288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5303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📲 PWA 需要嘅文件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22C55E"/>
                </a:solidFill>
              </a:defRPr>
            </a:pPr>
            <a:r>
              <a:t>① manifest.json — App 配置</a:t>
            </a:r>
          </a:p>
          <a:p>
            <a:pPr>
              <a:spcAft>
                <a:spcPts val="300"/>
              </a:spcAft>
              <a:defRPr sz="1200" b="0">
                <a:solidFill>
                  <a:srgbClr val="94A3B8"/>
                </a:solidFill>
              </a:defRPr>
            </a:pPr>
            <a:r>
              <a:t>② sw.js — Service Worker</a:t>
            </a:r>
          </a:p>
          <a:p>
            <a:pPr>
              <a:spcAft>
                <a:spcPts val="300"/>
              </a:spcAft>
              <a:defRPr sz="1200" b="0">
                <a:solidFill>
                  <a:srgbClr val="94A3B8"/>
                </a:solidFill>
              </a:defRPr>
            </a:pPr>
            <a:r>
              <a:t>③ index.html — 加入引用</a:t>
            </a:r>
          </a:p>
          <a:p>
            <a:pPr>
              <a:spcAft>
                <a:spcPts val="300"/>
              </a:spcAft>
              <a:defRPr sz="1200" b="0">
                <a:solidFill>
                  <a:srgbClr val="94A3B8"/>
                </a:solidFill>
              </a:defRPr>
            </a:pPr>
            <a:r>
              <a:t>④ icon-192.png — App 圖標</a:t>
            </a:r>
          </a:p>
          <a:p>
            <a:pPr>
              <a:spcAft>
                <a:spcPts val="300"/>
              </a:spcAft>
              <a:defRPr sz="1200" b="0">
                <a:solidFill>
                  <a:srgbClr val="94A3B8"/>
                </a:solidFill>
              </a:defRPr>
            </a:pPr>
            <a:r>
              <a:t>⑤ icon-512.png — App 圖標</a:t>
            </a:r>
          </a:p>
          <a:p>
            <a:pPr>
              <a:spcAft>
                <a:spcPts val="300"/>
              </a:spcAft>
              <a:defRPr sz="1200" b="0">
                <a:solidFill>
                  <a:srgbClr val="94A3B8"/>
                </a:solidFill>
              </a:defRPr>
            </a:pPr>
          </a:p>
          <a:p>
            <a:pPr>
              <a:spcAft>
                <a:spcPts val="300"/>
              </a:spcAft>
              <a:defRPr sz="1200" b="0">
                <a:solidFill>
                  <a:srgbClr val="94A3B8"/>
                </a:solidFill>
              </a:defRPr>
            </a:pPr>
            <a:r>
              <a:t>Mac 上建立文件：</a:t>
            </a:r>
          </a:p>
          <a:p>
            <a:pPr>
              <a:spcAft>
                <a:spcPts val="300"/>
              </a:spcAft>
              <a:defRPr sz="1200" b="0">
                <a:solidFill>
                  <a:srgbClr val="06B6D4"/>
                </a:solidFill>
              </a:defRPr>
            </a:pPr>
            <a:r>
              <a:t>$ cd ~/booking-aurora</a:t>
            </a:r>
          </a:p>
          <a:p>
            <a:pPr>
              <a:spcAft>
                <a:spcPts val="300"/>
              </a:spcAft>
              <a:defRPr sz="1200" b="0">
                <a:solidFill>
                  <a:srgbClr val="06B6D4"/>
                </a:solidFill>
              </a:defRPr>
            </a:pPr>
            <a:r>
              <a:t>$ nano manifest.json</a:t>
            </a:r>
          </a:p>
          <a:p>
            <a:pPr>
              <a:spcAft>
                <a:spcPts val="300"/>
              </a:spcAft>
              <a:defRPr sz="1200" b="0">
                <a:solidFill>
                  <a:srgbClr val="06B6D4"/>
                </a:solidFill>
              </a:defRPr>
            </a:pPr>
            <a:r>
              <a:t>$ nano sw.js</a:t>
            </a:r>
          </a:p>
          <a:p>
            <a:pPr>
              <a:spcAft>
                <a:spcPts val="300"/>
              </a:spcAft>
              <a:defRPr sz="1200" b="0">
                <a:solidFill>
                  <a:srgbClr val="94A3B8"/>
                </a:solidFill>
              </a:defRPr>
            </a:pPr>
          </a:p>
          <a:p>
            <a:pPr>
              <a:spcAft>
                <a:spcPts val="300"/>
              </a:spcAft>
              <a:defRPr sz="1200" b="1">
                <a:solidFill>
                  <a:srgbClr val="22C55E"/>
                </a:solidFill>
              </a:defRPr>
            </a:pPr>
            <a:r>
              <a:t>部署：</a:t>
            </a:r>
          </a:p>
          <a:p>
            <a:pPr>
              <a:spcAft>
                <a:spcPts val="300"/>
              </a:spcAft>
              <a:defRPr sz="1200" b="0">
                <a:solidFill>
                  <a:srgbClr val="06B6D4"/>
                </a:solidFill>
              </a:defRPr>
            </a:pPr>
            <a:r>
              <a:t>$ git add .</a:t>
            </a:r>
          </a:p>
          <a:p>
            <a:pPr>
              <a:spcAft>
                <a:spcPts val="300"/>
              </a:spcAft>
              <a:defRPr sz="1200" b="0">
                <a:solidFill>
                  <a:srgbClr val="06B6D4"/>
                </a:solidFill>
              </a:defRPr>
            </a:pPr>
            <a:r>
              <a:t>$ git commit -m 'Add PWA'</a:t>
            </a:r>
          </a:p>
          <a:p>
            <a:pPr>
              <a:spcAft>
                <a:spcPts val="300"/>
              </a:spcAft>
              <a:defRPr sz="1200" b="0">
                <a:solidFill>
                  <a:srgbClr val="06B6D4"/>
                </a:solidFill>
              </a:defRPr>
            </a:pPr>
            <a:r>
              <a:t>$ git push origin main</a:t>
            </a:r>
          </a:p>
          <a:p>
            <a:pPr>
              <a:spcAft>
                <a:spcPts val="300"/>
              </a:spcAft>
              <a:defRPr sz="1200" b="0">
                <a:solidFill>
                  <a:srgbClr val="94A3B8"/>
                </a:solidFill>
              </a:defRPr>
            </a:pPr>
          </a:p>
          <a:p>
            <a:pPr>
              <a:spcAft>
                <a:spcPts val="300"/>
              </a:spcAft>
              <a:defRPr sz="1200" b="0">
                <a:solidFill>
                  <a:srgbClr val="94A3B8"/>
                </a:solidFill>
              </a:defRPr>
            </a:pPr>
            <a:r>
              <a:t>在伺服器更新：</a:t>
            </a:r>
          </a:p>
          <a:p>
            <a:pPr>
              <a:spcAft>
                <a:spcPts val="300"/>
              </a:spcAft>
              <a:defRPr sz="1200" b="0">
                <a:solidFill>
                  <a:srgbClr val="06B6D4"/>
                </a:solidFill>
              </a:defRPr>
            </a:pPr>
            <a:r>
              <a:t>$ ssh -i potin-key.pem ubuntu@你的IP</a:t>
            </a:r>
          </a:p>
          <a:p>
            <a:pPr>
              <a:spcAft>
                <a:spcPts val="300"/>
              </a:spcAft>
              <a:defRPr sz="1200" b="0">
                <a:solidFill>
                  <a:srgbClr val="06B6D4"/>
                </a:solidFill>
              </a:defRPr>
            </a:pPr>
            <a:r>
              <a:t>$ cd ~/booking-aurora</a:t>
            </a:r>
          </a:p>
          <a:p>
            <a:pPr>
              <a:spcAft>
                <a:spcPts val="300"/>
              </a:spcAft>
              <a:defRPr sz="1200" b="0">
                <a:solidFill>
                  <a:srgbClr val="06B6D4"/>
                </a:solidFill>
              </a:defRPr>
            </a:pPr>
            <a:r>
              <a:t>$ git pull origin main</a:t>
            </a:r>
          </a:p>
          <a:p>
            <a:pPr>
              <a:spcAft>
                <a:spcPts val="300"/>
              </a:spcAft>
              <a:defRPr sz="1200" b="0">
                <a:solidFill>
                  <a:srgbClr val="06B6D4"/>
                </a:solidFill>
              </a:defRPr>
            </a:pPr>
            <a:r>
              <a:t>$ docker compose up -d --build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86400" cy="2286000"/>
          </a:xfrm>
          <a:prstGeom prst="roundRect">
            <a:avLst/>
          </a:prstGeom>
          <a:solidFill>
            <a:srgbClr val="1A2A1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✅ PWA 優點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94A3B8"/>
                </a:solidFill>
              </a:defRPr>
            </a:pPr>
            <a:r>
              <a:t>✅ 免費</a:t>
            </a:r>
          </a:p>
          <a:p>
            <a:pPr>
              <a:spcAft>
                <a:spcPts val="500"/>
              </a:spcAft>
              <a:defRPr sz="1400" b="0">
                <a:solidFill>
                  <a:srgbClr val="94A3B8"/>
                </a:solidFill>
              </a:defRPr>
            </a:pPr>
            <a:r>
              <a:t>✅ 即時上線，唔使 App Store 審核</a:t>
            </a:r>
          </a:p>
          <a:p>
            <a:pPr>
              <a:spcAft>
                <a:spcPts val="500"/>
              </a:spcAft>
              <a:defRPr sz="1400" b="0">
                <a:solidFill>
                  <a:srgbClr val="94A3B8"/>
                </a:solidFill>
              </a:defRPr>
            </a:pPr>
            <a:r>
              <a:t>✅ 自動更新</a:t>
            </a:r>
          </a:p>
          <a:p>
            <a:pPr>
              <a:spcAft>
                <a:spcPts val="500"/>
              </a:spcAft>
              <a:defRPr sz="1400" b="0">
                <a:solidFill>
                  <a:srgbClr val="94A3B8"/>
                </a:solidFill>
              </a:defRPr>
            </a:pPr>
            <a:r>
              <a:t>✅ 用戶手機瀏覽器訪問即可</a:t>
            </a:r>
          </a:p>
          <a:p>
            <a:pPr>
              <a:spcAft>
                <a:spcPts val="500"/>
              </a:spcAft>
              <a:defRPr sz="1400" b="0">
                <a:solidFill>
                  <a:srgbClr val="94A3B8"/>
                </a:solidFill>
              </a:defRPr>
            </a:pPr>
            <a:r>
              <a:t>✅ 添加到主屏幕變 App 圖標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657600"/>
            <a:ext cx="5486400" cy="2834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74903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</a:defRPr>
            </a:pPr>
            <a:r>
              <a:t>🤖 之後做：React Native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1605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94A3B8"/>
                </a:solidFill>
              </a:defRPr>
            </a:pPr>
            <a:r>
              <a:t>Mac 開發環境：</a:t>
            </a:r>
          </a:p>
          <a:p>
            <a:pPr>
              <a:spcAft>
                <a:spcPts val="400"/>
              </a:spcAft>
              <a:defRPr sz="1200" b="1">
                <a:solidFill>
                  <a:srgbClr val="06B6D4"/>
                </a:solidFill>
              </a:defRPr>
            </a:pPr>
            <a:r>
              <a:t>$ brew install node</a:t>
            </a:r>
          </a:p>
          <a:p>
            <a:pPr>
              <a:spcAft>
                <a:spcPts val="400"/>
              </a:spcAft>
              <a:defRPr sz="1200" b="1">
                <a:solidFill>
                  <a:srgbClr val="06B6D4"/>
                </a:solidFill>
              </a:defRPr>
            </a:pPr>
            <a:r>
              <a:t>$ npm install -g expo-cli eas-cli</a:t>
            </a:r>
          </a:p>
          <a:p>
            <a:pPr>
              <a:spcAft>
                <a:spcPts val="400"/>
              </a:spcAft>
              <a:defRPr sz="1200" b="1">
                <a:solidFill>
                  <a:srgbClr val="06B6D4"/>
                </a:solidFill>
              </a:defRPr>
            </a:pPr>
            <a:r>
              <a:t>$ npx create-expo-app potin-clinic-app</a:t>
            </a:r>
          </a:p>
          <a:p>
            <a:pPr>
              <a:spcAft>
                <a:spcPts val="400"/>
              </a:spcAft>
              <a:defRPr sz="1200" b="0">
                <a:solidFill>
                  <a:srgbClr val="94A3B8"/>
                </a:solidFill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06B6D4"/>
                </a:solidFill>
              </a:defRPr>
            </a:pPr>
            <a:r>
              <a:t>成本：iOS $99/年 + Android $25</a:t>
            </a:r>
          </a:p>
          <a:p>
            <a:pPr>
              <a:spcAft>
                <a:spcPts val="400"/>
              </a:spcAft>
              <a:defRPr sz="1200" b="0">
                <a:solidFill>
                  <a:srgbClr val="94A3B8"/>
                </a:solidFill>
              </a:defRPr>
            </a:pPr>
            <a:r>
              <a:t>時間：2-4 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💰 成本預算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8288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3200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✅ AWS 免費層級（首 12 個月）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EC2 t3.micro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737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750 hrs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7373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</a:defRPr>
            </a:pPr>
            <a:r>
              <a:t>$0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EBS 20GB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1031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30GB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1031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</a:defRPr>
            </a:pPr>
            <a:r>
              <a:t>$0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68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Data Transfer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468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100GB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4688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</a:defRPr>
            </a:pPr>
            <a:r>
              <a:t>$0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834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Route 53 DNS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8346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100萬次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8346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$0.50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S3 備份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32004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5GB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2004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$0.02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566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PWA 手機版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35661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無限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5661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</a:defRPr>
            </a:pPr>
            <a:r>
              <a:t>$0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023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</a:defRPr>
            </a:pPr>
            <a:r>
              <a:t>首年：~$6.24（約 HK$49）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1188720"/>
            <a:ext cx="5486400" cy="3200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1280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</a:defRPr>
            </a:pPr>
            <a:r>
              <a:t>📱 App 成本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1737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PWA 手機網頁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1737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</a:defRPr>
            </a:pPr>
            <a:r>
              <a:t>免費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103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iOS App 上架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2103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ACC16"/>
                </a:solidFill>
              </a:defRPr>
            </a:pPr>
            <a:r>
              <a:t>$99/年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468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Android App 上架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2468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ACC16"/>
                </a:solidFill>
              </a:defRPr>
            </a:pPr>
            <a:r>
              <a:t>$25 一次性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834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React Native 開發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2834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</a:defRPr>
            </a:pPr>
            <a:r>
              <a:t>免費 (Expo)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200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推送通知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3200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</a:defRPr>
            </a:pPr>
            <a:r>
              <a:t>免費 (100萬次/月)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572000"/>
            <a:ext cx="11247120" cy="2011680"/>
          </a:xfrm>
          <a:prstGeom prst="roundRect">
            <a:avLst/>
          </a:prstGeom>
          <a:solidFill>
            <a:srgbClr val="1A2A1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</a:defRPr>
            </a:pPr>
            <a:r>
              <a:t>📊 總成本估算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1206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首年：AWS $6 + iOS $99 + Android $25 + 域名 $12 = ~$142（約 HK$1,110）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4406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之後每年：AWS $127 + iOS $99 + 域名 $12 = ~$238（約 HK$1,860）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8064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ACC16"/>
                </a:solidFill>
              </a:defRPr>
            </a:pPr>
            <a:r>
              <a:t>💡 Mac 機唔計入部署成本（係你已有嘅設備）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⚡ Mac 常用命令速查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8288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1247120" cy="4114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932688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932688"/>
            <a:ext cx="164592" cy="164592"/>
          </a:xfrm>
          <a:prstGeom prst="ellipse">
            <a:avLst/>
          </a:prstGeom>
          <a:solidFill>
            <a:srgbClr val="FA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8719" y="932688"/>
            <a:ext cx="164592" cy="16459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868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Terminal — Mac Commands Cheat Sheet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234440"/>
            <a:ext cx="11247120" cy="534924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3258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6366F1"/>
                </a:solidFill>
              </a:defRPr>
            </a:pPr>
            <a:r>
              <a:t># ===== 連接伺服器 =====</a:t>
            </a:r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</a:defRPr>
            </a:pPr>
            <a:r>
              <a:t>$ cd Downloads</a:t>
            </a:r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</a:defRPr>
            </a:pPr>
            <a:r>
              <a:t>$ chmod 400 potin-key.pem</a:t>
            </a:r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</a:defRPr>
            </a:pPr>
            <a:r>
              <a:t>$ ssh -i potin-key.pem ubuntu@你的IP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</a:p>
          <a:p>
            <a:pPr>
              <a:spcAft>
                <a:spcPts val="200"/>
              </a:spcAft>
              <a:defRPr sz="1100" b="1">
                <a:solidFill>
                  <a:srgbClr val="6366F1"/>
                </a:solidFill>
              </a:defRPr>
            </a:pPr>
            <a:r>
              <a:t># ===== 日常維護 =====</a:t>
            </a:r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</a:defRPr>
            </a:pPr>
            <a:r>
              <a:t>$ docker compose ps              # 查看狀態</a:t>
            </a:r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</a:defRPr>
            </a:pPr>
            <a:r>
              <a:t>$ docker compose logs -f app     # 實時日誌</a:t>
            </a:r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</a:defRPr>
            </a:pPr>
            <a:r>
              <a:t>$ docker compose restart         # 重啟</a:t>
            </a:r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</a:defRPr>
            </a:pPr>
            <a:r>
              <a:t>$ docker compose down            # 停止</a:t>
            </a:r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</a:defRPr>
            </a:pPr>
            <a:r>
              <a:t>$ docker compose up -d           # 啟動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</a:p>
          <a:p>
            <a:pPr>
              <a:spcAft>
                <a:spcPts val="200"/>
              </a:spcAft>
              <a:defRPr sz="1100" b="1">
                <a:solidFill>
                  <a:srgbClr val="6366F1"/>
                </a:solidFill>
              </a:defRPr>
            </a:pPr>
            <a:r>
              <a:t># ===== 更新部署 =====</a:t>
            </a:r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</a:defRPr>
            </a:pPr>
            <a:r>
              <a:t>$ git pull origin main           # 拉取最新</a:t>
            </a:r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</a:defRPr>
            </a:pPr>
            <a:r>
              <a:t>$ docker compose up -d --build   # 重建啟動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</a:p>
          <a:p>
            <a:pPr>
              <a:spcAft>
                <a:spcPts val="200"/>
              </a:spcAft>
              <a:defRPr sz="1100" b="1">
                <a:solidFill>
                  <a:srgbClr val="6366F1"/>
                </a:solidFill>
              </a:defRPr>
            </a:pPr>
            <a:r>
              <a:t># ===== 手動備份 =====</a:t>
            </a:r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</a:defRPr>
            </a:pPr>
            <a:r>
              <a:t>$ docker compose exec app node scripts/backup-db.js</a:t>
            </a:r>
          </a:p>
          <a:p>
            <a:pPr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</a:p>
          <a:p>
            <a:pPr>
              <a:spcAft>
                <a:spcPts val="200"/>
              </a:spcAft>
              <a:defRPr sz="1100" b="1">
                <a:solidFill>
                  <a:srgbClr val="6366F1"/>
                </a:solidFill>
              </a:defRPr>
            </a:pPr>
            <a:r>
              <a:t># ===== Mac 專用 =====</a:t>
            </a:r>
          </a:p>
          <a:p>
            <a:pPr>
              <a:spcAft>
                <a:spcPts val="200"/>
              </a:spcAft>
              <a:defRPr sz="1100" b="1">
                <a:solidFill>
                  <a:srgbClr val="22C55E"/>
                </a:solidFill>
              </a:defRPr>
            </a:pPr>
            <a:r>
              <a:t>$ open https://你的域名.com      # 用 Safari 打開</a:t>
            </a:r>
          </a:p>
          <a:p>
            <a:pPr>
              <a:spcAft>
                <a:spcPts val="200"/>
              </a:spcAft>
              <a:defRPr sz="1100" b="1">
                <a:solidFill>
                  <a:srgbClr val="22C55E"/>
                </a:solidFill>
              </a:defRPr>
            </a:pPr>
            <a:r>
              <a:t>$ aws ce get-cost-and-usage \    # 查看成本</a:t>
            </a:r>
          </a:p>
          <a:p>
            <a:pPr>
              <a:spcAft>
                <a:spcPts val="200"/>
              </a:spcAft>
              <a:defRPr sz="1100" b="0">
                <a:solidFill>
                  <a:srgbClr val="22C55E"/>
                </a:solidFill>
              </a:defRPr>
            </a:pPr>
            <a:r>
              <a:t>  --time-period Start=2026-09-01,End=2026-09-30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🎉 恭喜完成！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83464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</a:defRPr>
            </a:pPr>
            <a:r>
              <a:t>Mac 機 + AWS 雲端部署 — 10 步全部搞掂！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C55E"/>
                </a:solidFill>
              </a:defRPr>
            </a:pPr>
            <a:r>
              <a:t>✅ 建立 AWS 帳戶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36576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C55E"/>
                </a:solidFill>
              </a:defRPr>
            </a:pPr>
            <a:r>
              <a:t>✅ 設定 VPC 網絡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36576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C55E"/>
                </a:solidFill>
              </a:defRPr>
            </a:pPr>
            <a:r>
              <a:t>✅ 啟動 EC2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36576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C55E"/>
                </a:solidFill>
              </a:defRPr>
            </a:pPr>
            <a:r>
              <a:t>✅ Mac SSH 連接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36576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C55E"/>
                </a:solidFill>
              </a:defRPr>
            </a:pPr>
            <a:r>
              <a:t>✅ 安裝 Docker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2062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C55E"/>
                </a:solidFill>
              </a:defRPr>
            </a:pPr>
            <a:r>
              <a:t>✅ 部署預約系統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42062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C55E"/>
                </a:solidFill>
              </a:defRPr>
            </a:pPr>
            <a:r>
              <a:t>✅ 域名 HTTPS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42062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C55E"/>
                </a:solidFill>
              </a:defRPr>
            </a:pPr>
            <a:r>
              <a:t>✅ 自動備份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42062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C55E"/>
                </a:solidFill>
              </a:defRPr>
            </a:pPr>
            <a:r>
              <a:t>✅ 監控告警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42062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C55E"/>
                </a:solidFill>
              </a:defRPr>
            </a:pPr>
            <a:r>
              <a:t>✅ 安全加固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50292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366F1"/>
                </a:solidFill>
              </a:defRPr>
            </a:pPr>
            <a:r>
              <a:t>📱 接下來：PWA 手機版 → React Native 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56692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</a:defRPr>
            </a:pPr>
            <a:r>
              <a:t>有任何問題？歡迎隨時問我！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